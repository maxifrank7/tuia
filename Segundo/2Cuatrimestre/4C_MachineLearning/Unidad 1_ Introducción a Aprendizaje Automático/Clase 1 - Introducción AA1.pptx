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aleway"/>
      <p:regular r:id="rId34"/>
      <p:bold r:id="rId35"/>
      <p:italic r:id="rId36"/>
      <p:boldItalic r:id="rId37"/>
    </p:embeddedFont>
    <p:embeddedFont>
      <p:font typeface="Caveat"/>
      <p:regular r:id="rId38"/>
      <p:bold r:id="rId39"/>
    </p:embeddedFont>
    <p:embeddedFont>
      <p:font typeface="Roboto"/>
      <p:regular r:id="rId40"/>
      <p:bold r:id="rId41"/>
      <p:italic r:id="rId42"/>
      <p:boldItalic r:id="rId43"/>
    </p:embeddedFont>
    <p:embeddedFont>
      <p:font typeface="La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8" roundtripDataSignature="AMtx7mgoV1hbNFssQxKtqkW2RM9DLQMK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5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7.xml"/><Relationship Id="rId44" Type="http://schemas.openxmlformats.org/officeDocument/2006/relationships/font" Target="fonts/Lato-regular.fntdata"/><Relationship Id="rId21" Type="http://schemas.openxmlformats.org/officeDocument/2006/relationships/slide" Target="slides/slide16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19.xml"/><Relationship Id="rId46" Type="http://schemas.openxmlformats.org/officeDocument/2006/relationships/font" Target="fonts/Lato-italic.fntdata"/><Relationship Id="rId23" Type="http://schemas.openxmlformats.org/officeDocument/2006/relationships/slide" Target="slides/slide18.xml"/><Relationship Id="rId45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customschemas.google.com/relationships/presentationmetadata" Target="metadata"/><Relationship Id="rId25" Type="http://schemas.openxmlformats.org/officeDocument/2006/relationships/slide" Target="slides/slide20.xml"/><Relationship Id="rId47" Type="http://schemas.openxmlformats.org/officeDocument/2006/relationships/font" Target="fonts/Lato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aleway-bold.fntdata"/><Relationship Id="rId12" Type="http://schemas.openxmlformats.org/officeDocument/2006/relationships/slide" Target="slides/slide7.xml"/><Relationship Id="rId34" Type="http://schemas.openxmlformats.org/officeDocument/2006/relationships/font" Target="fonts/Raleway-regular.fntdata"/><Relationship Id="rId15" Type="http://schemas.openxmlformats.org/officeDocument/2006/relationships/slide" Target="slides/slide10.xml"/><Relationship Id="rId37" Type="http://schemas.openxmlformats.org/officeDocument/2006/relationships/font" Target="fonts/Raleway-boldItalic.fntdata"/><Relationship Id="rId14" Type="http://schemas.openxmlformats.org/officeDocument/2006/relationships/slide" Target="slides/slide9.xml"/><Relationship Id="rId36" Type="http://schemas.openxmlformats.org/officeDocument/2006/relationships/font" Target="fonts/Raleway-italic.fntdata"/><Relationship Id="rId17" Type="http://schemas.openxmlformats.org/officeDocument/2006/relationships/slide" Target="slides/slide12.xml"/><Relationship Id="rId39" Type="http://schemas.openxmlformats.org/officeDocument/2006/relationships/font" Target="fonts/Caveat-bold.fntdata"/><Relationship Id="rId16" Type="http://schemas.openxmlformats.org/officeDocument/2006/relationships/slide" Target="slides/slide11.xml"/><Relationship Id="rId38" Type="http://schemas.openxmlformats.org/officeDocument/2006/relationships/font" Target="fonts/Cavea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77e98ea1e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f77e98ea1e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77e98ea1e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77e98ea1e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38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38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3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3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3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4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4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4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4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8" name="Google Shape;38;p4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3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p4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8" name="Google Shape;48;p4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4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1" name="Google Shape;51;p4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4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4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4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4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4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4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4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4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46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4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1" name="Google Shape;71;p4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47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4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4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48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48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12" Type="http://schemas.openxmlformats.org/officeDocument/2006/relationships/image" Target="../media/image4.png"/><Relationship Id="rId9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Relationship Id="rId7" Type="http://schemas.openxmlformats.org/officeDocument/2006/relationships/image" Target="../media/image13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youtube.com/watch?v=WXuK6gekU1Y&amp;ab_channel=GoogleDeepMind" TargetMode="External"/><Relationship Id="rId4" Type="http://schemas.openxmlformats.org/officeDocument/2006/relationships/image" Target="../media/image24.png"/><Relationship Id="rId5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s-419"/>
              <a:t>Aprendizaje Automático 1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0952"/>
              <a:buNone/>
            </a:pPr>
            <a:r>
              <a:rPr b="1" lang="es-419" sz="42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Introducción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Cuerpo docente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/>
              <a:t>Giuliano Crenna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/>
              <a:t>Tomas Avecilla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s-419"/>
              <a:t>Agustin Alsop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Contenido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729450" y="1939200"/>
            <a:ext cx="7688700" cy="24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INTRODUCCIÓN AL APRENDIZAJE AUTOMÁTICO.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MODELOS LINEALES PARA REGRESIÓN.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MODELOS LINEALES PARA CLASIFICACIÓN.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COMPARACIÓN DE MODELOS Y AJUSTE FINO.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MLOPS.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INTRODUCCIÓN A LAS REDES NEURONALES.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Evaluación</a:t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6287650" y="1594775"/>
            <a:ext cx="1981800" cy="5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 de Regresión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303700" y="3476225"/>
            <a:ext cx="1981800" cy="62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 de Clasificación: entrega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303700" y="2578475"/>
            <a:ext cx="1981800" cy="68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 de Clasificación: entrega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287650" y="4310675"/>
            <a:ext cx="2013900" cy="53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TP de Clasificación: entrega final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7006225" y="1594775"/>
            <a:ext cx="2163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729450" y="1939200"/>
            <a:ext cx="5062800" cy="24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INTRODUCCIÓN AL APRENDIZAJE AUTOMÁTICO.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MODELOS LINEALES PARA REGRESIÓN.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MODELOS LINEALES PARA CLASIFICACIÓN.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COMPARACIÓN DE MODELOS Y AJUSTE FINO.</a:t>
            </a:r>
            <a:endParaRPr i="1"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MLOPS. </a:t>
            </a:r>
            <a:endParaRPr sz="1400">
              <a:solidFill>
                <a:srgbClr val="000000"/>
              </a:solidFill>
            </a:endParaRPr>
          </a:p>
          <a:p>
            <a:pPr indent="-184150" lvl="0" marL="719999" rtl="0" algn="l">
              <a:lnSpc>
                <a:spcPct val="107916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es-419" sz="1400">
                <a:solidFill>
                  <a:srgbClr val="000000"/>
                </a:solidFill>
              </a:rPr>
              <a:t>INTRODUCCIÓN A LAS REDES NEURONALES.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cxnSp>
        <p:nvCxnSpPr>
          <p:cNvPr id="111" name="Google Shape;111;p4"/>
          <p:cNvCxnSpPr>
            <a:stCxn id="107" idx="2"/>
            <a:endCxn id="106" idx="0"/>
          </p:cNvCxnSpPr>
          <p:nvPr/>
        </p:nvCxnSpPr>
        <p:spPr>
          <a:xfrm>
            <a:off x="7294600" y="3266675"/>
            <a:ext cx="0" cy="2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" name="Google Shape;112;p4"/>
          <p:cNvCxnSpPr>
            <a:stCxn id="106" idx="2"/>
            <a:endCxn id="108" idx="0"/>
          </p:cNvCxnSpPr>
          <p:nvPr/>
        </p:nvCxnSpPr>
        <p:spPr>
          <a:xfrm>
            <a:off x="7294600" y="4101125"/>
            <a:ext cx="0" cy="20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3" name="Google Shape;113;p4"/>
          <p:cNvCxnSpPr>
            <a:endCxn id="105" idx="1"/>
          </p:cNvCxnSpPr>
          <p:nvPr/>
        </p:nvCxnSpPr>
        <p:spPr>
          <a:xfrm flipH="1" rot="10800000">
            <a:off x="4893250" y="1862375"/>
            <a:ext cx="1394400" cy="609000"/>
          </a:xfrm>
          <a:prstGeom prst="curvedConnector3">
            <a:avLst>
              <a:gd fmla="val 65279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4" name="Google Shape;114;p4"/>
          <p:cNvCxnSpPr>
            <a:endCxn id="107" idx="1"/>
          </p:cNvCxnSpPr>
          <p:nvPr/>
        </p:nvCxnSpPr>
        <p:spPr>
          <a:xfrm>
            <a:off x="5257300" y="2812775"/>
            <a:ext cx="1046400" cy="109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5" name="Google Shape;115;p4"/>
          <p:cNvCxnSpPr>
            <a:endCxn id="106" idx="1"/>
          </p:cNvCxnSpPr>
          <p:nvPr/>
        </p:nvCxnSpPr>
        <p:spPr>
          <a:xfrm>
            <a:off x="5428000" y="3188375"/>
            <a:ext cx="875700" cy="6003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6" name="Google Shape;116;p4"/>
          <p:cNvCxnSpPr>
            <a:endCxn id="108" idx="1"/>
          </p:cNvCxnSpPr>
          <p:nvPr/>
        </p:nvCxnSpPr>
        <p:spPr>
          <a:xfrm>
            <a:off x="2431150" y="3579275"/>
            <a:ext cx="3856500" cy="999000"/>
          </a:xfrm>
          <a:prstGeom prst="curvedConnector3">
            <a:avLst>
              <a:gd fmla="val 8726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7" name="Google Shape;117;p4"/>
          <p:cNvCxnSpPr>
            <a:endCxn id="108" idx="1"/>
          </p:cNvCxnSpPr>
          <p:nvPr/>
        </p:nvCxnSpPr>
        <p:spPr>
          <a:xfrm>
            <a:off x="5173750" y="4141775"/>
            <a:ext cx="1113900" cy="436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8" name="Google Shape;118;p4"/>
          <p:cNvSpPr/>
          <p:nvPr/>
        </p:nvSpPr>
        <p:spPr>
          <a:xfrm>
            <a:off x="568300" y="4425450"/>
            <a:ext cx="2013900" cy="535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Examen teórico integrador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10850" y="2002775"/>
            <a:ext cx="318600" cy="2098500"/>
          </a:xfrm>
          <a:prstGeom prst="leftBrace">
            <a:avLst>
              <a:gd fmla="val 50000" name="adj1"/>
              <a:gd fmla="val 5131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0" name="Google Shape;120;p4"/>
          <p:cNvCxnSpPr>
            <a:stCxn id="119" idx="1"/>
            <a:endCxn id="118" idx="1"/>
          </p:cNvCxnSpPr>
          <p:nvPr/>
        </p:nvCxnSpPr>
        <p:spPr>
          <a:xfrm>
            <a:off x="410850" y="3079557"/>
            <a:ext cx="157500" cy="1613400"/>
          </a:xfrm>
          <a:prstGeom prst="curvedConnector3">
            <a:avLst>
              <a:gd fmla="val -15119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Entrega de trabajos prácticos</a:t>
            </a:r>
            <a:endParaRPr/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0763" y="2207125"/>
            <a:ext cx="1285875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57225" y="2366950"/>
            <a:ext cx="2178521" cy="101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5"/>
          <p:cNvSpPr txBox="1"/>
          <p:nvPr/>
        </p:nvSpPr>
        <p:spPr>
          <a:xfrm>
            <a:off x="1811863" y="3631200"/>
            <a:ext cx="260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https://code.visualstudio.com/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5425988" y="3631200"/>
            <a:ext cx="164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https://github.com/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Bibliotecas Python</a:t>
            </a:r>
            <a:endParaRPr/>
          </a:p>
        </p:txBody>
      </p:sp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4050" y="595725"/>
            <a:ext cx="4866480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8675" y="1915975"/>
            <a:ext cx="2456320" cy="1105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974" y="2856100"/>
            <a:ext cx="4008910" cy="214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3800" y="2072075"/>
            <a:ext cx="1471950" cy="147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511937" y="2029887"/>
            <a:ext cx="2572325" cy="73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6"/>
          <p:cNvPicPr preferRelativeResize="0"/>
          <p:nvPr/>
        </p:nvPicPr>
        <p:blipFill rotWithShape="1">
          <a:blip r:embed="rId8">
            <a:alphaModFix/>
          </a:blip>
          <a:srcRect b="46105" l="35471" r="32573" t="-2533"/>
          <a:stretch/>
        </p:blipFill>
        <p:spPr>
          <a:xfrm>
            <a:off x="7887325" y="2804900"/>
            <a:ext cx="1142975" cy="11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970650" y="3284775"/>
            <a:ext cx="1974700" cy="11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394351" y="4327300"/>
            <a:ext cx="1644725" cy="62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425798" y="4249275"/>
            <a:ext cx="1644725" cy="506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511925" y="2764825"/>
            <a:ext cx="128587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Bibliografía sugerida</a:t>
            </a:r>
            <a:endParaRPr/>
          </a:p>
        </p:txBody>
      </p:sp>
      <p:sp>
        <p:nvSpPr>
          <p:cNvPr id="150" name="Google Shape;150;p7"/>
          <p:cNvSpPr txBox="1"/>
          <p:nvPr>
            <p:ph idx="1" type="body"/>
          </p:nvPr>
        </p:nvSpPr>
        <p:spPr>
          <a:xfrm>
            <a:off x="729450" y="1939200"/>
            <a:ext cx="7688700" cy="29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374151"/>
                </a:solidFill>
                <a:highlight>
                  <a:schemeClr val="lt2"/>
                </a:highlight>
              </a:rPr>
              <a:t>An Introduction to Statistical Learning</a:t>
            </a:r>
            <a:r>
              <a:rPr lang="es-419">
                <a:solidFill>
                  <a:srgbClr val="374151"/>
                </a:solidFill>
                <a:highlight>
                  <a:schemeClr val="lt2"/>
                </a:highlight>
              </a:rPr>
              <a:t>. Gareth James, Daniela Witten, Trevor Hastie, Robert Tibshirani. </a:t>
            </a:r>
            <a:endParaRPr>
              <a:solidFill>
                <a:srgbClr val="374151"/>
              </a:solidFill>
              <a:highlight>
                <a:schemeClr val="lt2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374151"/>
                </a:solidFill>
              </a:rPr>
              <a:t>Hands On Machine Learning with Scikit Learn, keras y Tensorflow. </a:t>
            </a:r>
            <a:r>
              <a:rPr lang="es-419">
                <a:solidFill>
                  <a:srgbClr val="374151"/>
                </a:solidFill>
              </a:rPr>
              <a:t>Aurelien Geron.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374151"/>
                </a:solidFill>
              </a:rPr>
              <a:t>Deep Learning book</a:t>
            </a:r>
            <a:r>
              <a:rPr lang="es-419">
                <a:solidFill>
                  <a:srgbClr val="374151"/>
                </a:solidFill>
              </a:rPr>
              <a:t>. Ian Goodfellow, Yoshua Bengio, Aaron Courville.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b="1" lang="es-419">
                <a:solidFill>
                  <a:srgbClr val="374151"/>
                </a:solidFill>
              </a:rPr>
              <a:t>The Elements of Statistical Learning</a:t>
            </a:r>
            <a:r>
              <a:rPr lang="es-419">
                <a:solidFill>
                  <a:srgbClr val="374151"/>
                </a:solidFill>
              </a:rPr>
              <a:t> | Trevor Hastie | Springer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300"/>
              <a:buNone/>
            </a:pPr>
            <a:r>
              <a:rPr b="1" lang="es-419">
                <a:solidFill>
                  <a:srgbClr val="374151"/>
                </a:solidFill>
              </a:rPr>
              <a:t>Mathematics for Machine Learning</a:t>
            </a:r>
            <a:r>
              <a:rPr lang="es-419">
                <a:solidFill>
                  <a:srgbClr val="374151"/>
                </a:solidFill>
              </a:rPr>
              <a:t>. Deisenroth, Faisal, Ong.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¿Qué es el aprendizaje automático?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/>
          <p:nvPr/>
        </p:nvSpPr>
        <p:spPr>
          <a:xfrm>
            <a:off x="2365300" y="1796950"/>
            <a:ext cx="9522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3644900" y="1796950"/>
            <a:ext cx="12594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5519275" y="1796950"/>
            <a:ext cx="12594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2365300" y="3132075"/>
            <a:ext cx="9522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5519275" y="3132075"/>
            <a:ext cx="12594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Reglas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3644900" y="3132075"/>
            <a:ext cx="1259400" cy="623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3393600" y="1993900"/>
            <a:ext cx="175200" cy="229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3393600" y="3329025"/>
            <a:ext cx="175200" cy="2298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10"/>
          <p:cNvCxnSpPr/>
          <p:nvPr/>
        </p:nvCxnSpPr>
        <p:spPr>
          <a:xfrm flipH="1" rot="10800000">
            <a:off x="5007488" y="2106100"/>
            <a:ext cx="4086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" name="Google Shape;169;p10"/>
          <p:cNvSpPr txBox="1"/>
          <p:nvPr/>
        </p:nvSpPr>
        <p:spPr>
          <a:xfrm>
            <a:off x="475075" y="1396750"/>
            <a:ext cx="63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Enfoque tradicional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0"/>
          <p:cNvSpPr txBox="1"/>
          <p:nvPr/>
        </p:nvSpPr>
        <p:spPr>
          <a:xfrm>
            <a:off x="475075" y="2674726"/>
            <a:ext cx="63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Enfoque aprendizaje automático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1" name="Google Shape;171;p10"/>
          <p:cNvCxnSpPr/>
          <p:nvPr/>
        </p:nvCxnSpPr>
        <p:spPr>
          <a:xfrm flipH="1" rot="10800000">
            <a:off x="5007475" y="3441225"/>
            <a:ext cx="4086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2" name="Google Shape;172;p10"/>
          <p:cNvSpPr txBox="1"/>
          <p:nvPr/>
        </p:nvSpPr>
        <p:spPr>
          <a:xfrm>
            <a:off x="5007475" y="4095125"/>
            <a:ext cx="2429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 después si las usamos para obtener resultados a partir de nuevos datos.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6951" y="1301663"/>
            <a:ext cx="4256770" cy="314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/>
          <p:nvPr/>
        </p:nvSpPr>
        <p:spPr>
          <a:xfrm>
            <a:off x="2845400" y="731650"/>
            <a:ext cx="1324200" cy="623700"/>
          </a:xfrm>
          <a:prstGeom prst="roundRect">
            <a:avLst>
              <a:gd fmla="val 16667" name="adj"/>
            </a:avLst>
          </a:prstGeom>
          <a:solidFill>
            <a:srgbClr val="F2DDE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Pensar como humanos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517150" y="854025"/>
            <a:ext cx="1324200" cy="623700"/>
          </a:xfrm>
          <a:prstGeom prst="roundRect">
            <a:avLst>
              <a:gd fmla="val 16667" name="adj"/>
            </a:avLst>
          </a:prstGeom>
          <a:solidFill>
            <a:srgbClr val="F2DDE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Actuar como humanos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34675" y="1831513"/>
            <a:ext cx="1324200" cy="623700"/>
          </a:xfrm>
          <a:prstGeom prst="roundRect">
            <a:avLst>
              <a:gd fmla="val 16667" name="adj"/>
            </a:avLst>
          </a:prstGeom>
          <a:solidFill>
            <a:srgbClr val="F2DDE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Pensar racionalmente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295500" y="2809025"/>
            <a:ext cx="1324200" cy="623700"/>
          </a:xfrm>
          <a:prstGeom prst="roundRect">
            <a:avLst>
              <a:gd fmla="val 16667" name="adj"/>
            </a:avLst>
          </a:prstGeom>
          <a:solidFill>
            <a:srgbClr val="F2DDE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Actuar racionalmente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9"/>
          <p:cNvCxnSpPr>
            <a:stCxn id="178" idx="2"/>
          </p:cNvCxnSpPr>
          <p:nvPr/>
        </p:nvCxnSpPr>
        <p:spPr>
          <a:xfrm>
            <a:off x="3507500" y="1355350"/>
            <a:ext cx="134400" cy="3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3" name="Google Shape;183;p9"/>
          <p:cNvCxnSpPr>
            <a:stCxn id="179" idx="3"/>
          </p:cNvCxnSpPr>
          <p:nvPr/>
        </p:nvCxnSpPr>
        <p:spPr>
          <a:xfrm>
            <a:off x="1841350" y="1165875"/>
            <a:ext cx="1384800" cy="95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4" name="Google Shape;184;p9"/>
          <p:cNvCxnSpPr>
            <a:stCxn id="180" idx="3"/>
          </p:cNvCxnSpPr>
          <p:nvPr/>
        </p:nvCxnSpPr>
        <p:spPr>
          <a:xfrm>
            <a:off x="1758875" y="2143363"/>
            <a:ext cx="1275000" cy="43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" name="Google Shape;185;p9"/>
          <p:cNvCxnSpPr>
            <a:stCxn id="181" idx="3"/>
          </p:cNvCxnSpPr>
          <p:nvPr/>
        </p:nvCxnSpPr>
        <p:spPr>
          <a:xfrm flipH="1" rot="10800000">
            <a:off x="1619700" y="2995175"/>
            <a:ext cx="1391100" cy="12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9"/>
          <p:cNvSpPr/>
          <p:nvPr/>
        </p:nvSpPr>
        <p:spPr>
          <a:xfrm>
            <a:off x="5513575" y="894425"/>
            <a:ext cx="1783800" cy="713700"/>
          </a:xfrm>
          <a:prstGeom prst="roundRect">
            <a:avLst>
              <a:gd fmla="val 16667" name="adj"/>
            </a:avLst>
          </a:prstGeom>
          <a:solidFill>
            <a:srgbClr val="E1EAE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Aprender y mejorar automáticamente a partir de los datos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137725" y="2262675"/>
            <a:ext cx="1783800" cy="1219500"/>
          </a:xfrm>
          <a:prstGeom prst="roundRect">
            <a:avLst>
              <a:gd fmla="val 16667" name="adj"/>
            </a:avLst>
          </a:prstGeom>
          <a:solidFill>
            <a:srgbClr val="E1EAE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Capacidad de automatizar tareas complejas y tomar decisiones basadas en datos.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869325" y="1540063"/>
            <a:ext cx="1783800" cy="582900"/>
          </a:xfrm>
          <a:prstGeom prst="roundRect">
            <a:avLst>
              <a:gd fmla="val 16667" name="adj"/>
            </a:avLst>
          </a:prstGeom>
          <a:solidFill>
            <a:srgbClr val="E1EAE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Modelos y algoritmos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830525" y="3727100"/>
            <a:ext cx="2911800" cy="1274100"/>
          </a:xfrm>
          <a:prstGeom prst="roundRect">
            <a:avLst>
              <a:gd fmla="val 16667" name="adj"/>
            </a:avLst>
          </a:prstGeom>
          <a:solidFill>
            <a:srgbClr val="E7DEC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419" sz="1200" u="none" cap="none" strike="noStrike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Estructuración de algoritmos para toma inteligente de decisiones - Agrega capas y parámetros para aprender complejos mapeos con modelos no lineales.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9"/>
          <p:cNvCxnSpPr/>
          <p:nvPr/>
        </p:nvCxnSpPr>
        <p:spPr>
          <a:xfrm flipH="1">
            <a:off x="4851000" y="1593875"/>
            <a:ext cx="708300" cy="77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" name="Google Shape;191;p9"/>
          <p:cNvCxnSpPr>
            <a:stCxn id="188" idx="1"/>
          </p:cNvCxnSpPr>
          <p:nvPr/>
        </p:nvCxnSpPr>
        <p:spPr>
          <a:xfrm flipH="1">
            <a:off x="5205225" y="1831513"/>
            <a:ext cx="1664100" cy="82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2" name="Google Shape;192;p9"/>
          <p:cNvCxnSpPr>
            <a:stCxn id="187" idx="1"/>
          </p:cNvCxnSpPr>
          <p:nvPr/>
        </p:nvCxnSpPr>
        <p:spPr>
          <a:xfrm rot="10800000">
            <a:off x="5320625" y="2849025"/>
            <a:ext cx="1817100" cy="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3" name="Google Shape;193;p9"/>
          <p:cNvCxnSpPr/>
          <p:nvPr/>
        </p:nvCxnSpPr>
        <p:spPr>
          <a:xfrm rot="10800000">
            <a:off x="4981775" y="3665025"/>
            <a:ext cx="900900" cy="14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" name="Google Shape;194;p9"/>
          <p:cNvSpPr txBox="1"/>
          <p:nvPr/>
        </p:nvSpPr>
        <p:spPr>
          <a:xfrm>
            <a:off x="59500" y="3579200"/>
            <a:ext cx="2239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419">
                <a:latin typeface="Lato"/>
                <a:ea typeface="Lato"/>
                <a:cs typeface="Lato"/>
                <a:sym typeface="Lato"/>
              </a:rPr>
              <a:t>IA: </a:t>
            </a: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 la capacidad de una máquina de ser asociada con el pensamiento humano y emular sus capacidades para resolver problemas y aprender.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g3f77e98ea1e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2613" y="1015563"/>
            <a:ext cx="4958776" cy="355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Clasificación: Aprendizaje supervisado, no supervisado y por refuerzo.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5694"/>
              <a:buNone/>
            </a:pPr>
            <a:r>
              <a:rPr lang="es-419" sz="2044"/>
              <a:t>Supervised, unsupervised and reinforcement learning</a:t>
            </a:r>
            <a:endParaRPr sz="2044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"/>
          <p:cNvSpPr txBox="1"/>
          <p:nvPr>
            <p:ph type="title"/>
          </p:nvPr>
        </p:nvSpPr>
        <p:spPr>
          <a:xfrm>
            <a:off x="5189100" y="694875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419"/>
              <a:t>Aprendizaje supervisado</a:t>
            </a:r>
            <a:endParaRPr/>
          </a:p>
        </p:txBody>
      </p:sp>
      <p:sp>
        <p:nvSpPr>
          <p:cNvPr id="210" name="Google Shape;210;p13"/>
          <p:cNvSpPr txBox="1"/>
          <p:nvPr>
            <p:ph idx="2" type="body"/>
          </p:nvPr>
        </p:nvSpPr>
        <p:spPr>
          <a:xfrm>
            <a:off x="5152350" y="18991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El algoritmo recibe un conjunto de datos de entrenamiento que consta de ejemplos </a:t>
            </a:r>
            <a:r>
              <a:rPr b="1" lang="es-419">
                <a:solidFill>
                  <a:srgbClr val="374151"/>
                </a:solidFill>
              </a:rPr>
              <a:t>etiquetados,</a:t>
            </a:r>
            <a:r>
              <a:rPr lang="es-419">
                <a:solidFill>
                  <a:srgbClr val="374151"/>
                </a:solidFill>
              </a:rPr>
              <a:t> es decir, cada ejemplo viene acompañado de la etiqueta o clase a la que pertenece o un valor.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El objetivo del algoritmo es aprender una función o modelo que pueda mapear las entradas (características) a las salidas (etiquetas) correspondientes. </a:t>
            </a:r>
            <a:endParaRPr sz="1400"/>
          </a:p>
        </p:txBody>
      </p:sp>
      <p:pic>
        <p:nvPicPr>
          <p:cNvPr id="211" name="Google Shape;2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925" y="891850"/>
            <a:ext cx="3198601" cy="324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419"/>
              <a:t>Aprendizaje no supervisado</a:t>
            </a:r>
            <a:endParaRPr/>
          </a:p>
        </p:txBody>
      </p:sp>
      <p:sp>
        <p:nvSpPr>
          <p:cNvPr id="217" name="Google Shape;217;p14"/>
          <p:cNvSpPr txBox="1"/>
          <p:nvPr>
            <p:ph idx="2" type="body"/>
          </p:nvPr>
        </p:nvSpPr>
        <p:spPr>
          <a:xfrm>
            <a:off x="597575" y="235207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No se proporcionan etiquetas en el conjunto de datos de entrenamiento.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El objetivo es descubrir patrones y estructuras ocultas en los datos sin guía explícita.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Los algoritmos de aprendizaje no supervisado se utilizan principalmente para problemas de agrupamiento (clustering) y reducción de dimensionalidad.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</p:txBody>
      </p:sp>
      <p:pic>
        <p:nvPicPr>
          <p:cNvPr id="218" name="Google Shape;2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3838" y="146300"/>
            <a:ext cx="3933825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0125" y="2794975"/>
            <a:ext cx="3101265" cy="213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s-419"/>
              <a:t>Aprendizaje por refuerzo</a:t>
            </a:r>
            <a:endParaRPr/>
          </a:p>
        </p:txBody>
      </p:sp>
      <p:sp>
        <p:nvSpPr>
          <p:cNvPr id="225" name="Google Shape;225;p15"/>
          <p:cNvSpPr txBox="1"/>
          <p:nvPr>
            <p:ph idx="2" type="body"/>
          </p:nvPr>
        </p:nvSpPr>
        <p:spPr>
          <a:xfrm>
            <a:off x="597575" y="2352075"/>
            <a:ext cx="3374400" cy="25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Un agente interactúa con un entorno y aprende a través de ensayo y error para maximizar una recompensa acumulativa.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El agente toma decisiones en función de su estado actual y recibe recompensas o castigos del entorno en función de esas decisiones. </a:t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>
              <a:solidFill>
                <a:srgbClr val="374151"/>
              </a:solidFill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>
                <a:solidFill>
                  <a:srgbClr val="374151"/>
                </a:solidFill>
              </a:rPr>
              <a:t>El objetivo es aprender una política que maximice la recompensa a largo plazo.</a:t>
            </a:r>
            <a:endParaRPr>
              <a:solidFill>
                <a:srgbClr val="374151"/>
              </a:solidFill>
            </a:endParaRPr>
          </a:p>
        </p:txBody>
      </p:sp>
      <p:pic>
        <p:nvPicPr>
          <p:cNvPr id="226" name="Google Shape;226;p1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7700" y="130500"/>
            <a:ext cx="4396301" cy="30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15877" y="3456299"/>
            <a:ext cx="1401948" cy="168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Clasificación vs Regresión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95694"/>
              <a:buNone/>
            </a:pPr>
            <a:r>
              <a:rPr lang="es-419" sz="2044"/>
              <a:t>Tipos de problemas de Aprendizaje Supervisado</a:t>
            </a:r>
            <a:endParaRPr sz="2044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Problemas de Clasificación</a:t>
            </a:r>
            <a:endParaRPr/>
          </a:p>
        </p:txBody>
      </p:sp>
      <p:sp>
        <p:nvSpPr>
          <p:cNvPr id="238" name="Google Shape;238;p17"/>
          <p:cNvSpPr txBox="1"/>
          <p:nvPr>
            <p:ph idx="1" type="body"/>
          </p:nvPr>
        </p:nvSpPr>
        <p:spPr>
          <a:xfrm>
            <a:off x="729450" y="2078875"/>
            <a:ext cx="76887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Clasificación implica predecir una etiqueta o clase a partir de un conjunto de características. 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Detección de Spam en correo electrónico.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Reconocimiento facial.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Detección de fraude.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Identificación de señales de tránsito.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Predicción de día lluvioso.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Podemos encontrarnos con problemas de dos clases o multi-clases.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Problemas de Regresión</a:t>
            </a:r>
            <a:endParaRPr/>
          </a:p>
        </p:txBody>
      </p:sp>
      <p:sp>
        <p:nvSpPr>
          <p:cNvPr id="244" name="Google Shape;244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La regresión se utiliza para predecir un valor numérico continuo a partir de un conjunto de características. </a:t>
            </a:r>
            <a:endParaRPr sz="1400"/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Predicción de precios de un determinado producto.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Predicción de precios futuros de instrumentos financieros.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Predicción de consumo de energía eléctrica.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Arial"/>
              <a:buChar char="●"/>
            </a:pPr>
            <a:r>
              <a:rPr lang="es-419" sz="1400">
                <a:solidFill>
                  <a:srgbClr val="374151"/>
                </a:solidFill>
                <a:latin typeface="Arial"/>
                <a:ea typeface="Arial"/>
                <a:cs typeface="Arial"/>
                <a:sym typeface="Arial"/>
              </a:rPr>
              <a:t>Predicción de cantidad de lluvia.</a:t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solidFill>
                <a:srgbClr val="37415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6050" y="547024"/>
            <a:ext cx="7171900" cy="39373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9"/>
          <p:cNvSpPr txBox="1"/>
          <p:nvPr/>
        </p:nvSpPr>
        <p:spPr>
          <a:xfrm>
            <a:off x="5325575" y="4484350"/>
            <a:ext cx="2480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modelado de curva de regresión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1688625" y="4484350"/>
            <a:ext cx="2480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modelado de curva de decisión de límite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9574" y="383974"/>
            <a:ext cx="3499975" cy="449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6125" y="383975"/>
            <a:ext cx="3881225" cy="349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0" title="Ph.D. thesis - Matthias Scholz - Max Planck Institute of Molecular ...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71975" y="3882450"/>
            <a:ext cx="2023625" cy="12141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0"/>
          <p:cNvSpPr txBox="1"/>
          <p:nvPr/>
        </p:nvSpPr>
        <p:spPr>
          <a:xfrm>
            <a:off x="5086600" y="4297088"/>
            <a:ext cx="373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neural network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265" name="Google Shape;2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" y="1143000"/>
            <a:ext cx="882015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-419"/>
              <a:t>Ciclo de vida de un modelo de Aprendizaje Automático</a:t>
            </a:r>
            <a:endParaRPr sz="2044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3"/>
          <p:cNvSpPr/>
          <p:nvPr/>
        </p:nvSpPr>
        <p:spPr>
          <a:xfrm flipH="1" rot="984884">
            <a:off x="5965578" y="2556517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3"/>
          <p:cNvSpPr/>
          <p:nvPr/>
        </p:nvSpPr>
        <p:spPr>
          <a:xfrm rot="-984884">
            <a:off x="4938929" y="2556517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3"/>
          <p:cNvSpPr/>
          <p:nvPr/>
        </p:nvSpPr>
        <p:spPr>
          <a:xfrm flipH="1" rot="984884">
            <a:off x="3908284" y="2556517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3"/>
          <p:cNvSpPr/>
          <p:nvPr/>
        </p:nvSpPr>
        <p:spPr>
          <a:xfrm rot="-984884">
            <a:off x="2885763" y="2556517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3"/>
          <p:cNvSpPr/>
          <p:nvPr/>
        </p:nvSpPr>
        <p:spPr>
          <a:xfrm flipH="1" rot="984884">
            <a:off x="1855107" y="2556517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0" name="Google Shape;280;p23"/>
          <p:cNvGrpSpPr/>
          <p:nvPr/>
        </p:nvGrpSpPr>
        <p:grpSpPr>
          <a:xfrm>
            <a:off x="2079840" y="2617325"/>
            <a:ext cx="1712700" cy="1230715"/>
            <a:chOff x="2114740" y="2543425"/>
            <a:chExt cx="1712700" cy="1230715"/>
          </a:xfrm>
        </p:grpSpPr>
        <p:sp>
          <p:nvSpPr>
            <p:cNvPr id="281" name="Google Shape;281;p23"/>
            <p:cNvSpPr/>
            <p:nvPr/>
          </p:nvSpPr>
          <p:spPr>
            <a:xfrm rot="-1789476">
              <a:off x="2888080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2" name="Google Shape;282;p23"/>
            <p:cNvSpPr/>
            <p:nvPr/>
          </p:nvSpPr>
          <p:spPr>
            <a:xfrm>
              <a:off x="2114740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3" name="Google Shape;283;p23"/>
            <p:cNvSpPr txBox="1"/>
            <p:nvPr/>
          </p:nvSpPr>
          <p:spPr>
            <a:xfrm>
              <a:off x="2158990" y="3107840"/>
              <a:ext cx="1624200" cy="624600"/>
            </a:xfrm>
            <a:prstGeom prst="rect">
              <a:avLst/>
            </a:prstGeom>
            <a:solidFill>
              <a:srgbClr val="CC4125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Pre-Procesamiento de Datos</a:t>
              </a:r>
              <a:endParaRPr b="0" i="0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2926090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85" name="Google Shape;285;p23"/>
          <p:cNvGrpSpPr/>
          <p:nvPr/>
        </p:nvGrpSpPr>
        <p:grpSpPr>
          <a:xfrm>
            <a:off x="4130250" y="2617381"/>
            <a:ext cx="1712700" cy="1175702"/>
            <a:chOff x="4165140" y="2543425"/>
            <a:chExt cx="1712700" cy="1230715"/>
          </a:xfrm>
        </p:grpSpPr>
        <p:sp>
          <p:nvSpPr>
            <p:cNvPr id="286" name="Google Shape;286;p23"/>
            <p:cNvSpPr/>
            <p:nvPr/>
          </p:nvSpPr>
          <p:spPr>
            <a:xfrm rot="-1789476">
              <a:off x="4941257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7" name="Google Shape;287;p23"/>
            <p:cNvSpPr/>
            <p:nvPr/>
          </p:nvSpPr>
          <p:spPr>
            <a:xfrm>
              <a:off x="4165140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8" name="Google Shape;288;p23"/>
            <p:cNvSpPr txBox="1"/>
            <p:nvPr/>
          </p:nvSpPr>
          <p:spPr>
            <a:xfrm>
              <a:off x="4209390" y="3107840"/>
              <a:ext cx="1624200" cy="624600"/>
            </a:xfrm>
            <a:prstGeom prst="rect">
              <a:avLst/>
            </a:prstGeom>
            <a:solidFill>
              <a:srgbClr val="FCE5C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Validación de modelos</a:t>
              </a:r>
              <a:endParaRPr b="0" i="0" sz="1300" u="none" cap="none" strike="noStrike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9" name="Google Shape;289;p23"/>
            <p:cNvSpPr/>
            <p:nvPr/>
          </p:nvSpPr>
          <p:spPr>
            <a:xfrm>
              <a:off x="4976490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90" name="Google Shape;290;p23"/>
          <p:cNvGrpSpPr/>
          <p:nvPr/>
        </p:nvGrpSpPr>
        <p:grpSpPr>
          <a:xfrm>
            <a:off x="1042495" y="1295470"/>
            <a:ext cx="1712700" cy="1246752"/>
            <a:chOff x="1072790" y="1221570"/>
            <a:chExt cx="1712700" cy="1246752"/>
          </a:xfrm>
        </p:grpSpPr>
        <p:sp>
          <p:nvSpPr>
            <p:cNvPr id="291" name="Google Shape;291;p23"/>
            <p:cNvSpPr/>
            <p:nvPr/>
          </p:nvSpPr>
          <p:spPr>
            <a:xfrm>
              <a:off x="1072790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 rot="10800000">
              <a:off x="1884115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3" name="Google Shape;293;p23"/>
            <p:cNvSpPr txBox="1"/>
            <p:nvPr/>
          </p:nvSpPr>
          <p:spPr>
            <a:xfrm>
              <a:off x="1117040" y="1258770"/>
              <a:ext cx="1624200" cy="624600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Obtención de datos</a:t>
              </a:r>
              <a:endParaRPr b="0" i="0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4" name="Google Shape;294;p23"/>
            <p:cNvSpPr/>
            <p:nvPr/>
          </p:nvSpPr>
          <p:spPr>
            <a:xfrm rot="-1789476">
              <a:off x="1846080" y="2278597"/>
              <a:ext cx="160451" cy="160451"/>
            </a:xfrm>
            <a:prstGeom prst="ellipse">
              <a:avLst/>
            </a:prstGeom>
            <a:solidFill>
              <a:srgbClr val="CC0000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95" name="Google Shape;295;p23"/>
          <p:cNvGrpSpPr/>
          <p:nvPr/>
        </p:nvGrpSpPr>
        <p:grpSpPr>
          <a:xfrm>
            <a:off x="3088250" y="998018"/>
            <a:ext cx="1712700" cy="1276608"/>
            <a:chOff x="3123140" y="1221570"/>
            <a:chExt cx="1712700" cy="766593"/>
          </a:xfrm>
        </p:grpSpPr>
        <p:sp>
          <p:nvSpPr>
            <p:cNvPr id="296" name="Google Shape;296;p23"/>
            <p:cNvSpPr/>
            <p:nvPr/>
          </p:nvSpPr>
          <p:spPr>
            <a:xfrm>
              <a:off x="3123140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7" name="Google Shape;297;p23"/>
            <p:cNvSpPr/>
            <p:nvPr/>
          </p:nvSpPr>
          <p:spPr>
            <a:xfrm rot="10800000">
              <a:off x="3934465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98" name="Google Shape;298;p23"/>
            <p:cNvSpPr txBox="1"/>
            <p:nvPr/>
          </p:nvSpPr>
          <p:spPr>
            <a:xfrm>
              <a:off x="3167390" y="1258762"/>
              <a:ext cx="1624200" cy="6618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Toma de decisiones: features. Selección y entrenamiento de modelos. </a:t>
              </a:r>
              <a:endParaRPr b="0" i="0" sz="1300" u="none" cap="none" strike="noStrike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99" name="Google Shape;299;p23"/>
          <p:cNvGrpSpPr/>
          <p:nvPr/>
        </p:nvGrpSpPr>
        <p:grpSpPr>
          <a:xfrm>
            <a:off x="5155795" y="1295470"/>
            <a:ext cx="1712700" cy="1246752"/>
            <a:chOff x="5201245" y="1221570"/>
            <a:chExt cx="1712700" cy="1246752"/>
          </a:xfrm>
        </p:grpSpPr>
        <p:sp>
          <p:nvSpPr>
            <p:cNvPr id="300" name="Google Shape;300;p23"/>
            <p:cNvSpPr/>
            <p:nvPr/>
          </p:nvSpPr>
          <p:spPr>
            <a:xfrm rot="-1789476">
              <a:off x="5977648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1" name="Google Shape;301;p23"/>
            <p:cNvSpPr/>
            <p:nvPr/>
          </p:nvSpPr>
          <p:spPr>
            <a:xfrm>
              <a:off x="5201245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2" name="Google Shape;302;p23"/>
            <p:cNvSpPr/>
            <p:nvPr/>
          </p:nvSpPr>
          <p:spPr>
            <a:xfrm rot="10800000">
              <a:off x="6012570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3" name="Google Shape;303;p23"/>
            <p:cNvSpPr txBox="1"/>
            <p:nvPr/>
          </p:nvSpPr>
          <p:spPr>
            <a:xfrm>
              <a:off x="5245495" y="1258770"/>
              <a:ext cx="1624200" cy="624600"/>
            </a:xfrm>
            <a:prstGeom prst="rect">
              <a:avLst/>
            </a:prstGeom>
            <a:solidFill>
              <a:srgbClr val="F6B2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Despliegue: puesta en Producción</a:t>
              </a:r>
              <a:endParaRPr b="0" i="0" sz="1300" u="none" cap="none" strike="noStrike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04" name="Google Shape;304;p23"/>
          <p:cNvGrpSpPr/>
          <p:nvPr/>
        </p:nvGrpSpPr>
        <p:grpSpPr>
          <a:xfrm>
            <a:off x="6180653" y="2617325"/>
            <a:ext cx="1712700" cy="1230715"/>
            <a:chOff x="6282830" y="2543425"/>
            <a:chExt cx="1712700" cy="1230715"/>
          </a:xfrm>
        </p:grpSpPr>
        <p:sp>
          <p:nvSpPr>
            <p:cNvPr id="305" name="Google Shape;305;p23"/>
            <p:cNvSpPr/>
            <p:nvPr/>
          </p:nvSpPr>
          <p:spPr>
            <a:xfrm rot="-1789476">
              <a:off x="7058947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6" name="Google Shape;306;p23"/>
            <p:cNvSpPr/>
            <p:nvPr/>
          </p:nvSpPr>
          <p:spPr>
            <a:xfrm>
              <a:off x="6282830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7" name="Google Shape;307;p23"/>
            <p:cNvSpPr txBox="1"/>
            <p:nvPr/>
          </p:nvSpPr>
          <p:spPr>
            <a:xfrm>
              <a:off x="6327080" y="3107840"/>
              <a:ext cx="1624200" cy="624600"/>
            </a:xfrm>
            <a:prstGeom prst="rect">
              <a:avLst/>
            </a:prstGeom>
            <a:solidFill>
              <a:srgbClr val="E69138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s-419" sz="1300" u="none" cap="none" strike="noStrike">
                  <a:solidFill>
                    <a:srgbClr val="5E5E5E"/>
                  </a:solidFill>
                  <a:latin typeface="Lato"/>
                  <a:ea typeface="Lato"/>
                  <a:cs typeface="Lato"/>
                  <a:sym typeface="Lato"/>
                </a:rPr>
                <a:t>Monitoreo de modelos</a:t>
              </a:r>
              <a:endParaRPr b="0" i="0" sz="1300" u="none" cap="none" strike="noStrike">
                <a:solidFill>
                  <a:srgbClr val="5E5E5E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08" name="Google Shape;308;p23"/>
            <p:cNvSpPr/>
            <p:nvPr/>
          </p:nvSpPr>
          <p:spPr>
            <a:xfrm>
              <a:off x="7094180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309" name="Google Shape;309;p23"/>
          <p:cNvCxnSpPr>
            <a:stCxn id="305" idx="5"/>
            <a:endCxn id="298" idx="0"/>
          </p:cNvCxnSpPr>
          <p:nvPr/>
        </p:nvCxnSpPr>
        <p:spPr>
          <a:xfrm flipH="1" rot="5400000">
            <a:off x="4685623" y="319026"/>
            <a:ext cx="1687800" cy="3169800"/>
          </a:xfrm>
          <a:prstGeom prst="curvedConnector5">
            <a:avLst>
              <a:gd fmla="val 8357" name="adj1"/>
              <a:gd fmla="val -34836" name="adj2"/>
              <a:gd fmla="val 114113" name="adj3"/>
            </a:avLst>
          </a:prstGeom>
          <a:noFill/>
          <a:ln cap="flat" cmpd="sng" w="28575">
            <a:solidFill>
              <a:srgbClr val="D9D9D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0" name="Google Shape;310;p23"/>
          <p:cNvSpPr/>
          <p:nvPr/>
        </p:nvSpPr>
        <p:spPr>
          <a:xfrm rot="-1789476">
            <a:off x="3875220" y="2352499"/>
            <a:ext cx="160451" cy="160451"/>
          </a:xfrm>
          <a:prstGeom prst="ellipse">
            <a:avLst/>
          </a:prstGeom>
          <a:solidFill>
            <a:srgbClr val="FFFFFF"/>
          </a:solidFill>
          <a:ln cap="flat" cmpd="sng" w="38100">
            <a:solidFill>
              <a:srgbClr val="8585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23"/>
          <p:cNvSpPr txBox="1"/>
          <p:nvPr/>
        </p:nvSpPr>
        <p:spPr>
          <a:xfrm>
            <a:off x="292375" y="2070525"/>
            <a:ext cx="630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Engineer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2" name="Google Shape;312;p23"/>
          <p:cNvSpPr txBox="1"/>
          <p:nvPr/>
        </p:nvSpPr>
        <p:spPr>
          <a:xfrm>
            <a:off x="3294775" y="4093150"/>
            <a:ext cx="14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 Scientist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3" name="Google Shape;313;p23"/>
          <p:cNvSpPr txBox="1"/>
          <p:nvPr/>
        </p:nvSpPr>
        <p:spPr>
          <a:xfrm>
            <a:off x="6927300" y="1923025"/>
            <a:ext cx="120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ML Engineer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564900" y="820175"/>
            <a:ext cx="630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Bases de Datos. SQL y NoSQL. </a:t>
            </a:r>
            <a:endParaRPr b="0" i="0" sz="16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15" name="Google Shape;315;p23"/>
          <p:cNvSpPr txBox="1"/>
          <p:nvPr/>
        </p:nvSpPr>
        <p:spPr>
          <a:xfrm>
            <a:off x="292375" y="3711250"/>
            <a:ext cx="2900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Análisis Exploratorio de Datos.</a:t>
            </a:r>
            <a:endParaRPr b="0" i="0" sz="1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Feature engineering.</a:t>
            </a:r>
            <a:endParaRPr b="0" i="0" sz="1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16" name="Google Shape;316;p23"/>
          <p:cNvSpPr txBox="1"/>
          <p:nvPr/>
        </p:nvSpPr>
        <p:spPr>
          <a:xfrm>
            <a:off x="3420600" y="549225"/>
            <a:ext cx="57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Modelos de ML</a:t>
            </a:r>
            <a:endParaRPr b="0" i="0" sz="1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17" name="Google Shape;317;p23"/>
          <p:cNvSpPr txBox="1"/>
          <p:nvPr/>
        </p:nvSpPr>
        <p:spPr>
          <a:xfrm>
            <a:off x="6664675" y="1162200"/>
            <a:ext cx="226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MLOps</a:t>
            </a:r>
            <a:endParaRPr b="1" i="0" sz="1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18" name="Google Shape;318;p23"/>
          <p:cNvSpPr txBox="1"/>
          <p:nvPr/>
        </p:nvSpPr>
        <p:spPr>
          <a:xfrm>
            <a:off x="6664675" y="3711250"/>
            <a:ext cx="226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MLOps</a:t>
            </a:r>
            <a:endParaRPr b="1" i="0" sz="18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Pipeline de Datos</a:t>
            </a:r>
            <a:endParaRPr/>
          </a:p>
        </p:txBody>
      </p:sp>
      <p:pic>
        <p:nvPicPr>
          <p:cNvPr id="324" name="Google Shape;3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3025" y="2078863"/>
            <a:ext cx="6257925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4"/>
          <p:cNvSpPr txBox="1"/>
          <p:nvPr/>
        </p:nvSpPr>
        <p:spPr>
          <a:xfrm>
            <a:off x="2746500" y="4363200"/>
            <a:ext cx="3654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Análisis Exploratorio de Datos (EDA)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4224" y="59250"/>
            <a:ext cx="4535549" cy="502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5"/>
          <p:cNvSpPr txBox="1"/>
          <p:nvPr/>
        </p:nvSpPr>
        <p:spPr>
          <a:xfrm>
            <a:off x="6839775" y="1057750"/>
            <a:ext cx="2160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observar patrones de data faltante. ¿Formas de imputar?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2" name="Google Shape;332;p25"/>
          <p:cNvSpPr txBox="1"/>
          <p:nvPr/>
        </p:nvSpPr>
        <p:spPr>
          <a:xfrm>
            <a:off x="0" y="2621975"/>
            <a:ext cx="2400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outliers</a:t>
            </a: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valores que se alejan significativamente del resto de los datos. ¿Son errores? ¿Qué hay que hacer con ellos?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33" name="Google Shape;333;p25"/>
          <p:cNvSpPr txBox="1"/>
          <p:nvPr/>
        </p:nvSpPr>
        <p:spPr>
          <a:xfrm>
            <a:off x="90375" y="4202100"/>
            <a:ext cx="2400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tipo de data: categórica o numérica. </a:t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"/>
          <p:cNvSpPr txBox="1"/>
          <p:nvPr>
            <p:ph type="title"/>
          </p:nvPr>
        </p:nvSpPr>
        <p:spPr>
          <a:xfrm>
            <a:off x="729450" y="1318650"/>
            <a:ext cx="7981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Pipeline de tareas sobre el Conjunto de Entrenamiento</a:t>
            </a:r>
            <a:endParaRPr/>
          </a:p>
        </p:txBody>
      </p:sp>
      <p:pic>
        <p:nvPicPr>
          <p:cNvPr id="339" name="Google Shape;3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2450" y="2203250"/>
            <a:ext cx="636270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7"/>
          <p:cNvSpPr/>
          <p:nvPr/>
        </p:nvSpPr>
        <p:spPr>
          <a:xfrm>
            <a:off x="3562668" y="489176"/>
            <a:ext cx="2066700" cy="6945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419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Entrenamiento de un modelo de ML</a:t>
            </a:r>
            <a:endParaRPr b="0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5941474" y="1901371"/>
            <a:ext cx="2066700" cy="694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Optimizador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1183861" y="1901371"/>
            <a:ext cx="2066700" cy="694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Función de pérdida</a:t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48074" y="3478332"/>
            <a:ext cx="2066700" cy="10533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Función para minimizar. A menor valor, mejor la performance</a:t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2373271" y="3437131"/>
            <a:ext cx="2066700" cy="1135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 elige en función del problema. 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Regresión - MSE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419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Clasificación - BCE</a:t>
            </a:r>
            <a:endParaRPr b="0" i="0" sz="14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4805697" y="3342950"/>
            <a:ext cx="2066700" cy="13239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Algoritmo que efectúa la optimización de la función de pérdida.</a:t>
            </a:r>
            <a:endParaRPr b="0" i="0" sz="1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7077275" y="3522150"/>
            <a:ext cx="2066700" cy="1009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s-419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Ejemplo: </a:t>
            </a:r>
            <a:r>
              <a:rPr b="0" i="0" lang="es-419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Gradiente </a:t>
            </a:r>
            <a:r>
              <a:rPr b="0" i="0" lang="es-419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descendiente</a:t>
            </a:r>
            <a:endParaRPr b="0" i="0" sz="1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27"/>
          <p:cNvCxnSpPr>
            <a:stCxn id="344" idx="2"/>
            <a:endCxn id="345" idx="0"/>
          </p:cNvCxnSpPr>
          <p:nvPr/>
        </p:nvCxnSpPr>
        <p:spPr>
          <a:xfrm flipH="1" rot="-5400000">
            <a:off x="5426568" y="353126"/>
            <a:ext cx="717600" cy="2378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2" name="Google Shape;352;p27"/>
          <p:cNvCxnSpPr>
            <a:stCxn id="346" idx="0"/>
            <a:endCxn id="344" idx="2"/>
          </p:cNvCxnSpPr>
          <p:nvPr/>
        </p:nvCxnSpPr>
        <p:spPr>
          <a:xfrm rot="-5400000">
            <a:off x="3047761" y="353221"/>
            <a:ext cx="717600" cy="2378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27"/>
          <p:cNvCxnSpPr>
            <a:stCxn id="346" idx="2"/>
            <a:endCxn id="348" idx="0"/>
          </p:cNvCxnSpPr>
          <p:nvPr/>
        </p:nvCxnSpPr>
        <p:spPr>
          <a:xfrm flipH="1" rot="-5400000">
            <a:off x="2391361" y="2421721"/>
            <a:ext cx="841200" cy="1189500"/>
          </a:xfrm>
          <a:prstGeom prst="bentConnector3">
            <a:avLst>
              <a:gd fmla="val 5236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4" name="Google Shape;354;p27"/>
          <p:cNvCxnSpPr>
            <a:stCxn id="347" idx="0"/>
            <a:endCxn id="346" idx="2"/>
          </p:cNvCxnSpPr>
          <p:nvPr/>
        </p:nvCxnSpPr>
        <p:spPr>
          <a:xfrm rot="-5400000">
            <a:off x="1208024" y="2469132"/>
            <a:ext cx="882600" cy="11358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5" name="Google Shape;355;p27"/>
          <p:cNvCxnSpPr>
            <a:stCxn id="345" idx="2"/>
            <a:endCxn id="350" idx="0"/>
          </p:cNvCxnSpPr>
          <p:nvPr/>
        </p:nvCxnSpPr>
        <p:spPr>
          <a:xfrm flipH="1" rot="-5400000">
            <a:off x="7079524" y="2491171"/>
            <a:ext cx="926400" cy="1135800"/>
          </a:xfrm>
          <a:prstGeom prst="bentConnector3">
            <a:avLst>
              <a:gd fmla="val 4038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27"/>
          <p:cNvCxnSpPr>
            <a:stCxn id="349" idx="0"/>
            <a:endCxn id="345" idx="2"/>
          </p:cNvCxnSpPr>
          <p:nvPr/>
        </p:nvCxnSpPr>
        <p:spPr>
          <a:xfrm rot="-5400000">
            <a:off x="6033447" y="2401550"/>
            <a:ext cx="747000" cy="11358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27"/>
          <p:cNvSpPr txBox="1"/>
          <p:nvPr/>
        </p:nvSpPr>
        <p:spPr>
          <a:xfrm>
            <a:off x="7435652" y="4443458"/>
            <a:ext cx="135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419" sz="16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Iteraciones</a:t>
            </a:r>
            <a:endParaRPr b="0" i="0" sz="1600" u="none" cap="none" strike="noStrike">
              <a:solidFill>
                <a:srgbClr val="00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358" name="Google Shape;358;p27"/>
          <p:cNvSpPr txBox="1"/>
          <p:nvPr/>
        </p:nvSpPr>
        <p:spPr>
          <a:xfrm>
            <a:off x="1275825" y="4172000"/>
            <a:ext cx="578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77e98ea1e_1_26"/>
          <p:cNvSpPr txBox="1"/>
          <p:nvPr>
            <p:ph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Gracias</a:t>
            </a:r>
            <a:endParaRPr/>
          </a:p>
        </p:txBody>
      </p:sp>
      <p:sp>
        <p:nvSpPr>
          <p:cNvPr id="364" name="Google Shape;364;g3f77e98ea1e_1_26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0"/>
              <a:buFont typeface="Arial"/>
              <a:buNone/>
            </a:pPr>
            <a:r>
              <a:rPr b="1" lang="es-419" sz="2300">
                <a:latin typeface="Raleway"/>
                <a:ea typeface="Raleway"/>
                <a:cs typeface="Raleway"/>
                <a:sym typeface="Raleway"/>
              </a:rPr>
              <a:t>Introducción al Aprendizaje Automático </a:t>
            </a:r>
            <a:endParaRPr sz="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