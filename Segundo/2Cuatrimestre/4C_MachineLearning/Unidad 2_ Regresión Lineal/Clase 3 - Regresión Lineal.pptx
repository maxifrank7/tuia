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aleway"/>
      <p:regular r:id="rId26"/>
      <p:bold r:id="rId27"/>
      <p:italic r:id="rId28"/>
      <p:boldItalic r:id="rId29"/>
    </p:embeddedFont>
    <p:embeddedFont>
      <p:font typeface="Lato"/>
      <p:regular r:id="rId30"/>
      <p:bold r:id="rId31"/>
      <p:italic r:id="rId32"/>
      <p:boldItalic r:id="rId33"/>
    </p:embeddedFont>
    <p:embeddedFont>
      <p:font typeface="Lora SemiBold"/>
      <p:regular r:id="rId34"/>
      <p:bold r:id="rId35"/>
      <p:italic r:id="rId36"/>
      <p:boldItalic r:id="rId37"/>
    </p:embeddedFont>
    <p:embeddedFont>
      <p:font typeface="Lora"/>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2" roundtripDataSignature="AMtx7mjUpfHl/oPotQvRmf5UTyEibu+8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ora-italic.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Lora-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regular.fntdata"/><Relationship Id="rId25" Type="http://schemas.openxmlformats.org/officeDocument/2006/relationships/slide" Target="slides/slide20.xml"/><Relationship Id="rId28" Type="http://schemas.openxmlformats.org/officeDocument/2006/relationships/font" Target="fonts/Raleway-italic.fntdata"/><Relationship Id="rId27"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35" Type="http://schemas.openxmlformats.org/officeDocument/2006/relationships/font" Target="fonts/LoraSemiBold-bold.fntdata"/><Relationship Id="rId12" Type="http://schemas.openxmlformats.org/officeDocument/2006/relationships/slide" Target="slides/slide7.xml"/><Relationship Id="rId34" Type="http://schemas.openxmlformats.org/officeDocument/2006/relationships/font" Target="fonts/LoraSemiBold-regular.fntdata"/><Relationship Id="rId15" Type="http://schemas.openxmlformats.org/officeDocument/2006/relationships/slide" Target="slides/slide10.xml"/><Relationship Id="rId37" Type="http://schemas.openxmlformats.org/officeDocument/2006/relationships/font" Target="fonts/LoraSemiBold-boldItalic.fntdata"/><Relationship Id="rId14" Type="http://schemas.openxmlformats.org/officeDocument/2006/relationships/slide" Target="slides/slide9.xml"/><Relationship Id="rId36" Type="http://schemas.openxmlformats.org/officeDocument/2006/relationships/font" Target="fonts/LoraSemiBold-italic.fntdata"/><Relationship Id="rId17" Type="http://schemas.openxmlformats.org/officeDocument/2006/relationships/slide" Target="slides/slide12.xml"/><Relationship Id="rId39" Type="http://schemas.openxmlformats.org/officeDocument/2006/relationships/font" Target="fonts/Lora-bold.fntdata"/><Relationship Id="rId16" Type="http://schemas.openxmlformats.org/officeDocument/2006/relationships/slide" Target="slides/slide11.xml"/><Relationship Id="rId38" Type="http://schemas.openxmlformats.org/officeDocument/2006/relationships/font" Target="fonts/Lora-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407d6dfe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3f407d6dfe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5883b0ce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g395883b0ceb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5883b0ceb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395883b0ceb_2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95883b0ceb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395883b0ceb_2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95883b0ceb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395883b0ceb_2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95883b0ceb_2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395883b0ceb_2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57"/>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57"/>
          <p:cNvGrpSpPr/>
          <p:nvPr/>
        </p:nvGrpSpPr>
        <p:grpSpPr>
          <a:xfrm>
            <a:off x="830392" y="1191256"/>
            <a:ext cx="745763" cy="45826"/>
            <a:chOff x="4580561" y="2589004"/>
            <a:chExt cx="1064464" cy="25200"/>
          </a:xfrm>
        </p:grpSpPr>
        <p:sp>
          <p:nvSpPr>
            <p:cNvPr id="12" name="Google Shape;12;p5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5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57"/>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57"/>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58"/>
          <p:cNvGrpSpPr/>
          <p:nvPr/>
        </p:nvGrpSpPr>
        <p:grpSpPr>
          <a:xfrm>
            <a:off x="830392" y="1191256"/>
            <a:ext cx="745763" cy="45826"/>
            <a:chOff x="4580561" y="2589004"/>
            <a:chExt cx="1064464" cy="25200"/>
          </a:xfrm>
        </p:grpSpPr>
        <p:sp>
          <p:nvSpPr>
            <p:cNvPr id="20" name="Google Shape;20;p5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5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5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5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p5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59"/>
          <p:cNvGrpSpPr/>
          <p:nvPr/>
        </p:nvGrpSpPr>
        <p:grpSpPr>
          <a:xfrm>
            <a:off x="830392" y="1191256"/>
            <a:ext cx="745763" cy="45826"/>
            <a:chOff x="4580561" y="2589004"/>
            <a:chExt cx="1064464" cy="25200"/>
          </a:xfrm>
        </p:grpSpPr>
        <p:sp>
          <p:nvSpPr>
            <p:cNvPr id="28" name="Google Shape;28;p5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59"/>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1" name="Google Shape;31;p59"/>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32" name="Google Shape;32;p59"/>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3" name="Google Shape;33;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4" name="Shape 34"/>
        <p:cNvGrpSpPr/>
        <p:nvPr/>
      </p:nvGrpSpPr>
      <p:grpSpPr>
        <a:xfrm>
          <a:off x="0" y="0"/>
          <a:ext cx="0" cy="0"/>
          <a:chOff x="0" y="0"/>
          <a:chExt cx="0" cy="0"/>
        </a:xfrm>
      </p:grpSpPr>
      <p:grpSp>
        <p:nvGrpSpPr>
          <p:cNvPr id="35" name="Google Shape;35;p60"/>
          <p:cNvGrpSpPr/>
          <p:nvPr/>
        </p:nvGrpSpPr>
        <p:grpSpPr>
          <a:xfrm>
            <a:off x="830392" y="1191256"/>
            <a:ext cx="745763" cy="45826"/>
            <a:chOff x="4580561" y="2589004"/>
            <a:chExt cx="1064464" cy="25200"/>
          </a:xfrm>
        </p:grpSpPr>
        <p:sp>
          <p:nvSpPr>
            <p:cNvPr id="36" name="Google Shape;36;p6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6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 name="Google Shape;38;p60"/>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9" name="Google Shape;39;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6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61"/>
          <p:cNvGrpSpPr/>
          <p:nvPr/>
        </p:nvGrpSpPr>
        <p:grpSpPr>
          <a:xfrm>
            <a:off x="830392" y="1191256"/>
            <a:ext cx="745763" cy="45826"/>
            <a:chOff x="4580561" y="2589004"/>
            <a:chExt cx="1064464" cy="25200"/>
          </a:xfrm>
        </p:grpSpPr>
        <p:sp>
          <p:nvSpPr>
            <p:cNvPr id="43" name="Google Shape;43;p6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61"/>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61"/>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61"/>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2"/>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62"/>
          <p:cNvGrpSpPr/>
          <p:nvPr/>
        </p:nvGrpSpPr>
        <p:grpSpPr>
          <a:xfrm>
            <a:off x="830392" y="1191256"/>
            <a:ext cx="745763" cy="45826"/>
            <a:chOff x="4580561" y="2589004"/>
            <a:chExt cx="1064464" cy="25200"/>
          </a:xfrm>
        </p:grpSpPr>
        <p:sp>
          <p:nvSpPr>
            <p:cNvPr id="52" name="Google Shape;52;p6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6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62"/>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6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63"/>
          <p:cNvGrpSpPr/>
          <p:nvPr/>
        </p:nvGrpSpPr>
        <p:grpSpPr>
          <a:xfrm>
            <a:off x="830392" y="1191256"/>
            <a:ext cx="745763" cy="45826"/>
            <a:chOff x="4580561" y="2589004"/>
            <a:chExt cx="1064464" cy="25200"/>
          </a:xfrm>
        </p:grpSpPr>
        <p:sp>
          <p:nvSpPr>
            <p:cNvPr id="59" name="Google Shape;59;p6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63"/>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2" name="Google Shape;62;p63"/>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4" name="Shape 64"/>
        <p:cNvGrpSpPr/>
        <p:nvPr/>
      </p:nvGrpSpPr>
      <p:grpSpPr>
        <a:xfrm>
          <a:off x="0" y="0"/>
          <a:ext cx="0" cy="0"/>
          <a:chOff x="0" y="0"/>
          <a:chExt cx="0" cy="0"/>
        </a:xfrm>
      </p:grpSpPr>
      <p:grpSp>
        <p:nvGrpSpPr>
          <p:cNvPr id="65" name="Google Shape;65;p64"/>
          <p:cNvGrpSpPr/>
          <p:nvPr/>
        </p:nvGrpSpPr>
        <p:grpSpPr>
          <a:xfrm>
            <a:off x="830392" y="4169130"/>
            <a:ext cx="745763" cy="45826"/>
            <a:chOff x="4580561" y="2589004"/>
            <a:chExt cx="1064464" cy="25200"/>
          </a:xfrm>
        </p:grpSpPr>
        <p:sp>
          <p:nvSpPr>
            <p:cNvPr id="66" name="Google Shape;66;p6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64"/>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9" name="Google Shape;69;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65"/>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66"/>
          <p:cNvGrpSpPr/>
          <p:nvPr/>
        </p:nvGrpSpPr>
        <p:grpSpPr>
          <a:xfrm>
            <a:off x="830392" y="4169130"/>
            <a:ext cx="745763" cy="45826"/>
            <a:chOff x="4580561" y="2589004"/>
            <a:chExt cx="1064464" cy="25200"/>
          </a:xfrm>
        </p:grpSpPr>
        <p:sp>
          <p:nvSpPr>
            <p:cNvPr id="75" name="Google Shape;75;p66"/>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6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66"/>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66"/>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6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6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5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22.png"/><Relationship Id="rId5" Type="http://schemas.openxmlformats.org/officeDocument/2006/relationships/image" Target="../media/image17.png"/><Relationship Id="rId6"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t>Regresión Lineal</a:t>
            </a:r>
            <a:endParaRPr/>
          </a:p>
        </p:txBody>
      </p:sp>
      <p:sp>
        <p:nvSpPr>
          <p:cNvPr id="87" name="Google Shape;87;p1"/>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s-419"/>
              <a:t>Aprendizaje Automático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Regresión Lineal</a:t>
            </a:r>
            <a:endParaRPr/>
          </a:p>
        </p:txBody>
      </p:sp>
      <p:sp>
        <p:nvSpPr>
          <p:cNvPr id="93" name="Google Shape;93;p2"/>
          <p:cNvSpPr txBox="1"/>
          <p:nvPr>
            <p:ph idx="1" type="body"/>
          </p:nvPr>
        </p:nvSpPr>
        <p:spPr>
          <a:xfrm>
            <a:off x="5555875" y="2108850"/>
            <a:ext cx="27723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s-419"/>
              <a:t>Recta de regresión</a:t>
            </a:r>
            <a:endParaRPr b="1"/>
          </a:p>
          <a:p>
            <a:pPr indent="0" lvl="0" marL="0" rtl="0" algn="l">
              <a:lnSpc>
                <a:spcPct val="115000"/>
              </a:lnSpc>
              <a:spcBef>
                <a:spcPts val="1200"/>
              </a:spcBef>
              <a:spcAft>
                <a:spcPts val="0"/>
              </a:spcAft>
              <a:buSzPts val="1300"/>
              <a:buNone/>
            </a:pPr>
            <a:r>
              <a:rPr lang="es-419"/>
              <a:t>y = a x + b</a:t>
            </a:r>
            <a:endParaRPr/>
          </a:p>
          <a:p>
            <a:pPr indent="0" lvl="0" marL="0" rtl="0" algn="l">
              <a:lnSpc>
                <a:spcPct val="115000"/>
              </a:lnSpc>
              <a:spcBef>
                <a:spcPts val="1200"/>
              </a:spcBef>
              <a:spcAft>
                <a:spcPts val="1200"/>
              </a:spcAft>
              <a:buSzPts val="1300"/>
              <a:buNone/>
            </a:pPr>
            <a:r>
              <a:rPr lang="es-419"/>
              <a:t>Se desconocen a y b.</a:t>
            </a:r>
            <a:endParaRPr/>
          </a:p>
        </p:txBody>
      </p:sp>
      <p:pic>
        <p:nvPicPr>
          <p:cNvPr id="94" name="Google Shape;94;p2"/>
          <p:cNvPicPr preferRelativeResize="0"/>
          <p:nvPr/>
        </p:nvPicPr>
        <p:blipFill rotWithShape="1">
          <a:blip r:embed="rId3">
            <a:alphaModFix/>
          </a:blip>
          <a:srcRect b="0" l="0" r="0" t="0"/>
          <a:stretch/>
        </p:blipFill>
        <p:spPr>
          <a:xfrm>
            <a:off x="219925" y="1853850"/>
            <a:ext cx="4789924" cy="2959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Regresión Lineal Múltiple</a:t>
            </a:r>
            <a:endParaRPr/>
          </a:p>
        </p:txBody>
      </p:sp>
      <p:sp>
        <p:nvSpPr>
          <p:cNvPr id="100" name="Google Shape;100;p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s-419"/>
              <a:t>Plano de regresión</a:t>
            </a:r>
            <a:endParaRPr b="1"/>
          </a:p>
          <a:p>
            <a:pPr indent="0" lvl="0" marL="0" rtl="0" algn="l">
              <a:lnSpc>
                <a:spcPct val="115000"/>
              </a:lnSpc>
              <a:spcBef>
                <a:spcPts val="1200"/>
              </a:spcBef>
              <a:spcAft>
                <a:spcPts val="0"/>
              </a:spcAft>
              <a:buSzPts val="1300"/>
              <a:buNone/>
            </a:pPr>
            <a:r>
              <a:rPr lang="es-419"/>
              <a:t>Y = a X</a:t>
            </a:r>
            <a:r>
              <a:rPr baseline="-25000" lang="es-419"/>
              <a:t>1</a:t>
            </a:r>
            <a:r>
              <a:rPr lang="es-419"/>
              <a:t> + b X</a:t>
            </a:r>
            <a:r>
              <a:rPr baseline="-25000" lang="es-419"/>
              <a:t>2 </a:t>
            </a:r>
            <a:r>
              <a:rPr lang="es-419"/>
              <a:t>+ c</a:t>
            </a:r>
            <a:endParaRPr/>
          </a:p>
          <a:p>
            <a:pPr indent="0" lvl="0" marL="0" rtl="0" algn="l">
              <a:lnSpc>
                <a:spcPct val="115000"/>
              </a:lnSpc>
              <a:spcBef>
                <a:spcPts val="1200"/>
              </a:spcBef>
              <a:spcAft>
                <a:spcPts val="0"/>
              </a:spcAft>
              <a:buSzPts val="1300"/>
              <a:buNone/>
            </a:pPr>
            <a:r>
              <a:rPr lang="es-419"/>
              <a:t>Se desconocen a, b y c.</a:t>
            </a:r>
            <a:endParaRPr/>
          </a:p>
          <a:p>
            <a:pPr indent="0" lvl="0" marL="0" rtl="0" algn="l">
              <a:lnSpc>
                <a:spcPct val="115000"/>
              </a:lnSpc>
              <a:spcBef>
                <a:spcPts val="1200"/>
              </a:spcBef>
              <a:spcAft>
                <a:spcPts val="1200"/>
              </a:spcAft>
              <a:buSzPts val="1300"/>
              <a:buNone/>
            </a:pPr>
            <a:r>
              <a:t/>
            </a:r>
            <a:endParaRPr/>
          </a:p>
        </p:txBody>
      </p:sp>
      <p:pic>
        <p:nvPicPr>
          <p:cNvPr id="101" name="Google Shape;101;p3"/>
          <p:cNvPicPr preferRelativeResize="0"/>
          <p:nvPr/>
        </p:nvPicPr>
        <p:blipFill rotWithShape="1">
          <a:blip r:embed="rId3">
            <a:alphaModFix/>
          </a:blip>
          <a:srcRect b="0" l="0" r="0" t="0"/>
          <a:stretch/>
        </p:blipFill>
        <p:spPr>
          <a:xfrm>
            <a:off x="4825263" y="1133463"/>
            <a:ext cx="4067175" cy="4010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Regresión Lineal Múltiple</a:t>
            </a:r>
            <a:endParaRPr/>
          </a:p>
          <a:p>
            <a:pPr indent="0" lvl="0" marL="0" rtl="0" algn="l">
              <a:lnSpc>
                <a:spcPct val="100000"/>
              </a:lnSpc>
              <a:spcBef>
                <a:spcPts val="0"/>
              </a:spcBef>
              <a:spcAft>
                <a:spcPts val="0"/>
              </a:spcAft>
              <a:buSzPct val="111111"/>
              <a:buNone/>
            </a:pPr>
            <a:r>
              <a:t/>
            </a:r>
            <a:endParaRPr/>
          </a:p>
        </p:txBody>
      </p:sp>
      <p:sp>
        <p:nvSpPr>
          <p:cNvPr id="107" name="Google Shape;107;p4"/>
          <p:cNvSpPr txBox="1"/>
          <p:nvPr>
            <p:ph idx="1" type="body"/>
          </p:nvPr>
        </p:nvSpPr>
        <p:spPr>
          <a:xfrm>
            <a:off x="766950" y="1971925"/>
            <a:ext cx="7688700" cy="2458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s-419"/>
              <a:t>Figura n-dimensional de regresión</a:t>
            </a:r>
            <a:endParaRPr b="1"/>
          </a:p>
          <a:p>
            <a:pPr indent="0" lvl="0" marL="0" rtl="0" algn="l">
              <a:lnSpc>
                <a:spcPct val="115000"/>
              </a:lnSpc>
              <a:spcBef>
                <a:spcPts val="1200"/>
              </a:spcBef>
              <a:spcAft>
                <a:spcPts val="0"/>
              </a:spcAft>
              <a:buSzPts val="1300"/>
              <a:buNone/>
            </a:pPr>
            <a:r>
              <a:t/>
            </a:r>
            <a:endParaRPr b="1"/>
          </a:p>
          <a:p>
            <a:pPr indent="0" lvl="0" marL="0" rtl="0" algn="l">
              <a:lnSpc>
                <a:spcPct val="115000"/>
              </a:lnSpc>
              <a:spcBef>
                <a:spcPts val="1200"/>
              </a:spcBef>
              <a:spcAft>
                <a:spcPts val="0"/>
              </a:spcAft>
              <a:buSzPts val="1300"/>
              <a:buNone/>
            </a:pPr>
            <a:r>
              <a:rPr b="1" lang="es-419"/>
              <a:t>p ejes.</a:t>
            </a:r>
            <a:endParaRPr b="1"/>
          </a:p>
          <a:p>
            <a:pPr indent="0" lvl="0" marL="0" rtl="0" algn="l">
              <a:lnSpc>
                <a:spcPct val="115000"/>
              </a:lnSpc>
              <a:spcBef>
                <a:spcPts val="1200"/>
              </a:spcBef>
              <a:spcAft>
                <a:spcPts val="1200"/>
              </a:spcAft>
              <a:buSzPts val="1300"/>
              <a:buNone/>
            </a:pPr>
            <a:r>
              <a:rPr b="1" lang="es-419"/>
              <a:t>Se desconocen p+1 parámetros.</a:t>
            </a:r>
            <a:endParaRPr b="1"/>
          </a:p>
        </p:txBody>
      </p:sp>
      <p:pic>
        <p:nvPicPr>
          <p:cNvPr id="108" name="Google Shape;108;p4"/>
          <p:cNvPicPr preferRelativeResize="0"/>
          <p:nvPr/>
        </p:nvPicPr>
        <p:blipFill rotWithShape="1">
          <a:blip r:embed="rId3">
            <a:alphaModFix/>
          </a:blip>
          <a:srcRect b="0" l="0" r="0" t="0"/>
          <a:stretch/>
        </p:blipFill>
        <p:spPr>
          <a:xfrm>
            <a:off x="1916325" y="2371725"/>
            <a:ext cx="5314950" cy="400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¿Qué significa "buscar la mejor recta"? </a:t>
            </a:r>
            <a:endParaRPr/>
          </a:p>
        </p:txBody>
      </p:sp>
      <p:sp>
        <p:nvSpPr>
          <p:cNvPr id="114" name="Google Shape;114;p7"/>
          <p:cNvSpPr txBox="1"/>
          <p:nvPr>
            <p:ph idx="1" type="body"/>
          </p:nvPr>
        </p:nvSpPr>
        <p:spPr>
          <a:xfrm>
            <a:off x="729450" y="1797300"/>
            <a:ext cx="4518300" cy="22611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00000"/>
              <a:buNone/>
            </a:pPr>
            <a:r>
              <a:rPr lang="es-419"/>
              <a:t>La idea es encontrar una </a:t>
            </a:r>
            <a:r>
              <a:rPr b="1" lang="es-419"/>
              <a:t>función de pérdida</a:t>
            </a:r>
            <a:r>
              <a:rPr lang="es-419"/>
              <a:t> para determinar qué es lo que queremos minimizar. O en otras palabras, cómo </a:t>
            </a:r>
            <a:r>
              <a:rPr b="1" lang="es-419"/>
              <a:t>medir</a:t>
            </a:r>
            <a:r>
              <a:rPr lang="es-419"/>
              <a:t> la </a:t>
            </a:r>
            <a:r>
              <a:rPr b="1" lang="es-419"/>
              <a:t>mejor</a:t>
            </a:r>
            <a:r>
              <a:rPr lang="es-419"/>
              <a:t> figura n-dimensional que se adapte a nuestros datos.</a:t>
            </a:r>
            <a:endParaRPr/>
          </a:p>
          <a:p>
            <a:pPr indent="0" lvl="0" marL="0" rtl="0" algn="l">
              <a:lnSpc>
                <a:spcPct val="115000"/>
              </a:lnSpc>
              <a:spcBef>
                <a:spcPts val="1200"/>
              </a:spcBef>
              <a:spcAft>
                <a:spcPts val="0"/>
              </a:spcAft>
              <a:buSzPct val="100000"/>
              <a:buNone/>
            </a:pPr>
            <a:r>
              <a:rPr lang="es-419"/>
              <a:t>Por lo general:</a:t>
            </a:r>
            <a:endParaRPr/>
          </a:p>
          <a:p>
            <a:pPr indent="0" lvl="0" marL="0" rtl="0" algn="l">
              <a:lnSpc>
                <a:spcPct val="115000"/>
              </a:lnSpc>
              <a:spcBef>
                <a:spcPts val="1200"/>
              </a:spcBef>
              <a:spcAft>
                <a:spcPts val="0"/>
              </a:spcAft>
              <a:buSzPct val="100000"/>
              <a:buNone/>
            </a:pPr>
            <a:r>
              <a:rPr b="1" lang="es-419"/>
              <a:t>OLS - Ordinary Least Squares</a:t>
            </a:r>
            <a:r>
              <a:rPr lang="es-419"/>
              <a:t> - Mínimos cuadrados</a:t>
            </a:r>
            <a:endParaRPr/>
          </a:p>
          <a:p>
            <a:pPr indent="0" lvl="0" marL="0" rtl="0" algn="l">
              <a:lnSpc>
                <a:spcPct val="115000"/>
              </a:lnSpc>
              <a:spcBef>
                <a:spcPts val="1200"/>
              </a:spcBef>
              <a:spcAft>
                <a:spcPts val="0"/>
              </a:spcAft>
              <a:buSzPct val="100000"/>
              <a:buNone/>
            </a:pPr>
            <a:r>
              <a:rPr lang="es-419"/>
              <a:t>Este método consiste en </a:t>
            </a:r>
            <a:r>
              <a:rPr b="1" lang="es-419"/>
              <a:t>minimizar la suma de los cuadrados de las diferencias entre y_true y y_pred</a:t>
            </a:r>
            <a:endParaRPr b="1"/>
          </a:p>
          <a:p>
            <a:pPr indent="0" lvl="0" marL="0" rtl="0" algn="l">
              <a:lnSpc>
                <a:spcPct val="115000"/>
              </a:lnSpc>
              <a:spcBef>
                <a:spcPts val="1200"/>
              </a:spcBef>
              <a:spcAft>
                <a:spcPts val="1200"/>
              </a:spcAft>
              <a:buSzPct val="100000"/>
              <a:buNone/>
            </a:pPr>
            <a:r>
              <a:rPr lang="es-419"/>
              <a:t>Siendo y_true el valor real de Y, e y_pred el valor dado por la figura de regresión.</a:t>
            </a:r>
            <a:endParaRPr/>
          </a:p>
        </p:txBody>
      </p:sp>
      <p:pic>
        <p:nvPicPr>
          <p:cNvPr id="115" name="Google Shape;115;p7"/>
          <p:cNvPicPr preferRelativeResize="0"/>
          <p:nvPr/>
        </p:nvPicPr>
        <p:blipFill rotWithShape="1">
          <a:blip r:embed="rId3">
            <a:alphaModFix/>
          </a:blip>
          <a:srcRect b="0" l="0" r="0" t="0"/>
          <a:stretch/>
        </p:blipFill>
        <p:spPr>
          <a:xfrm>
            <a:off x="5081850" y="1797300"/>
            <a:ext cx="3884825" cy="2400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Mínimos cuadrados</a:t>
            </a:r>
            <a:endParaRPr/>
          </a:p>
        </p:txBody>
      </p:sp>
      <p:sp>
        <p:nvSpPr>
          <p:cNvPr id="121" name="Google Shape;121;p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lang="es-419" sz="1000"/>
              <a:t>La distancia entre </a:t>
            </a:r>
            <a:r>
              <a:rPr lang="es-419">
                <a:latin typeface="Lora SemiBold"/>
                <a:ea typeface="Lora SemiBold"/>
                <a:cs typeface="Lora SemiBold"/>
                <a:sym typeface="Lora SemiBold"/>
              </a:rPr>
              <a:t>y</a:t>
            </a:r>
            <a:r>
              <a:rPr baseline="-25000" lang="es-419">
                <a:latin typeface="Lora SemiBold"/>
                <a:ea typeface="Lora SemiBold"/>
                <a:cs typeface="Lora SemiBold"/>
                <a:sym typeface="Lora SemiBold"/>
              </a:rPr>
              <a:t>true_i</a:t>
            </a:r>
            <a:r>
              <a:rPr lang="es-419" sz="1000"/>
              <a:t> e </a:t>
            </a:r>
            <a:r>
              <a:rPr lang="es-419">
                <a:latin typeface="Lora SemiBold"/>
                <a:ea typeface="Lora SemiBold"/>
                <a:cs typeface="Lora SemiBold"/>
                <a:sym typeface="Lora SemiBold"/>
              </a:rPr>
              <a:t>y</a:t>
            </a:r>
            <a:r>
              <a:rPr baseline="-25000" lang="es-419">
                <a:latin typeface="Lora SemiBold"/>
                <a:ea typeface="Lora SemiBold"/>
                <a:cs typeface="Lora SemiBold"/>
                <a:sym typeface="Lora SemiBold"/>
              </a:rPr>
              <a:t>pred_i</a:t>
            </a:r>
            <a:r>
              <a:rPr lang="es-419" sz="1000"/>
              <a:t> se puede medir como la resta entre ellos</a:t>
            </a:r>
            <a:endParaRPr sz="1000"/>
          </a:p>
          <a:p>
            <a:pPr indent="0" lvl="0" marL="0" rtl="0" algn="ctr">
              <a:lnSpc>
                <a:spcPct val="115000"/>
              </a:lnSpc>
              <a:spcBef>
                <a:spcPts val="1200"/>
              </a:spcBef>
              <a:spcAft>
                <a:spcPts val="0"/>
              </a:spcAft>
              <a:buSzPts val="1300"/>
              <a:buNone/>
            </a:pPr>
            <a:r>
              <a:rPr lang="es-419" sz="1600">
                <a:latin typeface="Lora SemiBold"/>
                <a:ea typeface="Lora SemiBold"/>
                <a:cs typeface="Lora SemiBold"/>
                <a:sym typeface="Lora SemiBold"/>
              </a:rPr>
              <a:t>d =  y</a:t>
            </a:r>
            <a:r>
              <a:rPr baseline="-25000" lang="es-419" sz="1600">
                <a:latin typeface="Lora SemiBold"/>
                <a:ea typeface="Lora SemiBold"/>
                <a:cs typeface="Lora SemiBold"/>
                <a:sym typeface="Lora SemiBold"/>
              </a:rPr>
              <a:t>true_i</a:t>
            </a:r>
            <a:r>
              <a:rPr lang="es-419" sz="1600">
                <a:latin typeface="Lora SemiBold"/>
                <a:ea typeface="Lora SemiBold"/>
                <a:cs typeface="Lora SemiBold"/>
                <a:sym typeface="Lora SemiBold"/>
              </a:rPr>
              <a:t> - y</a:t>
            </a:r>
            <a:r>
              <a:rPr baseline="-25000" lang="es-419" sz="1600">
                <a:latin typeface="Lora SemiBold"/>
                <a:ea typeface="Lora SemiBold"/>
                <a:cs typeface="Lora SemiBold"/>
                <a:sym typeface="Lora SemiBold"/>
              </a:rPr>
              <a:t>pred_i</a:t>
            </a:r>
            <a:endParaRPr baseline="-25000" sz="1600">
              <a:latin typeface="Lora SemiBold"/>
              <a:ea typeface="Lora SemiBold"/>
              <a:cs typeface="Lora SemiBold"/>
              <a:sym typeface="Lora SemiBold"/>
            </a:endParaRPr>
          </a:p>
          <a:p>
            <a:pPr indent="0" lvl="0" marL="0" rtl="0" algn="l">
              <a:lnSpc>
                <a:spcPct val="115000"/>
              </a:lnSpc>
              <a:spcBef>
                <a:spcPts val="1200"/>
              </a:spcBef>
              <a:spcAft>
                <a:spcPts val="0"/>
              </a:spcAft>
              <a:buSzPts val="1300"/>
              <a:buNone/>
            </a:pPr>
            <a:r>
              <a:rPr baseline="-25000" lang="es-419" sz="1600"/>
              <a:t>Puesto que esta distancia puede ser positiva o negativa, para hacer una ponderación de distancia deberíamos tomar su valor positivo, lo que se puede hacer tomando el valor absoluto pero lo más común es elevar esta distancia al cuadrado.</a:t>
            </a:r>
            <a:endParaRPr baseline="-25000" sz="1600"/>
          </a:p>
          <a:p>
            <a:pPr indent="0" lvl="0" marL="0" rtl="0" algn="ctr">
              <a:lnSpc>
                <a:spcPct val="115000"/>
              </a:lnSpc>
              <a:spcBef>
                <a:spcPts val="1200"/>
              </a:spcBef>
              <a:spcAft>
                <a:spcPts val="0"/>
              </a:spcAft>
              <a:buSzPts val="1300"/>
              <a:buNone/>
            </a:pPr>
            <a:r>
              <a:rPr lang="es-419" sz="1600">
                <a:latin typeface="Lora SemiBold"/>
                <a:ea typeface="Lora SemiBold"/>
                <a:cs typeface="Lora SemiBold"/>
                <a:sym typeface="Lora SemiBold"/>
              </a:rPr>
              <a:t>d</a:t>
            </a:r>
            <a:r>
              <a:rPr baseline="30000" lang="es-419" sz="1600">
                <a:latin typeface="Lora SemiBold"/>
                <a:ea typeface="Lora SemiBold"/>
                <a:cs typeface="Lora SemiBold"/>
                <a:sym typeface="Lora SemiBold"/>
              </a:rPr>
              <a:t>2</a:t>
            </a:r>
            <a:r>
              <a:rPr lang="es-419" sz="1600">
                <a:latin typeface="Lora SemiBold"/>
                <a:ea typeface="Lora SemiBold"/>
                <a:cs typeface="Lora SemiBold"/>
                <a:sym typeface="Lora SemiBold"/>
              </a:rPr>
              <a:t> =  (y</a:t>
            </a:r>
            <a:r>
              <a:rPr baseline="-25000" lang="es-419" sz="1600">
                <a:latin typeface="Lora SemiBold"/>
                <a:ea typeface="Lora SemiBold"/>
                <a:cs typeface="Lora SemiBold"/>
                <a:sym typeface="Lora SemiBold"/>
              </a:rPr>
              <a:t>true_i</a:t>
            </a:r>
            <a:r>
              <a:rPr lang="es-419" sz="1600">
                <a:latin typeface="Lora SemiBold"/>
                <a:ea typeface="Lora SemiBold"/>
                <a:cs typeface="Lora SemiBold"/>
                <a:sym typeface="Lora SemiBold"/>
              </a:rPr>
              <a:t> - y</a:t>
            </a:r>
            <a:r>
              <a:rPr baseline="-25000" lang="es-419" sz="1600">
                <a:latin typeface="Lora SemiBold"/>
                <a:ea typeface="Lora SemiBold"/>
                <a:cs typeface="Lora SemiBold"/>
                <a:sym typeface="Lora SemiBold"/>
              </a:rPr>
              <a:t>pred_i</a:t>
            </a:r>
            <a:r>
              <a:rPr b="1" lang="es-419" sz="1600">
                <a:latin typeface="Lora"/>
                <a:ea typeface="Lora"/>
                <a:cs typeface="Lora"/>
                <a:sym typeface="Lora"/>
              </a:rPr>
              <a:t>)</a:t>
            </a:r>
            <a:r>
              <a:rPr baseline="30000" lang="es-419" sz="1600">
                <a:latin typeface="Lora SemiBold"/>
                <a:ea typeface="Lora SemiBold"/>
                <a:cs typeface="Lora SemiBold"/>
                <a:sym typeface="Lora SemiBold"/>
              </a:rPr>
              <a:t>2</a:t>
            </a:r>
            <a:endParaRPr b="1" sz="1600">
              <a:latin typeface="Lora"/>
              <a:ea typeface="Lora"/>
              <a:cs typeface="Lora"/>
              <a:sym typeface="Lora"/>
            </a:endParaRPr>
          </a:p>
          <a:p>
            <a:pPr indent="0" lvl="0" marL="0" rtl="0" algn="l">
              <a:lnSpc>
                <a:spcPct val="115000"/>
              </a:lnSpc>
              <a:spcBef>
                <a:spcPts val="1200"/>
              </a:spcBef>
              <a:spcAft>
                <a:spcPts val="1200"/>
              </a:spcAft>
              <a:buSzPts val="13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300"/>
              <a:buNone/>
            </a:pPr>
            <a:r>
              <a:rPr lang="es-419"/>
              <a:t>loss = </a:t>
            </a:r>
            <a:r>
              <a:rPr lang="es-419">
                <a:latin typeface="Lora SemiBold"/>
                <a:ea typeface="Lora SemiBold"/>
                <a:cs typeface="Lora SemiBold"/>
                <a:sym typeface="Lora SemiBold"/>
              </a:rPr>
              <a:t>⅀</a:t>
            </a:r>
            <a:r>
              <a:rPr lang="es-419" sz="1600">
                <a:latin typeface="Lora SemiBold"/>
                <a:ea typeface="Lora SemiBold"/>
                <a:cs typeface="Lora SemiBold"/>
                <a:sym typeface="Lora SemiBold"/>
              </a:rPr>
              <a:t> (y</a:t>
            </a:r>
            <a:r>
              <a:rPr baseline="-25000" lang="es-419" sz="1600">
                <a:latin typeface="Lora SemiBold"/>
                <a:ea typeface="Lora SemiBold"/>
                <a:cs typeface="Lora SemiBold"/>
                <a:sym typeface="Lora SemiBold"/>
              </a:rPr>
              <a:t>true_i</a:t>
            </a:r>
            <a:r>
              <a:rPr lang="es-419" sz="1600">
                <a:latin typeface="Lora SemiBold"/>
                <a:ea typeface="Lora SemiBold"/>
                <a:cs typeface="Lora SemiBold"/>
                <a:sym typeface="Lora SemiBold"/>
              </a:rPr>
              <a:t> - y</a:t>
            </a:r>
            <a:r>
              <a:rPr baseline="-25000" lang="es-419" sz="1600">
                <a:latin typeface="Lora SemiBold"/>
                <a:ea typeface="Lora SemiBold"/>
                <a:cs typeface="Lora SemiBold"/>
                <a:sym typeface="Lora SemiBold"/>
              </a:rPr>
              <a:t>pred_i</a:t>
            </a:r>
            <a:r>
              <a:rPr b="1" lang="es-419" sz="1600">
                <a:latin typeface="Lora"/>
                <a:ea typeface="Lora"/>
                <a:cs typeface="Lora"/>
                <a:sym typeface="Lora"/>
              </a:rPr>
              <a:t>)</a:t>
            </a:r>
            <a:r>
              <a:rPr baseline="30000" lang="es-419" sz="1600">
                <a:latin typeface="Lora SemiBold"/>
                <a:ea typeface="Lora SemiBold"/>
                <a:cs typeface="Lora SemiBold"/>
                <a:sym typeface="Lora SemiBold"/>
              </a:rPr>
              <a:t>2</a:t>
            </a:r>
            <a:endParaRPr baseline="30000" sz="1600">
              <a:latin typeface="Lora SemiBold"/>
              <a:ea typeface="Lora SemiBold"/>
              <a:cs typeface="Lora SemiBold"/>
              <a:sym typeface="Lora SemiBold"/>
            </a:endParaRPr>
          </a:p>
          <a:p>
            <a:pPr indent="0" lvl="0" marL="0" rtl="0" algn="l">
              <a:lnSpc>
                <a:spcPct val="115000"/>
              </a:lnSpc>
              <a:spcBef>
                <a:spcPts val="1200"/>
              </a:spcBef>
              <a:spcAft>
                <a:spcPts val="0"/>
              </a:spcAft>
              <a:buSzPts val="1300"/>
              <a:buNone/>
            </a:pPr>
            <a:r>
              <a:rPr baseline="30000" lang="es-419" sz="1600">
                <a:latin typeface="Lora SemiBold"/>
                <a:ea typeface="Lora SemiBold"/>
                <a:cs typeface="Lora SemiBold"/>
                <a:sym typeface="Lora SemiBold"/>
              </a:rPr>
              <a:t>La mejor recta será entonces la que menor </a:t>
            </a:r>
            <a:r>
              <a:rPr b="1" baseline="30000" lang="es-419" sz="1600">
                <a:latin typeface="Lora"/>
                <a:ea typeface="Lora"/>
                <a:cs typeface="Lora"/>
                <a:sym typeface="Lora"/>
              </a:rPr>
              <a:t>loss</a:t>
            </a:r>
            <a:r>
              <a:rPr baseline="30000" lang="es-419" sz="1600">
                <a:latin typeface="Lora SemiBold"/>
                <a:ea typeface="Lora SemiBold"/>
                <a:cs typeface="Lora SemiBold"/>
                <a:sym typeface="Lora SemiBold"/>
              </a:rPr>
              <a:t> tenga. También es conocido como RSS (Residual Sum of Squares).</a:t>
            </a:r>
            <a:endParaRPr b="1" sz="1600"/>
          </a:p>
          <a:p>
            <a:pPr indent="0" lvl="0" marL="0" rtl="0" algn="l">
              <a:lnSpc>
                <a:spcPct val="115000"/>
              </a:lnSpc>
              <a:spcBef>
                <a:spcPts val="1200"/>
              </a:spcBef>
              <a:spcAft>
                <a:spcPts val="0"/>
              </a:spcAft>
              <a:buSzPts val="1300"/>
              <a:buNone/>
            </a:pPr>
            <a:r>
              <a:rPr b="1" baseline="30000" lang="es-419" sz="1600"/>
              <a:t> Generalizando</a:t>
            </a:r>
            <a:endParaRPr b="1" baseline="30000" sz="1600"/>
          </a:p>
          <a:p>
            <a:pPr indent="0" lvl="0" marL="0" rtl="0" algn="l">
              <a:lnSpc>
                <a:spcPct val="115000"/>
              </a:lnSpc>
              <a:spcBef>
                <a:spcPts val="1200"/>
              </a:spcBef>
              <a:spcAft>
                <a:spcPts val="0"/>
              </a:spcAft>
              <a:buSzPts val="1300"/>
              <a:buNone/>
            </a:pPr>
            <a:r>
              <a:t/>
            </a:r>
            <a:endParaRPr b="1" baseline="30000" sz="1600"/>
          </a:p>
          <a:p>
            <a:pPr indent="0" lvl="0" marL="0" rtl="0" algn="l">
              <a:lnSpc>
                <a:spcPct val="115000"/>
              </a:lnSpc>
              <a:spcBef>
                <a:spcPts val="1200"/>
              </a:spcBef>
              <a:spcAft>
                <a:spcPts val="1200"/>
              </a:spcAft>
              <a:buSzPts val="1300"/>
              <a:buNone/>
            </a:pPr>
            <a:r>
              <a:t/>
            </a:r>
            <a:endParaRPr baseline="30000" sz="1600">
              <a:latin typeface="Lora SemiBold"/>
              <a:ea typeface="Lora SemiBold"/>
              <a:cs typeface="Lora SemiBold"/>
              <a:sym typeface="Lora SemiBold"/>
            </a:endParaRPr>
          </a:p>
        </p:txBody>
      </p:sp>
      <p:pic>
        <p:nvPicPr>
          <p:cNvPr id="127" name="Google Shape;127;p9"/>
          <p:cNvPicPr preferRelativeResize="0"/>
          <p:nvPr/>
        </p:nvPicPr>
        <p:blipFill rotWithShape="1">
          <a:blip r:embed="rId3">
            <a:alphaModFix/>
          </a:blip>
          <a:srcRect b="0" l="0" r="0" t="0"/>
          <a:stretch/>
        </p:blipFill>
        <p:spPr>
          <a:xfrm>
            <a:off x="2368763" y="3346475"/>
            <a:ext cx="4410075" cy="257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10"/>
          <p:cNvPicPr preferRelativeResize="0"/>
          <p:nvPr/>
        </p:nvPicPr>
        <p:blipFill rotWithShape="1">
          <a:blip r:embed="rId3">
            <a:alphaModFix/>
          </a:blip>
          <a:srcRect b="0" l="0" r="0" t="0"/>
          <a:stretch/>
        </p:blipFill>
        <p:spPr>
          <a:xfrm>
            <a:off x="1833611" y="624075"/>
            <a:ext cx="5476775" cy="4351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11"/>
          <p:cNvPicPr preferRelativeResize="0"/>
          <p:nvPr/>
        </p:nvPicPr>
        <p:blipFill rotWithShape="1">
          <a:blip r:embed="rId3">
            <a:alphaModFix/>
          </a:blip>
          <a:srcRect b="0" l="0" r="0" t="0"/>
          <a:stretch/>
        </p:blipFill>
        <p:spPr>
          <a:xfrm>
            <a:off x="276500" y="909963"/>
            <a:ext cx="4667250" cy="3667125"/>
          </a:xfrm>
          <a:prstGeom prst="rect">
            <a:avLst/>
          </a:prstGeom>
          <a:noFill/>
          <a:ln>
            <a:noFill/>
          </a:ln>
        </p:spPr>
      </p:pic>
      <p:pic>
        <p:nvPicPr>
          <p:cNvPr id="138" name="Google Shape;138;p11"/>
          <p:cNvPicPr preferRelativeResize="0"/>
          <p:nvPr/>
        </p:nvPicPr>
        <p:blipFill>
          <a:blip r:embed="rId4">
            <a:alphaModFix/>
          </a:blip>
          <a:stretch>
            <a:fillRect/>
          </a:stretch>
        </p:blipFill>
        <p:spPr>
          <a:xfrm>
            <a:off x="4726550" y="1415470"/>
            <a:ext cx="4206475" cy="1563950"/>
          </a:xfrm>
          <a:prstGeom prst="rect">
            <a:avLst/>
          </a:prstGeom>
          <a:noFill/>
          <a:ln>
            <a:noFill/>
          </a:ln>
        </p:spPr>
      </p:pic>
      <p:pic>
        <p:nvPicPr>
          <p:cNvPr id="139" name="Google Shape;139;p11"/>
          <p:cNvPicPr preferRelativeResize="0"/>
          <p:nvPr/>
        </p:nvPicPr>
        <p:blipFill>
          <a:blip r:embed="rId5">
            <a:alphaModFix/>
          </a:blip>
          <a:stretch>
            <a:fillRect/>
          </a:stretch>
        </p:blipFill>
        <p:spPr>
          <a:xfrm>
            <a:off x="4814520" y="3117545"/>
            <a:ext cx="4030525" cy="1277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Matricialmente</a:t>
            </a:r>
            <a:endParaRPr/>
          </a:p>
        </p:txBody>
      </p:sp>
      <p:sp>
        <p:nvSpPr>
          <p:cNvPr id="145" name="Google Shape;145;p1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1200"/>
              </a:spcAft>
              <a:buSzPts val="1300"/>
              <a:buNone/>
            </a:pPr>
            <a:r>
              <a:t/>
            </a:r>
            <a:endParaRPr/>
          </a:p>
        </p:txBody>
      </p:sp>
      <p:pic>
        <p:nvPicPr>
          <p:cNvPr id="146" name="Google Shape;146;p12"/>
          <p:cNvPicPr preferRelativeResize="0"/>
          <p:nvPr/>
        </p:nvPicPr>
        <p:blipFill rotWithShape="1">
          <a:blip r:embed="rId3">
            <a:alphaModFix/>
          </a:blip>
          <a:srcRect b="0" l="0" r="0" t="0"/>
          <a:stretch/>
        </p:blipFill>
        <p:spPr>
          <a:xfrm>
            <a:off x="266701" y="1909525"/>
            <a:ext cx="3909500" cy="2219175"/>
          </a:xfrm>
          <a:prstGeom prst="rect">
            <a:avLst/>
          </a:prstGeom>
          <a:noFill/>
          <a:ln>
            <a:noFill/>
          </a:ln>
        </p:spPr>
      </p:pic>
      <p:sp>
        <p:nvSpPr>
          <p:cNvPr id="147" name="Google Shape;147;p12"/>
          <p:cNvSpPr txBox="1"/>
          <p:nvPr/>
        </p:nvSpPr>
        <p:spPr>
          <a:xfrm>
            <a:off x="623775" y="4434350"/>
            <a:ext cx="7343100" cy="4080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20000"/>
              </a:lnSpc>
              <a:spcBef>
                <a:spcPts val="0"/>
              </a:spcBef>
              <a:spcAft>
                <a:spcPts val="1400"/>
              </a:spcAft>
              <a:buClr>
                <a:srgbClr val="000000"/>
              </a:buClr>
              <a:buSzPts val="1200"/>
              <a:buFont typeface="Arial"/>
              <a:buNone/>
            </a:pPr>
            <a:r>
              <a:rPr b="0" i="0" lang="es-419" sz="1200" u="none" cap="none" strike="noStrike">
                <a:solidFill>
                  <a:srgbClr val="374151"/>
                </a:solidFill>
                <a:highlight>
                  <a:schemeClr val="lt1"/>
                </a:highlight>
                <a:latin typeface="Lato"/>
                <a:ea typeface="Lato"/>
                <a:cs typeface="Lato"/>
                <a:sym typeface="Lato"/>
              </a:rPr>
              <a:t>La primera columna de</a:t>
            </a:r>
            <a:r>
              <a:rPr b="0" i="0" lang="es-419" sz="1450" u="none" cap="none" strike="noStrike">
                <a:solidFill>
                  <a:srgbClr val="374151"/>
                </a:solidFill>
                <a:highlight>
                  <a:schemeClr val="lt1"/>
                </a:highlight>
                <a:latin typeface="Lato"/>
                <a:ea typeface="Lato"/>
                <a:cs typeface="Lato"/>
                <a:sym typeface="Lato"/>
              </a:rPr>
              <a:t> X</a:t>
            </a:r>
            <a:r>
              <a:rPr b="0" i="0" lang="es-419" sz="1200" u="none" cap="none" strike="noStrike">
                <a:solidFill>
                  <a:srgbClr val="374151"/>
                </a:solidFill>
                <a:highlight>
                  <a:schemeClr val="lt1"/>
                </a:highlight>
                <a:latin typeface="Lato"/>
                <a:ea typeface="Lato"/>
                <a:cs typeface="Lato"/>
                <a:sym typeface="Lato"/>
              </a:rPr>
              <a:t> generalmente se llena con unos para tener en cuenta la intersección.</a:t>
            </a:r>
            <a:endParaRPr b="0" i="0" sz="1400" u="none" cap="none" strike="noStrike">
              <a:solidFill>
                <a:srgbClr val="000000"/>
              </a:solidFill>
              <a:highlight>
                <a:schemeClr val="lt1"/>
              </a:highlight>
              <a:latin typeface="Lato"/>
              <a:ea typeface="Lato"/>
              <a:cs typeface="Lato"/>
              <a:sym typeface="Lato"/>
            </a:endParaRPr>
          </a:p>
        </p:txBody>
      </p:sp>
      <p:pic>
        <p:nvPicPr>
          <p:cNvPr id="148" name="Google Shape;148;p12" title="7fdeb56b-b6f2-4121-8f79-8aa856d1d862.png"/>
          <p:cNvPicPr preferRelativeResize="0"/>
          <p:nvPr/>
        </p:nvPicPr>
        <p:blipFill>
          <a:blip r:embed="rId4">
            <a:alphaModFix/>
          </a:blip>
          <a:stretch>
            <a:fillRect/>
          </a:stretch>
        </p:blipFill>
        <p:spPr>
          <a:xfrm>
            <a:off x="4105025" y="1527275"/>
            <a:ext cx="4842852" cy="2725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nvSpPr>
        <p:spPr>
          <a:xfrm>
            <a:off x="4618650" y="2146350"/>
            <a:ext cx="4341300" cy="1443000"/>
          </a:xfrm>
          <a:prstGeom prst="rect">
            <a:avLst/>
          </a:prstGeom>
          <a:noFill/>
          <a:ln>
            <a:noFill/>
          </a:ln>
        </p:spPr>
        <p:txBody>
          <a:bodyPr anchorCtr="0" anchor="t" bIns="91425" lIns="91425" spcFirstLastPara="1" rIns="91425" wrap="square" tIns="91425">
            <a:spAutoFit/>
          </a:bodyPr>
          <a:lstStyle/>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y_mean = y.mean()</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x_mean = x.mean()</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beta_1 = np.</a:t>
            </a:r>
            <a:r>
              <a:rPr b="0" i="0" lang="es-419" sz="1050" u="none" cap="none" strike="noStrike">
                <a:solidFill>
                  <a:srgbClr val="795E26"/>
                </a:solidFill>
                <a:highlight>
                  <a:srgbClr val="F7F7F7"/>
                </a:highlight>
                <a:latin typeface="Courier New"/>
                <a:ea typeface="Courier New"/>
                <a:cs typeface="Courier New"/>
                <a:sym typeface="Courier New"/>
              </a:rPr>
              <a:t>sum</a:t>
            </a:r>
            <a:r>
              <a:rPr b="0" i="0" lang="es-419" sz="1050" u="none" cap="none" strike="noStrike">
                <a:solidFill>
                  <a:srgbClr val="000000"/>
                </a:solidFill>
                <a:highlight>
                  <a:srgbClr val="F7F7F7"/>
                </a:highlight>
                <a:latin typeface="Courier New"/>
                <a:ea typeface="Courier New"/>
                <a:cs typeface="Courier New"/>
                <a:sym typeface="Courier New"/>
              </a:rPr>
              <a:t>(x.T*(y-y_mean))/np.</a:t>
            </a:r>
            <a:r>
              <a:rPr b="0" i="0" lang="es-419" sz="1050" u="none" cap="none" strike="noStrike">
                <a:solidFill>
                  <a:srgbClr val="795E26"/>
                </a:solidFill>
                <a:highlight>
                  <a:srgbClr val="F7F7F7"/>
                </a:highlight>
                <a:latin typeface="Courier New"/>
                <a:ea typeface="Courier New"/>
                <a:cs typeface="Courier New"/>
                <a:sym typeface="Courier New"/>
              </a:rPr>
              <a:t>sum</a:t>
            </a:r>
            <a:r>
              <a:rPr b="0" i="0" lang="es-419" sz="1050" u="none" cap="none" strike="noStrike">
                <a:solidFill>
                  <a:srgbClr val="000000"/>
                </a:solidFill>
                <a:highlight>
                  <a:srgbClr val="F7F7F7"/>
                </a:highlight>
                <a:latin typeface="Courier New"/>
                <a:ea typeface="Courier New"/>
                <a:cs typeface="Courier New"/>
                <a:sym typeface="Courier New"/>
              </a:rPr>
              <a:t>(x.T*(x.T-x_mean))</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beta_0 = y_mean - beta_1 * x_mean</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beta_1 , beta_0</a:t>
            </a:r>
            <a:endParaRPr b="0" i="0" sz="1050" u="none" cap="none" strike="noStrike">
              <a:solidFill>
                <a:srgbClr val="000000"/>
              </a:solidFill>
              <a:highlight>
                <a:srgbClr val="F7F7F7"/>
              </a:highlight>
              <a:latin typeface="Courier New"/>
              <a:ea typeface="Courier New"/>
              <a:cs typeface="Courier New"/>
              <a:sym typeface="Courier New"/>
            </a:endParaRPr>
          </a:p>
        </p:txBody>
      </p:sp>
      <p:sp>
        <p:nvSpPr>
          <p:cNvPr id="154" name="Google Shape;154;p13"/>
          <p:cNvSpPr txBox="1"/>
          <p:nvPr/>
        </p:nvSpPr>
        <p:spPr>
          <a:xfrm>
            <a:off x="4618650" y="3748900"/>
            <a:ext cx="3000000" cy="515700"/>
          </a:xfrm>
          <a:prstGeom prst="rect">
            <a:avLst/>
          </a:prstGeom>
          <a:noFill/>
          <a:ln>
            <a:noFill/>
          </a:ln>
        </p:spPr>
        <p:txBody>
          <a:bodyPr anchorCtr="0" anchor="t" bIns="91425" lIns="91425" spcFirstLastPara="1" rIns="91425" wrap="square" tIns="91425">
            <a:spAutoFit/>
          </a:bodyPr>
          <a:lstStyle/>
          <a:p>
            <a:pPr indent="0" lvl="0" marL="50800" marR="12700" rtl="0" algn="l">
              <a:lnSpc>
                <a:spcPct val="115000"/>
              </a:lnSpc>
              <a:spcBef>
                <a:spcPts val="100"/>
              </a:spcBef>
              <a:spcAft>
                <a:spcPts val="0"/>
              </a:spcAft>
              <a:buClr>
                <a:srgbClr val="000000"/>
              </a:buClr>
              <a:buSzPts val="1000"/>
              <a:buFont typeface="Arial"/>
              <a:buNone/>
            </a:pPr>
            <a:r>
              <a:rPr b="0" i="0" lang="es-419" sz="1000" u="none" cap="none" strike="noStrike">
                <a:solidFill>
                  <a:srgbClr val="000000"/>
                </a:solidFill>
                <a:latin typeface="Arial"/>
                <a:ea typeface="Arial"/>
                <a:cs typeface="Arial"/>
                <a:sym typeface="Arial"/>
              </a:rPr>
              <a:t>(0.7000000000000001, 1.2999999999999998)</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55" name="Google Shape;155;p13"/>
          <p:cNvSpPr txBox="1"/>
          <p:nvPr/>
        </p:nvSpPr>
        <p:spPr>
          <a:xfrm>
            <a:off x="682275" y="2211125"/>
            <a:ext cx="3000000" cy="565500"/>
          </a:xfrm>
          <a:prstGeom prst="rect">
            <a:avLst/>
          </a:prstGeom>
          <a:noFill/>
          <a:ln>
            <a:noFill/>
          </a:ln>
        </p:spPr>
        <p:txBody>
          <a:bodyPr anchorCtr="0" anchor="t" bIns="91425" lIns="91425" spcFirstLastPara="1" rIns="91425" wrap="square" tIns="91425">
            <a:spAutoFit/>
          </a:bodyPr>
          <a:lstStyle/>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model = LinearRegression()</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model.fit(x, y)</a:t>
            </a:r>
            <a:endParaRPr b="0" i="0" sz="1050" u="none" cap="none" strike="noStrike">
              <a:solidFill>
                <a:srgbClr val="000000"/>
              </a:solidFill>
              <a:highlight>
                <a:srgbClr val="F7F7F7"/>
              </a:highlight>
              <a:latin typeface="Courier New"/>
              <a:ea typeface="Courier New"/>
              <a:cs typeface="Courier New"/>
              <a:sym typeface="Courier New"/>
            </a:endParaRPr>
          </a:p>
        </p:txBody>
      </p:sp>
      <p:sp>
        <p:nvSpPr>
          <p:cNvPr id="156" name="Google Shape;156;p13"/>
          <p:cNvSpPr txBox="1"/>
          <p:nvPr/>
        </p:nvSpPr>
        <p:spPr>
          <a:xfrm>
            <a:off x="682275" y="2776625"/>
            <a:ext cx="30000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pendiente = model.coef_[</a:t>
            </a:r>
            <a:r>
              <a:rPr b="0" i="0" lang="es-419" sz="1050" u="none" cap="none" strike="noStrike">
                <a:solidFill>
                  <a:srgbClr val="098156"/>
                </a:solidFill>
                <a:highlight>
                  <a:srgbClr val="F7F7F7"/>
                </a:highlight>
                <a:latin typeface="Courier New"/>
                <a:ea typeface="Courier New"/>
                <a:cs typeface="Courier New"/>
                <a:sym typeface="Courier New"/>
              </a:rPr>
              <a:t>0</a:t>
            </a:r>
            <a:r>
              <a:rPr b="0" i="0" lang="es-419" sz="1050" u="none" cap="none" strike="noStrike">
                <a:solidFill>
                  <a:srgbClr val="000000"/>
                </a:solidFill>
                <a:highlight>
                  <a:srgbClr val="F7F7F7"/>
                </a:highlight>
                <a:latin typeface="Courier New"/>
                <a:ea typeface="Courier New"/>
                <a:cs typeface="Courier New"/>
                <a:sym typeface="Courier New"/>
              </a:rPr>
              <a:t>]</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intercepto = model.intercept_</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pendiente, intercepto</a:t>
            </a:r>
            <a:endParaRPr b="0" i="0" sz="1050" u="none" cap="none" strike="noStrike">
              <a:solidFill>
                <a:srgbClr val="000000"/>
              </a:solidFill>
              <a:highlight>
                <a:srgbClr val="F7F7F7"/>
              </a:highlight>
              <a:latin typeface="Courier New"/>
              <a:ea typeface="Courier New"/>
              <a:cs typeface="Courier New"/>
              <a:sym typeface="Courier New"/>
            </a:endParaRPr>
          </a:p>
        </p:txBody>
      </p:sp>
      <p:sp>
        <p:nvSpPr>
          <p:cNvPr id="157" name="Google Shape;157;p13"/>
          <p:cNvSpPr txBox="1"/>
          <p:nvPr/>
        </p:nvSpPr>
        <p:spPr>
          <a:xfrm>
            <a:off x="682275" y="3748900"/>
            <a:ext cx="3434100" cy="34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50"/>
              <a:buFont typeface="Arial"/>
              <a:buNone/>
            </a:pPr>
            <a:r>
              <a:rPr b="0" i="0" lang="es-419" sz="1050" u="none" cap="none" strike="noStrike">
                <a:solidFill>
                  <a:srgbClr val="212121"/>
                </a:solidFill>
                <a:highlight>
                  <a:srgbClr val="FFFFFF"/>
                </a:highlight>
                <a:latin typeface="Courier New"/>
                <a:ea typeface="Courier New"/>
                <a:cs typeface="Courier New"/>
                <a:sym typeface="Courier New"/>
              </a:rPr>
              <a:t>(0.7000000000000002, 1.2999999999999994)</a:t>
            </a:r>
            <a:endParaRPr b="0" i="0" sz="1400" u="none" cap="none" strike="noStrike">
              <a:solidFill>
                <a:srgbClr val="000000"/>
              </a:solidFill>
              <a:latin typeface="Arial"/>
              <a:ea typeface="Arial"/>
              <a:cs typeface="Arial"/>
              <a:sym typeface="Arial"/>
            </a:endParaRPr>
          </a:p>
        </p:txBody>
      </p:sp>
      <p:sp>
        <p:nvSpPr>
          <p:cNvPr id="158" name="Google Shape;158;p13"/>
          <p:cNvSpPr txBox="1"/>
          <p:nvPr/>
        </p:nvSpPr>
        <p:spPr>
          <a:xfrm>
            <a:off x="2555100" y="877250"/>
            <a:ext cx="40338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Data</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x = np.array([</a:t>
            </a:r>
            <a:r>
              <a:rPr b="0" i="0" lang="es-419" sz="1050" u="none" cap="none" strike="noStrike">
                <a:solidFill>
                  <a:srgbClr val="098156"/>
                </a:solidFill>
                <a:highlight>
                  <a:srgbClr val="F7F7F7"/>
                </a:highlight>
                <a:latin typeface="Courier New"/>
                <a:ea typeface="Courier New"/>
                <a:cs typeface="Courier New"/>
                <a:sym typeface="Courier New"/>
              </a:rPr>
              <a:t>1</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2</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3</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4</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5</a:t>
            </a:r>
            <a:r>
              <a:rPr b="0" i="0" lang="es-419" sz="1050" u="none" cap="none" strike="noStrike">
                <a:solidFill>
                  <a:srgbClr val="000000"/>
                </a:solidFill>
                <a:highlight>
                  <a:srgbClr val="F7F7F7"/>
                </a:highlight>
                <a:latin typeface="Courier New"/>
                <a:ea typeface="Courier New"/>
                <a:cs typeface="Courier New"/>
                <a:sym typeface="Courier New"/>
              </a:rPr>
              <a:t>])</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y = np.array([</a:t>
            </a:r>
            <a:r>
              <a:rPr b="0" i="0" lang="es-419" sz="1050" u="none" cap="none" strike="noStrike">
                <a:solidFill>
                  <a:srgbClr val="098156"/>
                </a:solidFill>
                <a:highlight>
                  <a:srgbClr val="F7F7F7"/>
                </a:highlight>
                <a:latin typeface="Courier New"/>
                <a:ea typeface="Courier New"/>
                <a:cs typeface="Courier New"/>
                <a:sym typeface="Courier New"/>
              </a:rPr>
              <a:t>2</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3</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4</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2</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6</a:t>
            </a:r>
            <a:r>
              <a:rPr b="0" i="0" lang="es-419" sz="1050" u="none" cap="none" strike="noStrike">
                <a:solidFill>
                  <a:srgbClr val="000000"/>
                </a:solidFill>
                <a:highlight>
                  <a:srgbClr val="F7F7F7"/>
                </a:highlight>
                <a:latin typeface="Courier New"/>
                <a:ea typeface="Courier New"/>
                <a:cs typeface="Courier New"/>
                <a:sym typeface="Courier New"/>
              </a:rPr>
              <a:t>])</a:t>
            </a:r>
            <a:endParaRPr b="0" i="0" sz="1050" u="none" cap="none" strike="noStrike">
              <a:solidFill>
                <a:srgbClr val="000000"/>
              </a:solidFill>
              <a:highlight>
                <a:srgbClr val="F7F7F7"/>
              </a:highlight>
              <a:latin typeface="Courier New"/>
              <a:ea typeface="Courier New"/>
              <a:cs typeface="Courier New"/>
              <a:sym typeface="Courier New"/>
            </a:endParaRPr>
          </a:p>
        </p:txBody>
      </p:sp>
      <p:sp>
        <p:nvSpPr>
          <p:cNvPr id="159" name="Google Shape;159;p13"/>
          <p:cNvSpPr txBox="1"/>
          <p:nvPr/>
        </p:nvSpPr>
        <p:spPr>
          <a:xfrm>
            <a:off x="432650" y="1826213"/>
            <a:ext cx="69222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s-419" sz="1300" u="none" cap="none" strike="noStrike">
                <a:solidFill>
                  <a:schemeClr val="accent1"/>
                </a:solidFill>
                <a:latin typeface="Lato"/>
                <a:ea typeface="Lato"/>
                <a:cs typeface="Lato"/>
                <a:sym typeface="Lato"/>
              </a:rPr>
              <a:t>scikit-learn</a:t>
            </a:r>
            <a:endParaRPr b="0" i="0" sz="1300" u="none" cap="none" strike="noStrike">
              <a:solidFill>
                <a:schemeClr val="accent1"/>
              </a:solidFill>
              <a:latin typeface="Lato"/>
              <a:ea typeface="Lato"/>
              <a:cs typeface="Lato"/>
              <a:sym typeface="Lato"/>
            </a:endParaRPr>
          </a:p>
        </p:txBody>
      </p:sp>
      <p:sp>
        <p:nvSpPr>
          <p:cNvPr id="160" name="Google Shape;160;p13"/>
          <p:cNvSpPr txBox="1"/>
          <p:nvPr/>
        </p:nvSpPr>
        <p:spPr>
          <a:xfrm>
            <a:off x="6588900" y="2030525"/>
            <a:ext cx="33048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s-419" sz="1300" u="none" cap="none" strike="noStrike">
                <a:solidFill>
                  <a:schemeClr val="accent1"/>
                </a:solidFill>
                <a:latin typeface="Lato"/>
                <a:ea typeface="Lato"/>
                <a:cs typeface="Lato"/>
                <a:sym typeface="Lato"/>
              </a:rPr>
              <a:t>numpy</a:t>
            </a:r>
            <a:endParaRPr b="0" i="0" sz="1300" u="none" cap="none" strike="noStrike">
              <a:solidFill>
                <a:schemeClr val="accen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Métricas</a:t>
            </a:r>
            <a:endParaRPr/>
          </a:p>
        </p:txBody>
      </p:sp>
      <p:sp>
        <p:nvSpPr>
          <p:cNvPr id="166" name="Google Shape;166;p1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935"/>
              <a:buNone/>
            </a:pPr>
            <a:r>
              <a:rPr lang="es-419" sz="1400"/>
              <a:t>MSE = RSS / n</a:t>
            </a:r>
            <a:endParaRPr sz="1400"/>
          </a:p>
          <a:p>
            <a:pPr indent="0" lvl="0" marL="0" rtl="0" algn="l">
              <a:lnSpc>
                <a:spcPct val="95000"/>
              </a:lnSpc>
              <a:spcBef>
                <a:spcPts val="1200"/>
              </a:spcBef>
              <a:spcAft>
                <a:spcPts val="0"/>
              </a:spcAft>
              <a:buSzPts val="935"/>
              <a:buNone/>
            </a:pPr>
            <a:r>
              <a:rPr lang="es-419" sz="1400"/>
              <a:t>RMSE (root mean squared error) = </a:t>
            </a:r>
            <a:r>
              <a:rPr lang="es-419" sz="1400">
                <a:solidFill>
                  <a:srgbClr val="202124"/>
                </a:solidFill>
                <a:highlight>
                  <a:srgbClr val="FFFFFF"/>
                </a:highlight>
                <a:latin typeface="Arial"/>
                <a:ea typeface="Arial"/>
                <a:cs typeface="Arial"/>
                <a:sym typeface="Arial"/>
              </a:rPr>
              <a:t>√MSE</a:t>
            </a:r>
            <a:endParaRPr sz="1400">
              <a:solidFill>
                <a:srgbClr val="202124"/>
              </a:solidFill>
              <a:highlight>
                <a:srgbClr val="FFFFFF"/>
              </a:highlight>
              <a:latin typeface="Arial"/>
              <a:ea typeface="Arial"/>
              <a:cs typeface="Arial"/>
              <a:sym typeface="Arial"/>
            </a:endParaRPr>
          </a:p>
          <a:p>
            <a:pPr indent="0" lvl="0" marL="0" rtl="0" algn="l">
              <a:lnSpc>
                <a:spcPct val="95000"/>
              </a:lnSpc>
              <a:spcBef>
                <a:spcPts val="1200"/>
              </a:spcBef>
              <a:spcAft>
                <a:spcPts val="0"/>
              </a:spcAft>
              <a:buSzPts val="935"/>
              <a:buNone/>
            </a:pPr>
            <a:r>
              <a:t/>
            </a:r>
            <a:endParaRPr sz="1400">
              <a:solidFill>
                <a:srgbClr val="202124"/>
              </a:solidFill>
              <a:highlight>
                <a:srgbClr val="FFFFFF"/>
              </a:highlight>
              <a:latin typeface="Arial"/>
              <a:ea typeface="Arial"/>
              <a:cs typeface="Arial"/>
              <a:sym typeface="Arial"/>
            </a:endParaRPr>
          </a:p>
          <a:p>
            <a:pPr indent="0" lvl="0" marL="0" rtl="0" algn="l">
              <a:lnSpc>
                <a:spcPct val="95000"/>
              </a:lnSpc>
              <a:spcBef>
                <a:spcPts val="1200"/>
              </a:spcBef>
              <a:spcAft>
                <a:spcPts val="0"/>
              </a:spcAft>
              <a:buSzPts val="935"/>
              <a:buNone/>
            </a:pPr>
            <a:r>
              <a:rPr lang="es-419" sz="1400">
                <a:solidFill>
                  <a:srgbClr val="202124"/>
                </a:solidFill>
                <a:highlight>
                  <a:srgbClr val="FFFFFF"/>
                </a:highlight>
                <a:latin typeface="Arial"/>
                <a:ea typeface="Arial"/>
                <a:cs typeface="Arial"/>
                <a:sym typeface="Arial"/>
              </a:rPr>
              <a:t>MAE (mean absolute error) = </a:t>
            </a:r>
            <a:endParaRPr sz="1400">
              <a:solidFill>
                <a:srgbClr val="202124"/>
              </a:solidFill>
              <a:highlight>
                <a:srgbClr val="FFFFFF"/>
              </a:highlight>
              <a:latin typeface="Arial"/>
              <a:ea typeface="Arial"/>
              <a:cs typeface="Arial"/>
              <a:sym typeface="Arial"/>
            </a:endParaRPr>
          </a:p>
          <a:p>
            <a:pPr indent="0" lvl="0" marL="0" rtl="0" algn="l">
              <a:lnSpc>
                <a:spcPct val="95000"/>
              </a:lnSpc>
              <a:spcBef>
                <a:spcPts val="1200"/>
              </a:spcBef>
              <a:spcAft>
                <a:spcPts val="0"/>
              </a:spcAft>
              <a:buSzPts val="935"/>
              <a:buNone/>
            </a:pPr>
            <a:r>
              <a:t/>
            </a:r>
            <a:endParaRPr sz="1400">
              <a:solidFill>
                <a:srgbClr val="202124"/>
              </a:solidFill>
              <a:highlight>
                <a:srgbClr val="FFFFFF"/>
              </a:highlight>
              <a:latin typeface="Arial"/>
              <a:ea typeface="Arial"/>
              <a:cs typeface="Arial"/>
              <a:sym typeface="Arial"/>
            </a:endParaRPr>
          </a:p>
          <a:p>
            <a:pPr indent="0" lvl="0" marL="0" rtl="0" algn="l">
              <a:lnSpc>
                <a:spcPct val="95000"/>
              </a:lnSpc>
              <a:spcBef>
                <a:spcPts val="1200"/>
              </a:spcBef>
              <a:spcAft>
                <a:spcPts val="1200"/>
              </a:spcAft>
              <a:buSzPts val="935"/>
              <a:buNone/>
            </a:pPr>
            <a:r>
              <a:rPr lang="es-419" sz="1400">
                <a:solidFill>
                  <a:srgbClr val="202124"/>
                </a:solidFill>
                <a:highlight>
                  <a:srgbClr val="FFFFFF"/>
                </a:highlight>
                <a:latin typeface="Arial"/>
                <a:ea typeface="Arial"/>
                <a:cs typeface="Arial"/>
                <a:sym typeface="Arial"/>
              </a:rPr>
              <a:t>MAPE ( mean absolute percentage error) </a:t>
            </a:r>
            <a:endParaRPr sz="1400">
              <a:solidFill>
                <a:srgbClr val="202124"/>
              </a:solidFill>
              <a:highlight>
                <a:srgbClr val="FFFFFF"/>
              </a:highlight>
              <a:latin typeface="Arial"/>
              <a:ea typeface="Arial"/>
              <a:cs typeface="Arial"/>
              <a:sym typeface="Arial"/>
            </a:endParaRPr>
          </a:p>
        </p:txBody>
      </p:sp>
      <p:pic>
        <p:nvPicPr>
          <p:cNvPr id="167" name="Google Shape;167;p14"/>
          <p:cNvPicPr preferRelativeResize="0"/>
          <p:nvPr/>
        </p:nvPicPr>
        <p:blipFill rotWithShape="1">
          <a:blip r:embed="rId3">
            <a:alphaModFix/>
          </a:blip>
          <a:srcRect b="0" l="0" r="0" t="0"/>
          <a:stretch/>
        </p:blipFill>
        <p:spPr>
          <a:xfrm>
            <a:off x="4025799" y="2986375"/>
            <a:ext cx="1572100" cy="686900"/>
          </a:xfrm>
          <a:prstGeom prst="rect">
            <a:avLst/>
          </a:prstGeom>
          <a:noFill/>
          <a:ln>
            <a:noFill/>
          </a:ln>
        </p:spPr>
      </p:pic>
      <p:pic>
        <p:nvPicPr>
          <p:cNvPr id="168" name="Google Shape;168;p14"/>
          <p:cNvPicPr preferRelativeResize="0"/>
          <p:nvPr/>
        </p:nvPicPr>
        <p:blipFill rotWithShape="1">
          <a:blip r:embed="rId4">
            <a:alphaModFix/>
          </a:blip>
          <a:srcRect b="0" l="0" r="0" t="0"/>
          <a:stretch/>
        </p:blipFill>
        <p:spPr>
          <a:xfrm>
            <a:off x="4245350" y="3805575"/>
            <a:ext cx="1352550" cy="600075"/>
          </a:xfrm>
          <a:prstGeom prst="rect">
            <a:avLst/>
          </a:prstGeom>
          <a:noFill/>
          <a:ln>
            <a:noFill/>
          </a:ln>
        </p:spPr>
      </p:pic>
      <p:pic>
        <p:nvPicPr>
          <p:cNvPr id="169" name="Google Shape;169;p14"/>
          <p:cNvPicPr preferRelativeResize="0"/>
          <p:nvPr/>
        </p:nvPicPr>
        <p:blipFill>
          <a:blip r:embed="rId5">
            <a:alphaModFix/>
          </a:blip>
          <a:stretch>
            <a:fillRect/>
          </a:stretch>
        </p:blipFill>
        <p:spPr>
          <a:xfrm>
            <a:off x="4163525" y="3805577"/>
            <a:ext cx="1516200" cy="733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Métricas</a:t>
            </a:r>
            <a:endParaRPr/>
          </a:p>
        </p:txBody>
      </p:sp>
      <p:sp>
        <p:nvSpPr>
          <p:cNvPr id="175" name="Google Shape;175;p15"/>
          <p:cNvSpPr txBox="1"/>
          <p:nvPr>
            <p:ph idx="1" type="body"/>
          </p:nvPr>
        </p:nvSpPr>
        <p:spPr>
          <a:xfrm>
            <a:off x="729450" y="2078875"/>
            <a:ext cx="4213200" cy="22611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00000"/>
              <a:buNone/>
            </a:pPr>
            <a:r>
              <a:rPr lang="es-419"/>
              <a:t>Así como se habló de RSS (residual sum of squares) se puede hablar de TSS: total sum of squares.</a:t>
            </a:r>
            <a:endParaRPr/>
          </a:p>
          <a:p>
            <a:pPr indent="0" lvl="0" marL="0" rtl="0" algn="l">
              <a:lnSpc>
                <a:spcPct val="115000"/>
              </a:lnSpc>
              <a:spcBef>
                <a:spcPts val="1200"/>
              </a:spcBef>
              <a:spcAft>
                <a:spcPts val="0"/>
              </a:spcAft>
              <a:buSzPct val="100000"/>
              <a:buNone/>
            </a:pPr>
            <a:r>
              <a:rPr lang="es-419">
                <a:solidFill>
                  <a:srgbClr val="374151"/>
                </a:solidFill>
                <a:highlight>
                  <a:schemeClr val="lt1"/>
                </a:highlight>
              </a:rPr>
              <a:t>Mide la variabilidad total de los valores reales respecto de su media</a:t>
            </a:r>
            <a:r>
              <a:rPr lang="es-419">
                <a:solidFill>
                  <a:srgbClr val="374151"/>
                </a:solidFill>
                <a:highlight>
                  <a:schemeClr val="lt1"/>
                </a:highlight>
              </a:rPr>
              <a:t> (la suma de los cuadrados de las diferencias entre los valores reales y la media de los valores reales).</a:t>
            </a:r>
            <a:endParaRPr>
              <a:solidFill>
                <a:srgbClr val="374151"/>
              </a:solidFill>
              <a:highlight>
                <a:schemeClr val="lt1"/>
              </a:highlight>
            </a:endParaRPr>
          </a:p>
          <a:p>
            <a:pPr indent="0" lvl="0" marL="0" rtl="0" algn="l">
              <a:lnSpc>
                <a:spcPct val="115000"/>
              </a:lnSpc>
              <a:spcBef>
                <a:spcPts val="1200"/>
              </a:spcBef>
              <a:spcAft>
                <a:spcPts val="0"/>
              </a:spcAft>
              <a:buSzPct val="100000"/>
              <a:buNone/>
            </a:pPr>
            <a:r>
              <a:t/>
            </a:r>
            <a:endParaRPr>
              <a:solidFill>
                <a:srgbClr val="374151"/>
              </a:solidFill>
              <a:highlight>
                <a:schemeClr val="lt1"/>
              </a:highlight>
            </a:endParaRPr>
          </a:p>
          <a:p>
            <a:pPr indent="0" lvl="0" marL="0" rtl="0" algn="l">
              <a:lnSpc>
                <a:spcPct val="115000"/>
              </a:lnSpc>
              <a:spcBef>
                <a:spcPts val="1200"/>
              </a:spcBef>
              <a:spcAft>
                <a:spcPts val="0"/>
              </a:spcAft>
              <a:buSzPct val="100000"/>
              <a:buNone/>
            </a:pPr>
            <a:r>
              <a:t/>
            </a:r>
            <a:endParaRPr>
              <a:solidFill>
                <a:srgbClr val="374151"/>
              </a:solidFill>
              <a:highlight>
                <a:schemeClr val="lt1"/>
              </a:highlight>
            </a:endParaRPr>
          </a:p>
          <a:p>
            <a:pPr indent="0" lvl="0" marL="0" rtl="0" algn="l">
              <a:lnSpc>
                <a:spcPct val="115000"/>
              </a:lnSpc>
              <a:spcBef>
                <a:spcPts val="1200"/>
              </a:spcBef>
              <a:spcAft>
                <a:spcPts val="1200"/>
              </a:spcAft>
              <a:buSzPct val="92857"/>
              <a:buNone/>
            </a:pPr>
            <a:r>
              <a:rPr lang="es-419">
                <a:solidFill>
                  <a:srgbClr val="374151"/>
                </a:solidFill>
                <a:highlight>
                  <a:schemeClr val="lt1"/>
                </a:highlight>
              </a:rPr>
              <a:t>TSS representa el error que tendríamos si, en lugar de utilizar un modelo, predijéramos siempre la media. </a:t>
            </a:r>
            <a:r>
              <a:rPr lang="es-419">
                <a:solidFill>
                  <a:srgbClr val="374151"/>
                </a:solidFill>
                <a:highlight>
                  <a:schemeClr val="lt1"/>
                </a:highlight>
              </a:rPr>
              <a:t> </a:t>
            </a:r>
            <a:endParaRPr sz="1400">
              <a:highlight>
                <a:schemeClr val="lt1"/>
              </a:highlight>
            </a:endParaRPr>
          </a:p>
        </p:txBody>
      </p:sp>
      <p:pic>
        <p:nvPicPr>
          <p:cNvPr id="176" name="Google Shape;176;p15"/>
          <p:cNvPicPr preferRelativeResize="0"/>
          <p:nvPr/>
        </p:nvPicPr>
        <p:blipFill rotWithShape="1">
          <a:blip r:embed="rId3">
            <a:alphaModFix/>
          </a:blip>
          <a:srcRect b="0" l="0" r="0" t="0"/>
          <a:stretch/>
        </p:blipFill>
        <p:spPr>
          <a:xfrm>
            <a:off x="2041075" y="3178275"/>
            <a:ext cx="1421350" cy="597375"/>
          </a:xfrm>
          <a:prstGeom prst="rect">
            <a:avLst/>
          </a:prstGeom>
          <a:noFill/>
          <a:ln>
            <a:noFill/>
          </a:ln>
        </p:spPr>
      </p:pic>
      <p:pic>
        <p:nvPicPr>
          <p:cNvPr id="177" name="Google Shape;177;p15"/>
          <p:cNvPicPr preferRelativeResize="0"/>
          <p:nvPr/>
        </p:nvPicPr>
        <p:blipFill rotWithShape="1">
          <a:blip r:embed="rId4">
            <a:alphaModFix/>
          </a:blip>
          <a:srcRect b="0" l="3791" r="0" t="0"/>
          <a:stretch/>
        </p:blipFill>
        <p:spPr>
          <a:xfrm>
            <a:off x="4808400" y="1966363"/>
            <a:ext cx="3871025" cy="2486125"/>
          </a:xfrm>
          <a:prstGeom prst="rect">
            <a:avLst/>
          </a:prstGeom>
          <a:noFill/>
          <a:ln>
            <a:noFill/>
          </a:ln>
        </p:spPr>
      </p:pic>
      <p:cxnSp>
        <p:nvCxnSpPr>
          <p:cNvPr id="178" name="Google Shape;178;p15"/>
          <p:cNvCxnSpPr/>
          <p:nvPr/>
        </p:nvCxnSpPr>
        <p:spPr>
          <a:xfrm flipH="1" rot="10800000">
            <a:off x="5405825" y="2996725"/>
            <a:ext cx="3097200" cy="20700"/>
          </a:xfrm>
          <a:prstGeom prst="straightConnector1">
            <a:avLst/>
          </a:prstGeom>
          <a:noFill/>
          <a:ln cap="flat" cmpd="sng" w="28575">
            <a:solidFill>
              <a:srgbClr val="FF9900"/>
            </a:solidFill>
            <a:prstDash val="solid"/>
            <a:round/>
            <a:headEnd len="med" w="med" type="none"/>
            <a:tailEnd len="med" w="med" type="none"/>
          </a:ln>
        </p:spPr>
      </p:cxnSp>
      <p:pic>
        <p:nvPicPr>
          <p:cNvPr id="179" name="Google Shape;179;p15"/>
          <p:cNvPicPr preferRelativeResize="0"/>
          <p:nvPr/>
        </p:nvPicPr>
        <p:blipFill rotWithShape="1">
          <a:blip r:embed="rId5">
            <a:alphaModFix/>
          </a:blip>
          <a:srcRect b="0" l="0" r="18540" t="0"/>
          <a:stretch/>
        </p:blipFill>
        <p:spPr>
          <a:xfrm>
            <a:off x="5405825" y="2701550"/>
            <a:ext cx="171675" cy="226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f407d6dfef_0_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Métricas</a:t>
            </a:r>
            <a:endParaRPr/>
          </a:p>
        </p:txBody>
      </p:sp>
      <p:sp>
        <p:nvSpPr>
          <p:cNvPr id="185" name="Google Shape;185;g3f407d6dfef_0_5"/>
          <p:cNvSpPr txBox="1"/>
          <p:nvPr>
            <p:ph idx="1" type="body"/>
          </p:nvPr>
        </p:nvSpPr>
        <p:spPr>
          <a:xfrm>
            <a:off x="729450" y="1911425"/>
            <a:ext cx="4213200" cy="2261100"/>
          </a:xfrm>
          <a:prstGeom prst="rect">
            <a:avLst/>
          </a:prstGeom>
          <a:noFill/>
          <a:ln>
            <a:noFill/>
          </a:ln>
        </p:spPr>
        <p:txBody>
          <a:bodyPr anchorCtr="0" anchor="t" bIns="91425" lIns="91425" spcFirstLastPara="1" rIns="91425" wrap="square" tIns="91425">
            <a:normAutofit fontScale="77500"/>
          </a:bodyPr>
          <a:lstStyle/>
          <a:p>
            <a:pPr indent="0" lvl="0" marL="0" rtl="0" algn="l">
              <a:lnSpc>
                <a:spcPct val="115000"/>
              </a:lnSpc>
              <a:spcBef>
                <a:spcPts val="1200"/>
              </a:spcBef>
              <a:spcAft>
                <a:spcPts val="0"/>
              </a:spcAft>
              <a:buSzPct val="100000"/>
              <a:buNone/>
            </a:pPr>
            <a:r>
              <a:rPr lang="es-419"/>
              <a:t>¿Qué tan lejos están los valores reales de lo que predice nuestro modelo? </a:t>
            </a:r>
            <a:endParaRPr/>
          </a:p>
          <a:p>
            <a:pPr indent="-292576" lvl="0" marL="457200" rtl="0" algn="l">
              <a:lnSpc>
                <a:spcPct val="115000"/>
              </a:lnSpc>
              <a:spcBef>
                <a:spcPts val="1200"/>
              </a:spcBef>
              <a:spcAft>
                <a:spcPts val="0"/>
              </a:spcAft>
              <a:buSzPct val="100000"/>
              <a:buChar char="-"/>
            </a:pPr>
            <a:r>
              <a:rPr lang="es-419"/>
              <a:t>Variabilidad que no puede explicarse por la regresión lineal.</a:t>
            </a:r>
            <a:endParaRPr>
              <a:solidFill>
                <a:srgbClr val="374151"/>
              </a:solidFill>
              <a:highlight>
                <a:schemeClr val="lt1"/>
              </a:highlight>
            </a:endParaRPr>
          </a:p>
          <a:p>
            <a:pPr indent="0" lvl="0" marL="0" rtl="0" algn="l">
              <a:lnSpc>
                <a:spcPct val="115000"/>
              </a:lnSpc>
              <a:spcBef>
                <a:spcPts val="1200"/>
              </a:spcBef>
              <a:spcAft>
                <a:spcPts val="0"/>
              </a:spcAft>
              <a:buSzPct val="100000"/>
              <a:buNone/>
            </a:pPr>
            <a:r>
              <a:t/>
            </a:r>
            <a:endParaRPr>
              <a:solidFill>
                <a:srgbClr val="374151"/>
              </a:solidFill>
              <a:highlight>
                <a:schemeClr val="lt1"/>
              </a:highlight>
            </a:endParaRPr>
          </a:p>
          <a:p>
            <a:pPr indent="0" lvl="0" marL="0" rtl="0" algn="l">
              <a:lnSpc>
                <a:spcPct val="115000"/>
              </a:lnSpc>
              <a:spcBef>
                <a:spcPts val="1200"/>
              </a:spcBef>
              <a:spcAft>
                <a:spcPts val="0"/>
              </a:spcAft>
              <a:buSzPct val="100000"/>
              <a:buNone/>
            </a:pPr>
            <a:r>
              <a:t/>
            </a:r>
            <a:endParaRPr>
              <a:solidFill>
                <a:srgbClr val="374151"/>
              </a:solidFill>
              <a:highlight>
                <a:schemeClr val="lt1"/>
              </a:highlight>
            </a:endParaRPr>
          </a:p>
          <a:p>
            <a:pPr indent="0" lvl="0" marL="0" rtl="0" algn="l">
              <a:lnSpc>
                <a:spcPct val="115000"/>
              </a:lnSpc>
              <a:spcBef>
                <a:spcPts val="1200"/>
              </a:spcBef>
              <a:spcAft>
                <a:spcPts val="0"/>
              </a:spcAft>
              <a:buSzPct val="100000"/>
              <a:buNone/>
            </a:pPr>
            <a:r>
              <a:rPr lang="es-419">
                <a:solidFill>
                  <a:srgbClr val="374151"/>
                </a:solidFill>
                <a:highlight>
                  <a:schemeClr val="lt1"/>
                </a:highlight>
              </a:rPr>
              <a:t>¿Qué tan lejos están los valores reales de simplemente utilizar la media como predicción? </a:t>
            </a:r>
            <a:endParaRPr>
              <a:solidFill>
                <a:srgbClr val="374151"/>
              </a:solidFill>
              <a:highlight>
                <a:schemeClr val="lt1"/>
              </a:highlight>
            </a:endParaRPr>
          </a:p>
          <a:p>
            <a:pPr indent="-292576" lvl="0" marL="457200" rtl="0" algn="l">
              <a:lnSpc>
                <a:spcPct val="115000"/>
              </a:lnSpc>
              <a:spcBef>
                <a:spcPts val="1200"/>
              </a:spcBef>
              <a:spcAft>
                <a:spcPts val="0"/>
              </a:spcAft>
              <a:buClr>
                <a:srgbClr val="374151"/>
              </a:buClr>
              <a:buSzPct val="92857"/>
              <a:buChar char="-"/>
            </a:pPr>
            <a:r>
              <a:rPr lang="es-419">
                <a:solidFill>
                  <a:srgbClr val="374151"/>
                </a:solidFill>
                <a:highlight>
                  <a:schemeClr val="lt1"/>
                </a:highlight>
              </a:rPr>
              <a:t>Variabilidad de los Datos</a:t>
            </a:r>
            <a:endParaRPr sz="1400">
              <a:highlight>
                <a:schemeClr val="lt1"/>
              </a:highlight>
            </a:endParaRPr>
          </a:p>
        </p:txBody>
      </p:sp>
      <p:pic>
        <p:nvPicPr>
          <p:cNvPr id="186" name="Google Shape;186;g3f407d6dfef_0_5"/>
          <p:cNvPicPr preferRelativeResize="0"/>
          <p:nvPr/>
        </p:nvPicPr>
        <p:blipFill rotWithShape="1">
          <a:blip r:embed="rId3">
            <a:alphaModFix/>
          </a:blip>
          <a:srcRect b="0" l="0" r="0" t="0"/>
          <a:stretch/>
        </p:blipFill>
        <p:spPr>
          <a:xfrm>
            <a:off x="2075400" y="4051550"/>
            <a:ext cx="1421350" cy="597375"/>
          </a:xfrm>
          <a:prstGeom prst="rect">
            <a:avLst/>
          </a:prstGeom>
          <a:noFill/>
          <a:ln>
            <a:noFill/>
          </a:ln>
        </p:spPr>
      </p:pic>
      <p:pic>
        <p:nvPicPr>
          <p:cNvPr id="187" name="Google Shape;187;g3f407d6dfef_0_5" title="ANOVA-graphically.png"/>
          <p:cNvPicPr preferRelativeResize="0"/>
          <p:nvPr/>
        </p:nvPicPr>
        <p:blipFill>
          <a:blip r:embed="rId4">
            <a:alphaModFix/>
          </a:blip>
          <a:stretch>
            <a:fillRect/>
          </a:stretch>
        </p:blipFill>
        <p:spPr>
          <a:xfrm>
            <a:off x="4978300" y="1717000"/>
            <a:ext cx="3647487" cy="2984850"/>
          </a:xfrm>
          <a:prstGeom prst="rect">
            <a:avLst/>
          </a:prstGeom>
          <a:noFill/>
          <a:ln>
            <a:noFill/>
          </a:ln>
        </p:spPr>
      </p:pic>
      <p:pic>
        <p:nvPicPr>
          <p:cNvPr id="188" name="Google Shape;188;g3f407d6dfef_0_5"/>
          <p:cNvPicPr preferRelativeResize="0"/>
          <p:nvPr/>
        </p:nvPicPr>
        <p:blipFill>
          <a:blip r:embed="rId5">
            <a:alphaModFix/>
          </a:blip>
          <a:stretch>
            <a:fillRect/>
          </a:stretch>
        </p:blipFill>
        <p:spPr>
          <a:xfrm>
            <a:off x="1626989" y="2667200"/>
            <a:ext cx="2318175" cy="408800"/>
          </a:xfrm>
          <a:prstGeom prst="rect">
            <a:avLst/>
          </a:prstGeom>
          <a:noFill/>
          <a:ln>
            <a:noFill/>
          </a:ln>
        </p:spPr>
      </p:pic>
      <p:pic>
        <p:nvPicPr>
          <p:cNvPr id="189" name="Google Shape;189;g3f407d6dfef_0_5"/>
          <p:cNvPicPr preferRelativeResize="0"/>
          <p:nvPr/>
        </p:nvPicPr>
        <p:blipFill>
          <a:blip r:embed="rId6">
            <a:alphaModFix/>
          </a:blip>
          <a:stretch>
            <a:fillRect/>
          </a:stretch>
        </p:blipFill>
        <p:spPr>
          <a:xfrm>
            <a:off x="7692550" y="2926725"/>
            <a:ext cx="725600" cy="489000"/>
          </a:xfrm>
          <a:prstGeom prst="rect">
            <a:avLst/>
          </a:prstGeom>
          <a:noFill/>
          <a:ln>
            <a:noFill/>
          </a:ln>
        </p:spPr>
      </p:pic>
      <p:cxnSp>
        <p:nvCxnSpPr>
          <p:cNvPr id="190" name="Google Shape;190;g3f407d6dfef_0_5"/>
          <p:cNvCxnSpPr/>
          <p:nvPr/>
        </p:nvCxnSpPr>
        <p:spPr>
          <a:xfrm flipH="1" rot="10800000">
            <a:off x="5158600" y="2598400"/>
            <a:ext cx="3035400" cy="1971000"/>
          </a:xfrm>
          <a:prstGeom prst="straightConnector1">
            <a:avLst/>
          </a:prstGeom>
          <a:noFill/>
          <a:ln cap="flat" cmpd="sng" w="19050">
            <a:solidFill>
              <a:schemeClr val="accent3"/>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Métricas</a:t>
            </a:r>
            <a:endParaRPr/>
          </a:p>
        </p:txBody>
      </p:sp>
      <p:sp>
        <p:nvSpPr>
          <p:cNvPr id="196" name="Google Shape;196;p16"/>
          <p:cNvSpPr txBox="1"/>
          <p:nvPr>
            <p:ph idx="1" type="body"/>
          </p:nvPr>
        </p:nvSpPr>
        <p:spPr>
          <a:xfrm>
            <a:off x="729450" y="2075175"/>
            <a:ext cx="7688700" cy="2760000"/>
          </a:xfrm>
          <a:prstGeom prst="rect">
            <a:avLst/>
          </a:prstGeom>
          <a:noFill/>
          <a:ln>
            <a:noFill/>
          </a:ln>
        </p:spPr>
        <p:txBody>
          <a:bodyPr anchorCtr="0" anchor="t" bIns="91425" lIns="91425" spcFirstLastPara="1" rIns="91425" wrap="square" tIns="91425">
            <a:normAutofit fontScale="40000"/>
          </a:bodyPr>
          <a:lstStyle/>
          <a:p>
            <a:pPr indent="0" lvl="0" marL="0" rtl="0" algn="l">
              <a:lnSpc>
                <a:spcPct val="115000"/>
              </a:lnSpc>
              <a:spcBef>
                <a:spcPts val="0"/>
              </a:spcBef>
              <a:spcAft>
                <a:spcPts val="0"/>
              </a:spcAft>
              <a:buSzPct val="108333"/>
              <a:buNone/>
            </a:pPr>
            <a:r>
              <a:rPr lang="es-419" sz="3000"/>
              <a:t>TSS mide variabilidad de los datos, RSS la variabilidad que no puede explicarse por la regresión lineal. De tal forma que su resta mide la variabilidad que sí es explicada por la regresión lineal. </a:t>
            </a:r>
            <a:endParaRPr sz="3000"/>
          </a:p>
          <a:p>
            <a:pPr indent="0" lvl="0" marL="0" rtl="0" algn="l">
              <a:lnSpc>
                <a:spcPct val="115000"/>
              </a:lnSpc>
              <a:spcBef>
                <a:spcPts val="1200"/>
              </a:spcBef>
              <a:spcAft>
                <a:spcPts val="0"/>
              </a:spcAft>
              <a:buSzPct val="108333"/>
              <a:buNone/>
            </a:pPr>
            <a:r>
              <a:rPr lang="es-419" sz="3000"/>
              <a:t>Mientras más bajo es la suma residuales de cuadrados respecto a la variación total de los datos respecto de su media, más cerca de 1, y se puede decir que la regresión lineal explica de buena forma la variabilidad de los datos.</a:t>
            </a:r>
            <a:endParaRPr sz="3000"/>
          </a:p>
          <a:p>
            <a:pPr indent="0" lvl="0" marL="0" rtl="0" algn="l">
              <a:lnSpc>
                <a:spcPct val="115000"/>
              </a:lnSpc>
              <a:spcBef>
                <a:spcPts val="1200"/>
              </a:spcBef>
              <a:spcAft>
                <a:spcPts val="0"/>
              </a:spcAft>
              <a:buSzPct val="108333"/>
              <a:buNone/>
            </a:pPr>
            <a:r>
              <a:rPr lang="es-419" sz="3000"/>
              <a:t>Si es cercano a cero, implica que RSS es considerable respecto de TSS.</a:t>
            </a:r>
            <a:endParaRPr sz="3000"/>
          </a:p>
          <a:p>
            <a:pPr indent="0" lvl="0" marL="0" rtl="0" algn="l">
              <a:lnSpc>
                <a:spcPct val="115000"/>
              </a:lnSpc>
              <a:spcBef>
                <a:spcPts val="1200"/>
              </a:spcBef>
              <a:spcAft>
                <a:spcPts val="0"/>
              </a:spcAft>
              <a:buSzPct val="108333"/>
              <a:buNone/>
            </a:pPr>
            <a:r>
              <a:rPr lang="es-419" sz="3000"/>
              <a:t>Si es cero, implica RSS = TSS. La suma de los cuadrados del desvío de cada dato con la predicción es lo mismo que el desvío de cada dato con su media -&gt; el modelo es tan simple como el promedio de los datos.</a:t>
            </a:r>
            <a:endParaRPr sz="3000"/>
          </a:p>
          <a:p>
            <a:pPr indent="0" lvl="0" marL="0" rtl="0" algn="l">
              <a:lnSpc>
                <a:spcPct val="115000"/>
              </a:lnSpc>
              <a:spcBef>
                <a:spcPts val="1200"/>
              </a:spcBef>
              <a:spcAft>
                <a:spcPts val="1200"/>
              </a:spcAft>
              <a:buSzPct val="108333"/>
              <a:buNone/>
            </a:pPr>
            <a:r>
              <a:rPr b="1" lang="es-419" sz="3000"/>
              <a:t>¿Puede ser menor a cero?</a:t>
            </a:r>
            <a:endParaRPr b="1"/>
          </a:p>
        </p:txBody>
      </p:sp>
      <p:pic>
        <p:nvPicPr>
          <p:cNvPr id="197" name="Google Shape;197;p16"/>
          <p:cNvPicPr preferRelativeResize="0"/>
          <p:nvPr/>
        </p:nvPicPr>
        <p:blipFill rotWithShape="1">
          <a:blip r:embed="rId3">
            <a:alphaModFix/>
          </a:blip>
          <a:srcRect b="0" l="0" r="0" t="0"/>
          <a:stretch/>
        </p:blipFill>
        <p:spPr>
          <a:xfrm>
            <a:off x="3464350" y="1318650"/>
            <a:ext cx="2044500" cy="7565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95883b0ceb_2_0"/>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s-419"/>
              <a:t>Correlación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95883b0ceb_2_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Features muy correlacionadas linealmente</a:t>
            </a:r>
            <a:endParaRPr/>
          </a:p>
        </p:txBody>
      </p:sp>
      <p:sp>
        <p:nvSpPr>
          <p:cNvPr id="208" name="Google Shape;208;g395883b0ceb_2_4"/>
          <p:cNvSpPr txBox="1"/>
          <p:nvPr>
            <p:ph idx="1" type="body"/>
          </p:nvPr>
        </p:nvSpPr>
        <p:spPr>
          <a:xfrm>
            <a:off x="729450" y="2221450"/>
            <a:ext cx="7688700" cy="21186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300"/>
              <a:buNone/>
            </a:pPr>
            <a:r>
              <a:rPr lang="es-419">
                <a:latin typeface="Verdana"/>
                <a:ea typeface="Verdana"/>
                <a:cs typeface="Verdana"/>
                <a:sym typeface="Verdana"/>
              </a:rPr>
              <a:t>y = a x</a:t>
            </a:r>
            <a:r>
              <a:rPr baseline="-25000" lang="es-419">
                <a:latin typeface="Verdana"/>
                <a:ea typeface="Verdana"/>
                <a:cs typeface="Verdana"/>
                <a:sym typeface="Verdana"/>
              </a:rPr>
              <a:t>1</a:t>
            </a:r>
            <a:r>
              <a:rPr lang="es-419">
                <a:latin typeface="Verdana"/>
                <a:ea typeface="Verdana"/>
                <a:cs typeface="Verdana"/>
                <a:sym typeface="Verdana"/>
              </a:rPr>
              <a:t> + b x</a:t>
            </a:r>
            <a:r>
              <a:rPr baseline="-25000" lang="es-419">
                <a:latin typeface="Verdana"/>
                <a:ea typeface="Verdana"/>
                <a:cs typeface="Verdana"/>
                <a:sym typeface="Verdana"/>
              </a:rPr>
              <a:t>2</a:t>
            </a:r>
            <a:r>
              <a:rPr lang="es-419">
                <a:latin typeface="Verdana"/>
                <a:ea typeface="Verdana"/>
                <a:cs typeface="Verdana"/>
                <a:sym typeface="Verdana"/>
              </a:rPr>
              <a:t> + c</a:t>
            </a:r>
            <a:endParaRPr>
              <a:latin typeface="Verdana"/>
              <a:ea typeface="Verdana"/>
              <a:cs typeface="Verdana"/>
              <a:sym typeface="Verdana"/>
            </a:endParaRPr>
          </a:p>
          <a:p>
            <a:pPr indent="0" lvl="0" marL="0" rtl="0" algn="ctr">
              <a:lnSpc>
                <a:spcPct val="115000"/>
              </a:lnSpc>
              <a:spcBef>
                <a:spcPts val="1200"/>
              </a:spcBef>
              <a:spcAft>
                <a:spcPts val="0"/>
              </a:spcAft>
              <a:buSzPts val="1300"/>
              <a:buNone/>
            </a:pPr>
            <a:r>
              <a:rPr lang="es-419">
                <a:latin typeface="Verdana"/>
                <a:ea typeface="Verdana"/>
                <a:cs typeface="Verdana"/>
                <a:sym typeface="Verdana"/>
              </a:rPr>
              <a:t>Si x</a:t>
            </a:r>
            <a:r>
              <a:rPr baseline="-25000" lang="es-419">
                <a:latin typeface="Verdana"/>
                <a:ea typeface="Verdana"/>
                <a:cs typeface="Verdana"/>
                <a:sym typeface="Verdana"/>
              </a:rPr>
              <a:t>2</a:t>
            </a:r>
            <a:r>
              <a:rPr lang="es-419">
                <a:latin typeface="Verdana"/>
                <a:ea typeface="Verdana"/>
                <a:cs typeface="Verdana"/>
                <a:sym typeface="Verdana"/>
              </a:rPr>
              <a:t> = d x</a:t>
            </a:r>
            <a:r>
              <a:rPr baseline="-25000" lang="es-419">
                <a:latin typeface="Verdana"/>
                <a:ea typeface="Verdana"/>
                <a:cs typeface="Verdana"/>
                <a:sym typeface="Verdana"/>
              </a:rPr>
              <a:t>1</a:t>
            </a:r>
            <a:endParaRPr>
              <a:latin typeface="Verdana"/>
              <a:ea typeface="Verdana"/>
              <a:cs typeface="Verdana"/>
              <a:sym typeface="Verdana"/>
            </a:endParaRPr>
          </a:p>
          <a:p>
            <a:pPr indent="0" lvl="0" marL="0" rtl="0" algn="ctr">
              <a:lnSpc>
                <a:spcPct val="115000"/>
              </a:lnSpc>
              <a:spcBef>
                <a:spcPts val="1200"/>
              </a:spcBef>
              <a:spcAft>
                <a:spcPts val="0"/>
              </a:spcAft>
              <a:buSzPts val="1300"/>
              <a:buNone/>
            </a:pPr>
            <a:r>
              <a:rPr lang="es-419">
                <a:latin typeface="Verdana"/>
                <a:ea typeface="Verdana"/>
                <a:cs typeface="Verdana"/>
                <a:sym typeface="Verdana"/>
              </a:rPr>
              <a:t>y = a x</a:t>
            </a:r>
            <a:r>
              <a:rPr baseline="-25000" lang="es-419">
                <a:latin typeface="Verdana"/>
                <a:ea typeface="Verdana"/>
                <a:cs typeface="Verdana"/>
                <a:sym typeface="Verdana"/>
              </a:rPr>
              <a:t>1</a:t>
            </a:r>
            <a:r>
              <a:rPr lang="es-419">
                <a:latin typeface="Verdana"/>
                <a:ea typeface="Verdana"/>
                <a:cs typeface="Verdana"/>
                <a:sym typeface="Verdana"/>
              </a:rPr>
              <a:t> + b dx</a:t>
            </a:r>
            <a:r>
              <a:rPr baseline="-25000" lang="es-419">
                <a:latin typeface="Verdana"/>
                <a:ea typeface="Verdana"/>
                <a:cs typeface="Verdana"/>
                <a:sym typeface="Verdana"/>
              </a:rPr>
              <a:t>1</a:t>
            </a:r>
            <a:r>
              <a:rPr lang="es-419">
                <a:latin typeface="Verdana"/>
                <a:ea typeface="Verdana"/>
                <a:cs typeface="Verdana"/>
                <a:sym typeface="Verdana"/>
              </a:rPr>
              <a:t> + c</a:t>
            </a:r>
            <a:endParaRPr>
              <a:latin typeface="Verdana"/>
              <a:ea typeface="Verdana"/>
              <a:cs typeface="Verdana"/>
              <a:sym typeface="Verdana"/>
            </a:endParaRPr>
          </a:p>
          <a:p>
            <a:pPr indent="0" lvl="0" marL="0" rtl="0" algn="ctr">
              <a:lnSpc>
                <a:spcPct val="115000"/>
              </a:lnSpc>
              <a:spcBef>
                <a:spcPts val="1200"/>
              </a:spcBef>
              <a:spcAft>
                <a:spcPts val="1200"/>
              </a:spcAft>
              <a:buSzPts val="1300"/>
              <a:buNone/>
            </a:pPr>
            <a:r>
              <a:rPr lang="es-419">
                <a:latin typeface="Verdana"/>
                <a:ea typeface="Verdana"/>
                <a:cs typeface="Verdana"/>
                <a:sym typeface="Verdana"/>
              </a:rPr>
              <a:t>y = (a + bd) x</a:t>
            </a:r>
            <a:r>
              <a:rPr baseline="-25000" lang="es-419">
                <a:latin typeface="Verdana"/>
                <a:ea typeface="Verdana"/>
                <a:cs typeface="Verdana"/>
                <a:sym typeface="Verdana"/>
              </a:rPr>
              <a:t>1 </a:t>
            </a:r>
            <a:r>
              <a:rPr lang="es-419">
                <a:latin typeface="Verdana"/>
                <a:ea typeface="Verdana"/>
                <a:cs typeface="Verdana"/>
                <a:sym typeface="Verdana"/>
              </a:rPr>
              <a:t>+ c</a:t>
            </a:r>
            <a:endParaRPr>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95883b0ceb_2_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Coeficiente de correlación de Pearson</a:t>
            </a:r>
            <a:endParaRPr/>
          </a:p>
        </p:txBody>
      </p:sp>
      <p:pic>
        <p:nvPicPr>
          <p:cNvPr id="214" name="Google Shape;214;g395883b0ceb_2_9"/>
          <p:cNvPicPr preferRelativeResize="0"/>
          <p:nvPr/>
        </p:nvPicPr>
        <p:blipFill rotWithShape="1">
          <a:blip r:embed="rId3">
            <a:alphaModFix/>
          </a:blip>
          <a:srcRect b="0" l="0" r="0" t="0"/>
          <a:stretch/>
        </p:blipFill>
        <p:spPr>
          <a:xfrm>
            <a:off x="2678325" y="2457150"/>
            <a:ext cx="3790950" cy="866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95883b0ceb_2_1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Coeficiente de correlación de Pearson</a:t>
            </a:r>
            <a:endParaRPr/>
          </a:p>
          <a:p>
            <a:pPr indent="0" lvl="0" marL="0" rtl="0" algn="l">
              <a:lnSpc>
                <a:spcPct val="100000"/>
              </a:lnSpc>
              <a:spcBef>
                <a:spcPts val="0"/>
              </a:spcBef>
              <a:spcAft>
                <a:spcPts val="0"/>
              </a:spcAft>
              <a:buSzPct val="111111"/>
              <a:buNone/>
            </a:pPr>
            <a:r>
              <a:t/>
            </a:r>
            <a:endParaRPr/>
          </a:p>
        </p:txBody>
      </p:sp>
      <p:pic>
        <p:nvPicPr>
          <p:cNvPr id="220" name="Google Shape;220;g395883b0ceb_2_14"/>
          <p:cNvPicPr preferRelativeResize="0"/>
          <p:nvPr/>
        </p:nvPicPr>
        <p:blipFill rotWithShape="1">
          <a:blip r:embed="rId3">
            <a:alphaModFix/>
          </a:blip>
          <a:srcRect b="0" l="0" r="0" t="0"/>
          <a:stretch/>
        </p:blipFill>
        <p:spPr>
          <a:xfrm>
            <a:off x="1179549" y="1958250"/>
            <a:ext cx="6788501" cy="2979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g395883b0ceb_2_96"/>
          <p:cNvPicPr preferRelativeResize="0"/>
          <p:nvPr/>
        </p:nvPicPr>
        <p:blipFill rotWithShape="1">
          <a:blip r:embed="rId3">
            <a:alphaModFix/>
          </a:blip>
          <a:srcRect b="0" l="0" r="0" t="0"/>
          <a:stretch/>
        </p:blipFill>
        <p:spPr>
          <a:xfrm>
            <a:off x="152400" y="742650"/>
            <a:ext cx="8839199" cy="405759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