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Caveat Medium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hbU1err0aUhehKlq8eSE2IVyX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35" Type="http://schemas.openxmlformats.org/officeDocument/2006/relationships/font" Target="fonts/CaveatMedium-regular.fntdata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Caveat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5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5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57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5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5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6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6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6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6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6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25;p5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5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5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5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5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5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6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6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6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1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61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6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6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6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6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6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5" name="Google Shape;55;p6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6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9" name="Google Shape;59;p6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6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63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2" name="Google Shape;62;p63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6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6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6" name="Google Shape;66;p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6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64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6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5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6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6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6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6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66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66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6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Regresión Lineal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419"/>
              <a:t>Aprendizaje Automático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Regularización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Métodos de ajuste</a:t>
            </a:r>
            <a:endParaRPr/>
          </a:p>
        </p:txBody>
      </p:sp>
      <p:sp>
        <p:nvSpPr>
          <p:cNvPr id="98" name="Google Shape;98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Se busca mejorar el modelo de regresión lineal múltiple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Selección de características: análisis de colinealidad y correlación.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s-419"/>
              <a:t>Regularización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-419"/>
              <a:t>Reducción de dimensionalidad</a:t>
            </a:r>
            <a:endParaRPr/>
          </a:p>
        </p:txBody>
      </p:sp>
      <p:cxnSp>
        <p:nvCxnSpPr>
          <p:cNvPr id="99" name="Google Shape;99;p41"/>
          <p:cNvCxnSpPr/>
          <p:nvPr/>
        </p:nvCxnSpPr>
        <p:spPr>
          <a:xfrm rot="10800000">
            <a:off x="6057425" y="2648250"/>
            <a:ext cx="913800" cy="2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" name="Google Shape;100;p41"/>
          <p:cNvSpPr txBox="1"/>
          <p:nvPr/>
        </p:nvSpPr>
        <p:spPr>
          <a:xfrm>
            <a:off x="6448500" y="2968000"/>
            <a:ext cx="2695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buscar patrones, matriz de correlación de Pearson, o simplemente probar todas las combinaciones posibles hasta encontrar la de mejores métricas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1" name="Google Shape;101;p41"/>
          <p:cNvCxnSpPr/>
          <p:nvPr/>
        </p:nvCxnSpPr>
        <p:spPr>
          <a:xfrm rot="10800000">
            <a:off x="2408525" y="3274775"/>
            <a:ext cx="280800" cy="64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" name="Google Shape;102;p41"/>
          <p:cNvSpPr txBox="1"/>
          <p:nvPr/>
        </p:nvSpPr>
        <p:spPr>
          <a:xfrm>
            <a:off x="1109725" y="4005825"/>
            <a:ext cx="449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puede que con sólo algunas componentes se explique un gran porcentaje de la respuesta (por lo general se busca arriba del 90%). Es un método no supervisado.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Regularización</a:t>
            </a:r>
            <a:endParaRPr/>
          </a:p>
        </p:txBody>
      </p:sp>
      <p:sp>
        <p:nvSpPr>
          <p:cNvPr id="108" name="Google Shape;108;p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9389"/>
              <a:buNone/>
            </a:pPr>
            <a:r>
              <a:rPr lang="es-419" sz="2620"/>
              <a:t>Como una alternativa a elegir los predictores manualmente, se puede dar un enfoque más restrictivo a la hora de utilizar los mínimos cuadrados. </a:t>
            </a:r>
            <a:endParaRPr sz="262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9389"/>
              <a:buNone/>
            </a:pPr>
            <a:r>
              <a:rPr lang="es-419" sz="2620"/>
              <a:t>Los métodos de regularización achican los coeficientes menos significativos para reducir la varianza y así intentar aproximar a un mejor modelo.</a:t>
            </a:r>
            <a:endParaRPr sz="262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9389"/>
              <a:buNone/>
            </a:pPr>
            <a:r>
              <a:rPr lang="es-419" sz="2620"/>
              <a:t>Existen muchas técnicas, pero las más conocidas son Ridge y Lasso.</a:t>
            </a:r>
            <a:endParaRPr sz="262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59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87" y="1420738"/>
            <a:ext cx="8805426" cy="26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Regularización</a:t>
            </a:r>
            <a:endParaRPr/>
          </a:p>
        </p:txBody>
      </p:sp>
      <p:pic>
        <p:nvPicPr>
          <p:cNvPr id="119" name="Google Shape;11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025" y="3042350"/>
            <a:ext cx="619125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8238" y="1853850"/>
            <a:ext cx="2987525" cy="85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Ridge</a:t>
            </a:r>
            <a:endParaRPr/>
          </a:p>
        </p:txBody>
      </p:sp>
      <p:pic>
        <p:nvPicPr>
          <p:cNvPr id="126" name="Google Shape;12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63" y="2099500"/>
            <a:ext cx="7686675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5"/>
          <p:cNvSpPr txBox="1"/>
          <p:nvPr/>
        </p:nvSpPr>
        <p:spPr>
          <a:xfrm>
            <a:off x="1037225" y="4021025"/>
            <a:ext cx="814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 equivalente al problema de la diapositiva anterior, y puede demostrarse con multiplicadores de Lagrange (escapa el alcance de la materia)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Ridge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33" name="Google Shape;133;p46"/>
          <p:cNvSpPr txBox="1"/>
          <p:nvPr>
            <p:ph idx="1" type="body"/>
          </p:nvPr>
        </p:nvSpPr>
        <p:spPr>
          <a:xfrm>
            <a:off x="729450" y="2078875"/>
            <a:ext cx="7688700" cy="27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El segundo término es una penalidad a los coeficientes y busca minimizar el cuadrado de su suma.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Si λ=0 es una regresión lineal común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Si λ → ∞ ya no importa tanto los RSS sino que todos los coeficientes sean bajos.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Es clave la elección de λ. Por lo general se hace con </a:t>
            </a:r>
            <a:r>
              <a:rPr b="1" lang="es-419" sz="1700"/>
              <a:t>Validación Cruzada</a:t>
            </a:r>
            <a:r>
              <a:rPr lang="es-419" sz="1700"/>
              <a:t>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λ no se aplica a la intersección con el eje y (β0).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Ridge</a:t>
            </a:r>
            <a:endParaRPr/>
          </a:p>
        </p:txBody>
      </p:sp>
      <p:sp>
        <p:nvSpPr>
          <p:cNvPr id="139" name="Google Shape;139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Funciona mejor en situaciones donde los valores estimados tienen mucha varianza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(si las variables tienen una relación lineal importante, RSS tiende a tener varianza ya que un mínimo cambio en los datos produce un cambio importante en la pendiente de la recta)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Ridge</a:t>
            </a:r>
            <a:endParaRPr/>
          </a:p>
        </p:txBody>
      </p:sp>
      <p:sp>
        <p:nvSpPr>
          <p:cNvPr id="145" name="Google Shape;145;p4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Tiene una desventaja, que es que usa t</a:t>
            </a:r>
            <a:r>
              <a:rPr b="1" lang="es-419" sz="1700"/>
              <a:t>odos los predictores.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Es decir, no va a lograr que ningún B sea cero (algo que sí sucede cuando elegimos nosotros las variables a usar!)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Lasso</a:t>
            </a:r>
            <a:endParaRPr/>
          </a:p>
        </p:txBody>
      </p:sp>
      <p:pic>
        <p:nvPicPr>
          <p:cNvPr id="151" name="Google Shape;15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925" y="2331588"/>
            <a:ext cx="805815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Regresión Lasso</a:t>
            </a:r>
            <a:endParaRPr/>
          </a:p>
        </p:txBody>
      </p:sp>
      <p:sp>
        <p:nvSpPr>
          <p:cNvPr id="157" name="Google Shape;157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Un λ suficientemente grande puede acarrear que algunos coeficientes se anulen para disminuir el error.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700"/>
              <a:t>Lo cual puede ser muy útil para hacer una </a:t>
            </a:r>
            <a:r>
              <a:rPr b="1" lang="es-419" sz="1700"/>
              <a:t>selección de features “automática”.</a:t>
            </a:r>
            <a:endParaRPr b="1"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Ridge vs Lasso</a:t>
            </a:r>
            <a:endParaRPr/>
          </a:p>
        </p:txBody>
      </p:sp>
      <p:pic>
        <p:nvPicPr>
          <p:cNvPr id="163" name="Google Shape;16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850" y="2795088"/>
            <a:ext cx="20955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51"/>
          <p:cNvPicPr preferRelativeResize="0"/>
          <p:nvPr/>
        </p:nvPicPr>
        <p:blipFill rotWithShape="1">
          <a:blip r:embed="rId4">
            <a:alphaModFix/>
          </a:blip>
          <a:srcRect b="60613" l="0" r="0" t="6057"/>
          <a:stretch/>
        </p:blipFill>
        <p:spPr>
          <a:xfrm>
            <a:off x="3833400" y="2196950"/>
            <a:ext cx="1257300" cy="76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51"/>
          <p:cNvPicPr preferRelativeResize="0"/>
          <p:nvPr/>
        </p:nvPicPr>
        <p:blipFill rotWithShape="1">
          <a:blip r:embed="rId4">
            <a:alphaModFix/>
          </a:blip>
          <a:srcRect b="0" l="0" r="0" t="68545"/>
          <a:stretch/>
        </p:blipFill>
        <p:spPr>
          <a:xfrm>
            <a:off x="3833400" y="3373825"/>
            <a:ext cx="1257300" cy="725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51"/>
          <p:cNvCxnSpPr>
            <a:stCxn id="163" idx="3"/>
            <a:endCxn id="164" idx="1"/>
          </p:cNvCxnSpPr>
          <p:nvPr/>
        </p:nvCxnSpPr>
        <p:spPr>
          <a:xfrm flipH="1" rot="10800000">
            <a:off x="2894350" y="2580926"/>
            <a:ext cx="939000" cy="62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p51"/>
          <p:cNvCxnSpPr>
            <a:stCxn id="163" idx="3"/>
            <a:endCxn id="165" idx="1"/>
          </p:cNvCxnSpPr>
          <p:nvPr/>
        </p:nvCxnSpPr>
        <p:spPr>
          <a:xfrm>
            <a:off x="2894350" y="3209426"/>
            <a:ext cx="939000" cy="5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" name="Google Shape;168;p51"/>
          <p:cNvSpPr txBox="1"/>
          <p:nvPr/>
        </p:nvSpPr>
        <p:spPr>
          <a:xfrm>
            <a:off x="5227825" y="2348538"/>
            <a:ext cx="539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Lasso L1</a:t>
            </a:r>
            <a:endParaRPr b="0" i="0" sz="17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69" name="Google Shape;169;p51"/>
          <p:cNvSpPr txBox="1"/>
          <p:nvPr/>
        </p:nvSpPr>
        <p:spPr>
          <a:xfrm>
            <a:off x="5227825" y="3460650"/>
            <a:ext cx="2082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Ridge L2</a:t>
            </a:r>
            <a:endParaRPr b="0" i="0" sz="17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70" name="Google Shape;170;p51"/>
          <p:cNvSpPr txBox="1"/>
          <p:nvPr/>
        </p:nvSpPr>
        <p:spPr>
          <a:xfrm>
            <a:off x="6305250" y="2371650"/>
            <a:ext cx="279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 dos dimensiones, la restricción forma un rombo de diagonal 2s.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51"/>
          <p:cNvSpPr txBox="1"/>
          <p:nvPr/>
        </p:nvSpPr>
        <p:spPr>
          <a:xfrm>
            <a:off x="6305250" y="3428550"/>
            <a:ext cx="279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 dos dimensiones, la restricción forma un círculo de radio s.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51"/>
          <p:cNvSpPr txBox="1"/>
          <p:nvPr/>
        </p:nvSpPr>
        <p:spPr>
          <a:xfrm>
            <a:off x="936900" y="4507525"/>
            <a:ext cx="77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medida que sube el exponente, la figura va tendiendo de un círculo a un cuadrado.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700" y="513976"/>
            <a:ext cx="6708199" cy="38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2"/>
          <p:cNvSpPr txBox="1"/>
          <p:nvPr/>
        </p:nvSpPr>
        <p:spPr>
          <a:xfrm>
            <a:off x="187350" y="4206625"/>
            <a:ext cx="8769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áreas celestes son las áreas de restricción |β1|+|β2| ≤ s y β1</a:t>
            </a:r>
            <a:r>
              <a:rPr b="0" baseline="3000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+β2</a:t>
            </a:r>
            <a:r>
              <a:rPr b="0" baseline="3000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≤ s, y las elipses rojas son contornos del RSS (lugares donde el RSS vale lo mismo). βˆ es el beta óptimo (el que menor RSS da para los datos).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2"/>
          <p:cNvSpPr txBox="1"/>
          <p:nvPr/>
        </p:nvSpPr>
        <p:spPr>
          <a:xfrm>
            <a:off x="1770725" y="891075"/>
            <a:ext cx="539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Lasso</a:t>
            </a:r>
            <a:endParaRPr b="0" i="0" sz="17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80" name="Google Shape;180;p52"/>
          <p:cNvSpPr txBox="1"/>
          <p:nvPr/>
        </p:nvSpPr>
        <p:spPr>
          <a:xfrm>
            <a:off x="5237200" y="1043475"/>
            <a:ext cx="2082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419" sz="1700" u="none" cap="none" strike="noStrike">
                <a:solidFill>
                  <a:srgbClr val="000000"/>
                </a:solidFill>
                <a:latin typeface="Caveat Medium"/>
                <a:ea typeface="Caveat Medium"/>
                <a:cs typeface="Caveat Medium"/>
                <a:sym typeface="Caveat Medium"/>
              </a:rPr>
              <a:t>Ridge</a:t>
            </a:r>
            <a:endParaRPr b="0" i="0" sz="1700" u="none" cap="none" strike="noStrike">
              <a:solidFill>
                <a:srgbClr val="000000"/>
              </a:solidFill>
              <a:latin typeface="Caveat Medium"/>
              <a:ea typeface="Caveat Medium"/>
              <a:cs typeface="Caveat Medium"/>
              <a:sym typeface="Caveat Medium"/>
            </a:endParaRPr>
          </a:p>
        </p:txBody>
      </p:sp>
      <p:sp>
        <p:nvSpPr>
          <p:cNvPr id="181" name="Google Shape;181;p52"/>
          <p:cNvSpPr/>
          <p:nvPr/>
        </p:nvSpPr>
        <p:spPr>
          <a:xfrm>
            <a:off x="5537000" y="2718000"/>
            <a:ext cx="93600" cy="1032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52"/>
          <p:cNvSpPr/>
          <p:nvPr/>
        </p:nvSpPr>
        <p:spPr>
          <a:xfrm>
            <a:off x="2194825" y="2720450"/>
            <a:ext cx="93600" cy="103200"/>
          </a:xfrm>
          <a:prstGeom prst="flowChartConnector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3" name="Google Shape;18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71" y="198421"/>
            <a:ext cx="1605225" cy="136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Ridge vs Lasso</a:t>
            </a:r>
            <a:endParaRPr/>
          </a:p>
        </p:txBody>
      </p:sp>
      <p:sp>
        <p:nvSpPr>
          <p:cNvPr id="189" name="Google Shape;189;p53"/>
          <p:cNvSpPr txBox="1"/>
          <p:nvPr>
            <p:ph idx="1" type="body"/>
          </p:nvPr>
        </p:nvSpPr>
        <p:spPr>
          <a:xfrm>
            <a:off x="729450" y="19570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Ridge tiene una restricción circular sin puntos “afilados”, la intersección generalmente no ocurre en un eje -&gt; Ridge no anula el valor de las componentes pero sí los </a:t>
            </a:r>
            <a:r>
              <a:rPr b="1"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armoniza</a:t>
            </a: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. </a:t>
            </a:r>
            <a:endParaRPr sz="1600">
              <a:solidFill>
                <a:srgbClr val="37415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La restricción de Lasso tiene esquinas en cada uno de los ejes, por lo que la elipse a menudo intersecta la región de restricción en un eje y por lo tanto </a:t>
            </a:r>
            <a:r>
              <a:rPr b="1"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anula</a:t>
            </a: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componentes. </a:t>
            </a:r>
            <a:endParaRPr sz="1600">
              <a:solidFill>
                <a:srgbClr val="37415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-419" sz="1600">
                <a:solidFill>
                  <a:srgbClr val="37415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En dimensiones superiores, muchas de las estimaciones de coeficientes pueden ser igual a cero simultáneamente. En la figura anterior, la intersección ocurre en β1 = 0, por lo que el modelo resultante sólo incluirá β2.</a:t>
            </a:r>
            <a:endParaRPr sz="17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ElasticNet</a:t>
            </a:r>
            <a:endParaRPr/>
          </a:p>
        </p:txBody>
      </p:sp>
      <p:sp>
        <p:nvSpPr>
          <p:cNvPr id="195" name="Google Shape;195;p54"/>
          <p:cNvSpPr txBox="1"/>
          <p:nvPr>
            <p:ph idx="1" type="body"/>
          </p:nvPr>
        </p:nvSpPr>
        <p:spPr>
          <a:xfrm>
            <a:off x="729450" y="2078875"/>
            <a:ext cx="76887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6081"/>
              <a:buNone/>
            </a:pPr>
            <a:r>
              <a:rPr lang="es-419" sz="2441"/>
              <a:t>Usa ambas restricciones, dadas por un l1_ratio, que indica cuánto es la componente de Lasso. Por lo tanto usa un 1-l1_ratio de Ridge</a:t>
            </a:r>
            <a:endParaRPr sz="244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81"/>
              <a:buNone/>
            </a:pPr>
            <a:r>
              <a:rPr lang="es-419" sz="2441"/>
              <a:t>Minimiza:</a:t>
            </a:r>
            <a:endParaRPr sz="244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81"/>
              <a:buNone/>
            </a:pPr>
            <a:r>
              <a:rPr lang="es-419" sz="2441"/>
              <a:t>1 / (2 * n_samples) * ||y - Xw||^2_2</a:t>
            </a:r>
            <a:endParaRPr sz="244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81"/>
              <a:buNone/>
            </a:pPr>
            <a:r>
              <a:rPr lang="es-419" sz="2441"/>
              <a:t>+ alpha * l1_ratio * ||w||_1</a:t>
            </a:r>
            <a:endParaRPr sz="244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6081"/>
              <a:buNone/>
            </a:pPr>
            <a:r>
              <a:rPr lang="es-419" sz="2441"/>
              <a:t>+ 0.5 * alpha * (1 - l1_ratio) * ||w||^2_2</a:t>
            </a:r>
            <a:endParaRPr sz="244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428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Escalado de datos</a:t>
            </a:r>
            <a:endParaRPr/>
          </a:p>
        </p:txBody>
      </p:sp>
      <p:sp>
        <p:nvSpPr>
          <p:cNvPr id="201" name="Google Shape;201;p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700"/>
              <a:t>¿Creen que la data debería estar </a:t>
            </a:r>
            <a:r>
              <a:rPr b="1" lang="es-419" sz="1700"/>
              <a:t>escalada</a:t>
            </a:r>
            <a:r>
              <a:rPr lang="es-419" sz="1700"/>
              <a:t> antes de usar regularización?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