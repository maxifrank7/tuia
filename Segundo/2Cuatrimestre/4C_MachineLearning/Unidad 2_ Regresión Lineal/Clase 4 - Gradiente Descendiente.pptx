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Raleway"/>
      <p:regular r:id="rId31"/>
      <p:bold r:id="rId32"/>
      <p:italic r:id="rId33"/>
      <p:boldItalic r:id="rId34"/>
    </p:embeddedFont>
    <p:embeddedFont>
      <p:font typeface="La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9" roundtripDataSignature="AMtx7mhuiImu/nzhMYxYvcgasSUwFYlo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aleway-italic.fntdata"/><Relationship Id="rId10" Type="http://schemas.openxmlformats.org/officeDocument/2006/relationships/slide" Target="slides/slide5.xml"/><Relationship Id="rId32" Type="http://schemas.openxmlformats.org/officeDocument/2006/relationships/font" Target="fonts/Raleway-bold.fntdata"/><Relationship Id="rId13" Type="http://schemas.openxmlformats.org/officeDocument/2006/relationships/slide" Target="slides/slide8.xml"/><Relationship Id="rId35" Type="http://schemas.openxmlformats.org/officeDocument/2006/relationships/font" Target="fonts/Lato-regular.fntdata"/><Relationship Id="rId12" Type="http://schemas.openxmlformats.org/officeDocument/2006/relationships/slide" Target="slides/slide7.xml"/><Relationship Id="rId34" Type="http://schemas.openxmlformats.org/officeDocument/2006/relationships/font" Target="fonts/Raleway-boldItalic.fntdata"/><Relationship Id="rId15" Type="http://schemas.openxmlformats.org/officeDocument/2006/relationships/slide" Target="slides/slide10.xml"/><Relationship Id="rId37" Type="http://schemas.openxmlformats.org/officeDocument/2006/relationships/font" Target="fonts/Lato-italic.fntdata"/><Relationship Id="rId14" Type="http://schemas.openxmlformats.org/officeDocument/2006/relationships/slide" Target="slides/slide9.xml"/><Relationship Id="rId36" Type="http://schemas.openxmlformats.org/officeDocument/2006/relationships/font" Target="fonts/Lato-bold.fntdata"/><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font" Target="fonts/La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f8b106cd5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f8b106cd5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8b106cd5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f8b106cd5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4171bfb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3f4171bfb8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8b106cd52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3f8b106cd52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f8b106cd52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3f8b106cd52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f4171bfb8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g3f4171bfb85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57"/>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57"/>
          <p:cNvGrpSpPr/>
          <p:nvPr/>
        </p:nvGrpSpPr>
        <p:grpSpPr>
          <a:xfrm>
            <a:off x="830392" y="1191256"/>
            <a:ext cx="745763" cy="45826"/>
            <a:chOff x="4580561" y="2589004"/>
            <a:chExt cx="1064464" cy="25200"/>
          </a:xfrm>
        </p:grpSpPr>
        <p:sp>
          <p:nvSpPr>
            <p:cNvPr id="12" name="Google Shape;12;p5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5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57"/>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57"/>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5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60"/>
          <p:cNvGrpSpPr/>
          <p:nvPr/>
        </p:nvGrpSpPr>
        <p:grpSpPr>
          <a:xfrm>
            <a:off x="830392" y="1191256"/>
            <a:ext cx="745763" cy="45826"/>
            <a:chOff x="4580561" y="2589004"/>
            <a:chExt cx="1064464" cy="25200"/>
          </a:xfrm>
        </p:grpSpPr>
        <p:sp>
          <p:nvSpPr>
            <p:cNvPr id="19" name="Google Shape;19;p6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6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 name="Google Shape;21;p60"/>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22" name="Google Shape;22;p6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5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 name="Google Shape;25;p58"/>
          <p:cNvGrpSpPr/>
          <p:nvPr/>
        </p:nvGrpSpPr>
        <p:grpSpPr>
          <a:xfrm>
            <a:off x="830392" y="1191256"/>
            <a:ext cx="745763" cy="45826"/>
            <a:chOff x="4580561" y="2589004"/>
            <a:chExt cx="1064464" cy="25200"/>
          </a:xfrm>
        </p:grpSpPr>
        <p:sp>
          <p:nvSpPr>
            <p:cNvPr id="26" name="Google Shape;26;p5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5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 name="Google Shape;28;p5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9" name="Google Shape;29;p5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0" name="Google Shape;30;p5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1" name="Shape 31"/>
        <p:cNvGrpSpPr/>
        <p:nvPr/>
      </p:nvGrpSpPr>
      <p:grpSpPr>
        <a:xfrm>
          <a:off x="0" y="0"/>
          <a:ext cx="0" cy="0"/>
          <a:chOff x="0" y="0"/>
          <a:chExt cx="0" cy="0"/>
        </a:xfrm>
      </p:grpSpPr>
      <p:sp>
        <p:nvSpPr>
          <p:cNvPr id="32" name="Google Shape;32;p5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 name="Google Shape;33;p59"/>
          <p:cNvGrpSpPr/>
          <p:nvPr/>
        </p:nvGrpSpPr>
        <p:grpSpPr>
          <a:xfrm>
            <a:off x="830392" y="1191256"/>
            <a:ext cx="745763" cy="45826"/>
            <a:chOff x="4580561" y="2589004"/>
            <a:chExt cx="1064464" cy="25200"/>
          </a:xfrm>
        </p:grpSpPr>
        <p:sp>
          <p:nvSpPr>
            <p:cNvPr id="34" name="Google Shape;34;p5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5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59"/>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7" name="Google Shape;37;p59"/>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38" name="Google Shape;38;p59"/>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5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6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61"/>
          <p:cNvGrpSpPr/>
          <p:nvPr/>
        </p:nvGrpSpPr>
        <p:grpSpPr>
          <a:xfrm>
            <a:off x="830392" y="1191256"/>
            <a:ext cx="745763" cy="45826"/>
            <a:chOff x="4580561" y="2589004"/>
            <a:chExt cx="1064464" cy="25200"/>
          </a:xfrm>
        </p:grpSpPr>
        <p:sp>
          <p:nvSpPr>
            <p:cNvPr id="43" name="Google Shape;43;p6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6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61"/>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61"/>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7" name="Google Shape;47;p61"/>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8" name="Google Shape;48;p6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2"/>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 name="Google Shape;51;p62"/>
          <p:cNvGrpSpPr/>
          <p:nvPr/>
        </p:nvGrpSpPr>
        <p:grpSpPr>
          <a:xfrm>
            <a:off x="830392" y="1191256"/>
            <a:ext cx="745763" cy="45826"/>
            <a:chOff x="4580561" y="2589004"/>
            <a:chExt cx="1064464" cy="25200"/>
          </a:xfrm>
        </p:grpSpPr>
        <p:sp>
          <p:nvSpPr>
            <p:cNvPr id="52" name="Google Shape;52;p6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6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62"/>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5" name="Google Shape;55;p6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6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 name="Google Shape;58;p63"/>
          <p:cNvGrpSpPr/>
          <p:nvPr/>
        </p:nvGrpSpPr>
        <p:grpSpPr>
          <a:xfrm>
            <a:off x="830392" y="1191256"/>
            <a:ext cx="745763" cy="45826"/>
            <a:chOff x="4580561" y="2589004"/>
            <a:chExt cx="1064464" cy="25200"/>
          </a:xfrm>
        </p:grpSpPr>
        <p:sp>
          <p:nvSpPr>
            <p:cNvPr id="59" name="Google Shape;59;p6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63"/>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2" name="Google Shape;62;p63"/>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3" name="Google Shape;63;p6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64" name="Shape 64"/>
        <p:cNvGrpSpPr/>
        <p:nvPr/>
      </p:nvGrpSpPr>
      <p:grpSpPr>
        <a:xfrm>
          <a:off x="0" y="0"/>
          <a:ext cx="0" cy="0"/>
          <a:chOff x="0" y="0"/>
          <a:chExt cx="0" cy="0"/>
        </a:xfrm>
      </p:grpSpPr>
      <p:grpSp>
        <p:nvGrpSpPr>
          <p:cNvPr id="65" name="Google Shape;65;p64"/>
          <p:cNvGrpSpPr/>
          <p:nvPr/>
        </p:nvGrpSpPr>
        <p:grpSpPr>
          <a:xfrm>
            <a:off x="830392" y="4169130"/>
            <a:ext cx="745763" cy="45826"/>
            <a:chOff x="4580561" y="2589004"/>
            <a:chExt cx="1064464" cy="25200"/>
          </a:xfrm>
        </p:grpSpPr>
        <p:sp>
          <p:nvSpPr>
            <p:cNvPr id="66" name="Google Shape;66;p6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64"/>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9" name="Google Shape;69;p6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65"/>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6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66"/>
          <p:cNvGrpSpPr/>
          <p:nvPr/>
        </p:nvGrpSpPr>
        <p:grpSpPr>
          <a:xfrm>
            <a:off x="830392" y="4169130"/>
            <a:ext cx="745763" cy="45826"/>
            <a:chOff x="4580561" y="2589004"/>
            <a:chExt cx="1064464" cy="25200"/>
          </a:xfrm>
        </p:grpSpPr>
        <p:sp>
          <p:nvSpPr>
            <p:cNvPr id="75" name="Google Shape;75;p66"/>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66"/>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66"/>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66"/>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6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6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5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s-419"/>
              <a:t>Regresión Lineal</a:t>
            </a:r>
            <a:endParaRPr/>
          </a:p>
        </p:txBody>
      </p:sp>
      <p:sp>
        <p:nvSpPr>
          <p:cNvPr id="87" name="Google Shape;87;p1"/>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s-419"/>
              <a:t>Aprendizaje Automático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4657"/>
              <a:buNone/>
            </a:pPr>
            <a:r>
              <a:rPr lang="es-419" sz="3822"/>
              <a:t>Gradiente Descendiente</a:t>
            </a:r>
            <a:endParaRPr sz="3822"/>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85614"/>
              <a:buNone/>
            </a:pPr>
            <a:r>
              <a:rPr lang="es-419" sz="2155"/>
              <a:t>Descent Gradient </a:t>
            </a:r>
            <a:endParaRPr sz="2155"/>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Gradiente Descendiente</a:t>
            </a:r>
            <a:endParaRPr/>
          </a:p>
        </p:txBody>
      </p:sp>
      <p:sp>
        <p:nvSpPr>
          <p:cNvPr id="98" name="Google Shape;98;p1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419">
                <a:latin typeface="Arial"/>
                <a:ea typeface="Arial"/>
                <a:cs typeface="Arial"/>
                <a:sym typeface="Arial"/>
              </a:rPr>
              <a:t>Es un algoritmo de optimización: busca los valores de los parámetros que hacen más chico el error del modelo.</a:t>
            </a:r>
            <a:endParaRPr>
              <a:latin typeface="Arial"/>
              <a:ea typeface="Arial"/>
              <a:cs typeface="Arial"/>
              <a:sym typeface="Arial"/>
            </a:endParaRPr>
          </a:p>
          <a:p>
            <a:pPr indent="0" lvl="0" marL="0" rtl="0" algn="l">
              <a:lnSpc>
                <a:spcPct val="115000"/>
              </a:lnSpc>
              <a:spcBef>
                <a:spcPts val="1000"/>
              </a:spcBef>
              <a:spcAft>
                <a:spcPts val="0"/>
              </a:spcAft>
              <a:buNone/>
            </a:pPr>
            <a:r>
              <a:rPr lang="es-419">
                <a:latin typeface="Arial"/>
                <a:ea typeface="Arial"/>
                <a:cs typeface="Arial"/>
                <a:sym typeface="Arial"/>
              </a:rPr>
              <a:t>Es iterativo. En vez de resolver una fórmula de una sola vez, se acerca de a pasos.</a:t>
            </a:r>
            <a:endParaRPr>
              <a:latin typeface="Arial"/>
              <a:ea typeface="Arial"/>
              <a:cs typeface="Arial"/>
              <a:sym typeface="Arial"/>
            </a:endParaRPr>
          </a:p>
          <a:p>
            <a:pPr indent="0" lvl="0" marL="0" rtl="0" algn="l">
              <a:lnSpc>
                <a:spcPct val="115000"/>
              </a:lnSpc>
              <a:spcBef>
                <a:spcPts val="1000"/>
              </a:spcBef>
              <a:spcAft>
                <a:spcPts val="0"/>
              </a:spcAft>
              <a:buNone/>
            </a:pPr>
            <a:r>
              <a:rPr lang="es-419">
                <a:latin typeface="Arial"/>
                <a:ea typeface="Arial"/>
                <a:cs typeface="Arial"/>
                <a:sym typeface="Arial"/>
              </a:rPr>
              <a:t>Con datasets grandes, iterar suele ser mucho más barato que invertir matrices.</a:t>
            </a:r>
            <a:endParaRPr>
              <a:latin typeface="Arial"/>
              <a:ea typeface="Arial"/>
              <a:cs typeface="Arial"/>
              <a:sym typeface="Arial"/>
            </a:endParaRPr>
          </a:p>
          <a:p>
            <a:pPr indent="0" lvl="0" marL="0" rtl="0" algn="l">
              <a:lnSpc>
                <a:spcPct val="115000"/>
              </a:lnSpc>
              <a:spcBef>
                <a:spcPts val="1000"/>
              </a:spcBef>
              <a:spcAft>
                <a:spcPts val="0"/>
              </a:spcAft>
              <a:buNone/>
            </a:pPr>
            <a:r>
              <a:rPr lang="es-419">
                <a:latin typeface="Arial"/>
                <a:ea typeface="Arial"/>
                <a:cs typeface="Arial"/>
                <a:sym typeface="Arial"/>
              </a:rPr>
              <a:t>Hoy vemos tres variantes: gradiente descendiente, estocástico y mini-batch.</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3f8b106cd52_0_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solidFill>
                  <a:srgbClr val="1A1A1A"/>
                </a:solidFill>
              </a:rPr>
              <a:t>Notación: quién es quién</a:t>
            </a:r>
            <a:endParaRPr/>
          </a:p>
        </p:txBody>
      </p:sp>
      <p:grpSp>
        <p:nvGrpSpPr>
          <p:cNvPr id="104" name="Google Shape;104;g3f8b106cd52_0_2"/>
          <p:cNvGrpSpPr/>
          <p:nvPr/>
        </p:nvGrpSpPr>
        <p:grpSpPr>
          <a:xfrm>
            <a:off x="1418038" y="1853850"/>
            <a:ext cx="6311523" cy="2984850"/>
            <a:chOff x="1418038" y="1853850"/>
            <a:chExt cx="6311523" cy="2984850"/>
          </a:xfrm>
        </p:grpSpPr>
        <p:pic>
          <p:nvPicPr>
            <p:cNvPr id="105" name="Google Shape;105;g3f8b106cd52_0_2"/>
            <p:cNvPicPr preferRelativeResize="0"/>
            <p:nvPr/>
          </p:nvPicPr>
          <p:blipFill>
            <a:blip r:embed="rId3">
              <a:alphaModFix/>
            </a:blip>
            <a:stretch>
              <a:fillRect/>
            </a:stretch>
          </p:blipFill>
          <p:spPr>
            <a:xfrm>
              <a:off x="1418038" y="1853850"/>
              <a:ext cx="6311523" cy="2984850"/>
            </a:xfrm>
            <a:prstGeom prst="rect">
              <a:avLst/>
            </a:prstGeom>
            <a:noFill/>
            <a:ln>
              <a:noFill/>
            </a:ln>
          </p:spPr>
        </p:pic>
        <p:pic>
          <p:nvPicPr>
            <p:cNvPr id="106" name="Google Shape;106;g3f8b106cd52_0_2"/>
            <p:cNvPicPr preferRelativeResize="0"/>
            <p:nvPr/>
          </p:nvPicPr>
          <p:blipFill>
            <a:blip r:embed="rId4">
              <a:alphaModFix/>
            </a:blip>
            <a:stretch>
              <a:fillRect/>
            </a:stretch>
          </p:blipFill>
          <p:spPr>
            <a:xfrm>
              <a:off x="1872825" y="1946500"/>
              <a:ext cx="5446075" cy="457200"/>
            </a:xfrm>
            <a:prstGeom prst="rect">
              <a:avLst/>
            </a:prstGeom>
            <a:noFill/>
            <a:ln>
              <a:noFill/>
            </a:ln>
          </p:spPr>
        </p:pic>
        <p:pic>
          <p:nvPicPr>
            <p:cNvPr id="107" name="Google Shape;107;g3f8b106cd52_0_2"/>
            <p:cNvPicPr preferRelativeResize="0"/>
            <p:nvPr/>
          </p:nvPicPr>
          <p:blipFill>
            <a:blip r:embed="rId5">
              <a:alphaModFix/>
            </a:blip>
            <a:stretch>
              <a:fillRect/>
            </a:stretch>
          </p:blipFill>
          <p:spPr>
            <a:xfrm>
              <a:off x="2359350" y="2030725"/>
              <a:ext cx="4428899" cy="225475"/>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f8b106cd52_0_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solidFill>
                  <a:srgbClr val="1A1A1A"/>
                </a:solidFill>
              </a:rPr>
              <a:t>Ejemplo</a:t>
            </a:r>
            <a:endParaRPr/>
          </a:p>
        </p:txBody>
      </p:sp>
      <p:pic>
        <p:nvPicPr>
          <p:cNvPr id="113" name="Google Shape;113;g3f8b106cd52_0_27"/>
          <p:cNvPicPr preferRelativeResize="0"/>
          <p:nvPr/>
        </p:nvPicPr>
        <p:blipFill>
          <a:blip r:embed="rId3">
            <a:alphaModFix/>
          </a:blip>
          <a:stretch>
            <a:fillRect/>
          </a:stretch>
        </p:blipFill>
        <p:spPr>
          <a:xfrm>
            <a:off x="1550525" y="1892575"/>
            <a:ext cx="6042948" cy="2984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Generalizado</a:t>
            </a:r>
            <a:endParaRPr/>
          </a:p>
        </p:txBody>
      </p:sp>
      <p:pic>
        <p:nvPicPr>
          <p:cNvPr id="119" name="Google Shape;119;p19"/>
          <p:cNvPicPr preferRelativeResize="0"/>
          <p:nvPr/>
        </p:nvPicPr>
        <p:blipFill rotWithShape="1">
          <a:blip r:embed="rId3">
            <a:alphaModFix/>
          </a:blip>
          <a:srcRect b="0" l="0" r="0" t="0"/>
          <a:stretch/>
        </p:blipFill>
        <p:spPr>
          <a:xfrm>
            <a:off x="1881088" y="1936900"/>
            <a:ext cx="5381828" cy="2792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0"/>
          <p:cNvSpPr txBox="1"/>
          <p:nvPr>
            <p:ph idx="1" type="body"/>
          </p:nvPr>
        </p:nvSpPr>
        <p:spPr>
          <a:xfrm>
            <a:off x="660850" y="1826375"/>
            <a:ext cx="4752900" cy="29916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1500"/>
              </a:spcBef>
              <a:spcAft>
                <a:spcPts val="0"/>
              </a:spcAft>
              <a:buSzPts val="1300"/>
              <a:buNone/>
            </a:pPr>
            <a:r>
              <a:rPr lang="es-419" sz="1400">
                <a:solidFill>
                  <a:srgbClr val="212121"/>
                </a:solidFill>
                <a:highlight>
                  <a:schemeClr val="lt1"/>
                </a:highlight>
              </a:rPr>
              <a:t>El gradiente de una función es un vector que apunta en la dirección de la mayor derivada de la función en un punto dado. Establece la dirección en la que la función está aumentando más rápidamente.</a:t>
            </a:r>
            <a:endParaRPr sz="1400">
              <a:solidFill>
                <a:srgbClr val="212121"/>
              </a:solidFill>
              <a:highlight>
                <a:schemeClr val="lt1"/>
              </a:highlight>
            </a:endParaRPr>
          </a:p>
          <a:p>
            <a:pPr indent="0" lvl="0" marL="0" rtl="0" algn="l">
              <a:lnSpc>
                <a:spcPct val="115000"/>
              </a:lnSpc>
              <a:spcBef>
                <a:spcPts val="1500"/>
              </a:spcBef>
              <a:spcAft>
                <a:spcPts val="0"/>
              </a:spcAft>
              <a:buSzPts val="1300"/>
              <a:buNone/>
            </a:pPr>
            <a:r>
              <a:rPr lang="es-419" sz="1400">
                <a:solidFill>
                  <a:srgbClr val="212121"/>
                </a:solidFill>
                <a:highlight>
                  <a:schemeClr val="lt1"/>
                </a:highlight>
              </a:rPr>
              <a:t>Cuando estamos tratando de minimizar una función, se busca encontrar el punto donde la función alcanza su valor mínimo. En el mínimo de la función, el gradiente es igual a cero. </a:t>
            </a:r>
            <a:endParaRPr sz="1400">
              <a:solidFill>
                <a:srgbClr val="212121"/>
              </a:solidFill>
              <a:highlight>
                <a:schemeClr val="lt1"/>
              </a:highlight>
            </a:endParaRPr>
          </a:p>
          <a:p>
            <a:pPr indent="0" lvl="0" marL="0" rtl="0" algn="l">
              <a:lnSpc>
                <a:spcPct val="115000"/>
              </a:lnSpc>
              <a:spcBef>
                <a:spcPts val="1500"/>
              </a:spcBef>
              <a:spcAft>
                <a:spcPts val="0"/>
              </a:spcAft>
              <a:buSzPts val="1300"/>
              <a:buNone/>
            </a:pPr>
            <a:r>
              <a:rPr lang="es-419" sz="1400">
                <a:solidFill>
                  <a:srgbClr val="212121"/>
                </a:solidFill>
                <a:highlight>
                  <a:schemeClr val="lt1"/>
                </a:highlight>
              </a:rPr>
              <a:t>Si se mueve en la dirección opuesta al gradiente, nos acercamos al mínimo.</a:t>
            </a:r>
            <a:endParaRPr sz="1400">
              <a:solidFill>
                <a:srgbClr val="212121"/>
              </a:solidFill>
              <a:highlight>
                <a:schemeClr val="lt1"/>
              </a:highlight>
            </a:endParaRPr>
          </a:p>
          <a:p>
            <a:pPr indent="0" lvl="0" marL="0" rtl="0" algn="l">
              <a:lnSpc>
                <a:spcPct val="115000"/>
              </a:lnSpc>
              <a:spcBef>
                <a:spcPts val="1500"/>
              </a:spcBef>
              <a:spcAft>
                <a:spcPts val="0"/>
              </a:spcAft>
              <a:buSzPts val="1300"/>
              <a:buNone/>
            </a:pPr>
            <a:r>
              <a:rPr lang="es-419" sz="1400">
                <a:solidFill>
                  <a:srgbClr val="212121"/>
                </a:solidFill>
                <a:highlight>
                  <a:schemeClr val="lt1"/>
                </a:highlight>
              </a:rPr>
              <a:t>Pero puede ser un mínimo global, o local</a:t>
            </a:r>
            <a:endParaRPr/>
          </a:p>
        </p:txBody>
      </p:sp>
      <p:pic>
        <p:nvPicPr>
          <p:cNvPr id="125" name="Google Shape;125;p20"/>
          <p:cNvPicPr preferRelativeResize="0"/>
          <p:nvPr/>
        </p:nvPicPr>
        <p:blipFill rotWithShape="1">
          <a:blip r:embed="rId3">
            <a:alphaModFix/>
          </a:blip>
          <a:srcRect b="0" l="0" r="0" t="0"/>
          <a:stretch/>
        </p:blipFill>
        <p:spPr>
          <a:xfrm>
            <a:off x="6547399" y="589324"/>
            <a:ext cx="1443885" cy="1237050"/>
          </a:xfrm>
          <a:prstGeom prst="rect">
            <a:avLst/>
          </a:prstGeom>
          <a:noFill/>
          <a:ln>
            <a:noFill/>
          </a:ln>
        </p:spPr>
      </p:pic>
      <p:sp>
        <p:nvSpPr>
          <p:cNvPr id="126" name="Google Shape;126;p20"/>
          <p:cNvSpPr txBox="1"/>
          <p:nvPr>
            <p:ph type="title"/>
          </p:nvPr>
        </p:nvSpPr>
        <p:spPr>
          <a:xfrm>
            <a:off x="727650" y="13354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solidFill>
                  <a:srgbClr val="1A1A1A"/>
                </a:solidFill>
              </a:rPr>
              <a:t>¿Qué es el gradiente?</a:t>
            </a:r>
            <a:r>
              <a:rPr b="0" lang="es-419" sz="1100">
                <a:solidFill>
                  <a:srgbClr val="000000"/>
                </a:solidFill>
                <a:latin typeface="Arial"/>
                <a:ea typeface="Arial"/>
                <a:cs typeface="Arial"/>
                <a:sym typeface="Arial"/>
              </a:rPr>
              <a:t> </a:t>
            </a:r>
            <a:endParaRPr/>
          </a:p>
        </p:txBody>
      </p:sp>
      <p:pic>
        <p:nvPicPr>
          <p:cNvPr id="127" name="Google Shape;127;p20"/>
          <p:cNvPicPr preferRelativeResize="0"/>
          <p:nvPr/>
        </p:nvPicPr>
        <p:blipFill>
          <a:blip r:embed="rId4">
            <a:alphaModFix/>
          </a:blip>
          <a:stretch>
            <a:fillRect/>
          </a:stretch>
        </p:blipFill>
        <p:spPr>
          <a:xfrm>
            <a:off x="5552425" y="1947525"/>
            <a:ext cx="3324475" cy="2968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33" name="Google Shape;133;p21"/>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134" name="Google Shape;134;p21"/>
          <p:cNvPicPr preferRelativeResize="0"/>
          <p:nvPr/>
        </p:nvPicPr>
        <p:blipFill rotWithShape="1">
          <a:blip r:embed="rId3">
            <a:alphaModFix/>
          </a:blip>
          <a:srcRect b="0" l="0" r="0" t="0"/>
          <a:stretch/>
        </p:blipFill>
        <p:spPr>
          <a:xfrm>
            <a:off x="423400" y="822225"/>
            <a:ext cx="8300800" cy="40823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Técnica del gradiente descendiente</a:t>
            </a:r>
            <a:endParaRPr/>
          </a:p>
        </p:txBody>
      </p:sp>
      <p:sp>
        <p:nvSpPr>
          <p:cNvPr id="140" name="Google Shape;140;p22"/>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300"/>
              <a:buNone/>
            </a:pPr>
            <a:r>
              <a:rPr lang="es-419"/>
              <a:t>Se parte de un vector inicial en el espacio de n dimensiones (</a:t>
            </a:r>
            <a:r>
              <a:rPr lang="es-419"/>
              <a:t>parámetros</a:t>
            </a:r>
            <a:r>
              <a:rPr lang="es-419"/>
              <a:t>)  (b1, b2, …, bn).</a:t>
            </a:r>
            <a:endParaRPr/>
          </a:p>
          <a:p>
            <a:pPr indent="0" lvl="0" marL="0" rtl="0" algn="l">
              <a:lnSpc>
                <a:spcPct val="115000"/>
              </a:lnSpc>
              <a:spcBef>
                <a:spcPts val="1200"/>
              </a:spcBef>
              <a:spcAft>
                <a:spcPts val="0"/>
              </a:spcAft>
              <a:buSzPts val="1300"/>
              <a:buNone/>
            </a:pPr>
            <a:r>
              <a:rPr lang="es-419"/>
              <a:t>Se obtiene el gradiente de la función de pérdida (u optimización) para ese punto x.</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1200"/>
              </a:spcAft>
              <a:buSzPts val="1300"/>
              <a:buNone/>
            </a:pPr>
            <a:r>
              <a:t/>
            </a:r>
            <a:endParaRPr/>
          </a:p>
        </p:txBody>
      </p:sp>
      <p:pic>
        <p:nvPicPr>
          <p:cNvPr id="141" name="Google Shape;141;p22"/>
          <p:cNvPicPr preferRelativeResize="0"/>
          <p:nvPr/>
        </p:nvPicPr>
        <p:blipFill rotWithShape="1">
          <a:blip r:embed="rId3">
            <a:alphaModFix/>
          </a:blip>
          <a:srcRect b="0" l="0" r="0" t="0"/>
          <a:stretch/>
        </p:blipFill>
        <p:spPr>
          <a:xfrm>
            <a:off x="2407325" y="2777175"/>
            <a:ext cx="4329349" cy="864500"/>
          </a:xfrm>
          <a:prstGeom prst="rect">
            <a:avLst/>
          </a:prstGeom>
          <a:noFill/>
          <a:ln>
            <a:noFill/>
          </a:ln>
        </p:spPr>
      </p:pic>
      <p:pic>
        <p:nvPicPr>
          <p:cNvPr id="142" name="Google Shape;142;p22"/>
          <p:cNvPicPr preferRelativeResize="0"/>
          <p:nvPr/>
        </p:nvPicPr>
        <p:blipFill rotWithShape="1">
          <a:blip r:embed="rId4">
            <a:alphaModFix/>
          </a:blip>
          <a:srcRect b="0" l="0" r="0" t="0"/>
          <a:stretch/>
        </p:blipFill>
        <p:spPr>
          <a:xfrm>
            <a:off x="2653225" y="3641675"/>
            <a:ext cx="3841149" cy="1367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Técnica del gradiente descendiente</a:t>
            </a:r>
            <a:endParaRPr/>
          </a:p>
          <a:p>
            <a:pPr indent="0" lvl="0" marL="0" rtl="0" algn="l">
              <a:lnSpc>
                <a:spcPct val="100000"/>
              </a:lnSpc>
              <a:spcBef>
                <a:spcPts val="0"/>
              </a:spcBef>
              <a:spcAft>
                <a:spcPts val="0"/>
              </a:spcAft>
              <a:buSzPct val="111111"/>
              <a:buNone/>
            </a:pPr>
            <a:r>
              <a:t/>
            </a:r>
            <a:endParaRPr/>
          </a:p>
        </p:txBody>
      </p:sp>
      <p:sp>
        <p:nvSpPr>
          <p:cNvPr id="148" name="Google Shape;148;p23"/>
          <p:cNvSpPr txBox="1"/>
          <p:nvPr>
            <p:ph idx="1" type="body"/>
          </p:nvPr>
        </p:nvSpPr>
        <p:spPr>
          <a:xfrm>
            <a:off x="729450" y="2078875"/>
            <a:ext cx="7688700" cy="2887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1200"/>
              </a:spcAft>
              <a:buSzPts val="1300"/>
              <a:buNone/>
            </a:pPr>
            <a:r>
              <a:t/>
            </a:r>
            <a:endParaRPr/>
          </a:p>
        </p:txBody>
      </p:sp>
      <p:pic>
        <p:nvPicPr>
          <p:cNvPr id="149" name="Google Shape;149;p23"/>
          <p:cNvPicPr preferRelativeResize="0"/>
          <p:nvPr/>
        </p:nvPicPr>
        <p:blipFill rotWithShape="1">
          <a:blip r:embed="rId3">
            <a:alphaModFix/>
          </a:blip>
          <a:srcRect b="0" l="0" r="0" t="0"/>
          <a:stretch/>
        </p:blipFill>
        <p:spPr>
          <a:xfrm>
            <a:off x="729450" y="1960600"/>
            <a:ext cx="7688701" cy="845250"/>
          </a:xfrm>
          <a:prstGeom prst="rect">
            <a:avLst/>
          </a:prstGeom>
          <a:noFill/>
          <a:ln>
            <a:noFill/>
          </a:ln>
        </p:spPr>
      </p:pic>
      <p:pic>
        <p:nvPicPr>
          <p:cNvPr id="150" name="Google Shape;150;p23"/>
          <p:cNvPicPr preferRelativeResize="0"/>
          <p:nvPr/>
        </p:nvPicPr>
        <p:blipFill rotWithShape="1">
          <a:blip r:embed="rId4">
            <a:alphaModFix/>
          </a:blip>
          <a:srcRect b="0" l="0" r="0" t="0"/>
          <a:stretch/>
        </p:blipFill>
        <p:spPr>
          <a:xfrm>
            <a:off x="729444" y="2912600"/>
            <a:ext cx="3656256" cy="2054075"/>
          </a:xfrm>
          <a:prstGeom prst="rect">
            <a:avLst/>
          </a:prstGeom>
          <a:noFill/>
          <a:ln>
            <a:noFill/>
          </a:ln>
        </p:spPr>
      </p:pic>
      <p:sp>
        <p:nvSpPr>
          <p:cNvPr id="151" name="Google Shape;151;p23"/>
          <p:cNvSpPr txBox="1"/>
          <p:nvPr/>
        </p:nvSpPr>
        <p:spPr>
          <a:xfrm>
            <a:off x="4928025" y="3467500"/>
            <a:ext cx="3888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sería mejor de forma matricial para no tener que codear por cada feature del modelo, ¿no?</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Técnica del gradiente descendiente</a:t>
            </a:r>
            <a:endParaRPr/>
          </a:p>
          <a:p>
            <a:pPr indent="0" lvl="0" marL="0" rtl="0" algn="l">
              <a:lnSpc>
                <a:spcPct val="100000"/>
              </a:lnSpc>
              <a:spcBef>
                <a:spcPts val="0"/>
              </a:spcBef>
              <a:spcAft>
                <a:spcPts val="0"/>
              </a:spcAft>
              <a:buSzPct val="111111"/>
              <a:buNone/>
            </a:pPr>
            <a:r>
              <a:t/>
            </a:r>
            <a:endParaRPr/>
          </a:p>
        </p:txBody>
      </p:sp>
      <p:sp>
        <p:nvSpPr>
          <p:cNvPr id="157" name="Google Shape;157;p2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158" name="Google Shape;158;p24"/>
          <p:cNvPicPr preferRelativeResize="0"/>
          <p:nvPr/>
        </p:nvPicPr>
        <p:blipFill rotWithShape="1">
          <a:blip r:embed="rId3">
            <a:alphaModFix/>
          </a:blip>
          <a:srcRect b="0" l="0" r="0" t="0"/>
          <a:stretch/>
        </p:blipFill>
        <p:spPr>
          <a:xfrm>
            <a:off x="729450" y="2078875"/>
            <a:ext cx="7688700" cy="206215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f4171bfb85_0_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Técnica del gradiente descendiente</a:t>
            </a:r>
            <a:endParaRPr/>
          </a:p>
          <a:p>
            <a:pPr indent="0" lvl="0" marL="0" rtl="0" algn="l">
              <a:lnSpc>
                <a:spcPct val="100000"/>
              </a:lnSpc>
              <a:spcBef>
                <a:spcPts val="0"/>
              </a:spcBef>
              <a:spcAft>
                <a:spcPts val="0"/>
              </a:spcAft>
              <a:buSzPct val="111111"/>
              <a:buNone/>
            </a:pPr>
            <a:r>
              <a:t/>
            </a:r>
            <a:endParaRPr/>
          </a:p>
        </p:txBody>
      </p:sp>
      <p:pic>
        <p:nvPicPr>
          <p:cNvPr id="164" name="Google Shape;164;g3f4171bfb85_0_0"/>
          <p:cNvPicPr preferRelativeResize="0"/>
          <p:nvPr/>
        </p:nvPicPr>
        <p:blipFill>
          <a:blip r:embed="rId3">
            <a:alphaModFix/>
          </a:blip>
          <a:stretch>
            <a:fillRect/>
          </a:stretch>
        </p:blipFill>
        <p:spPr>
          <a:xfrm>
            <a:off x="2185338" y="1853850"/>
            <a:ext cx="4773318" cy="2984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Técnica del gradiente descendiente</a:t>
            </a:r>
            <a:endParaRPr/>
          </a:p>
          <a:p>
            <a:pPr indent="0" lvl="0" marL="0" rtl="0" algn="l">
              <a:lnSpc>
                <a:spcPct val="100000"/>
              </a:lnSpc>
              <a:spcBef>
                <a:spcPts val="0"/>
              </a:spcBef>
              <a:spcAft>
                <a:spcPts val="0"/>
              </a:spcAft>
              <a:buSzPct val="111111"/>
              <a:buNone/>
            </a:pPr>
            <a:r>
              <a:t/>
            </a:r>
            <a:endParaRPr/>
          </a:p>
        </p:txBody>
      </p:sp>
      <p:sp>
        <p:nvSpPr>
          <p:cNvPr id="170" name="Google Shape;170;p25"/>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17647"/>
              <a:buNone/>
            </a:pPr>
            <a:r>
              <a:rPr lang="es-419"/>
              <a:t>Se invierte la dirección del gradiente. Para ir hacia la dirección de minimización.</a:t>
            </a:r>
            <a:endParaRPr/>
          </a:p>
          <a:p>
            <a:pPr indent="0" lvl="0" marL="0" rtl="0" algn="l">
              <a:lnSpc>
                <a:spcPct val="115000"/>
              </a:lnSpc>
              <a:spcBef>
                <a:spcPts val="1200"/>
              </a:spcBef>
              <a:spcAft>
                <a:spcPts val="0"/>
              </a:spcAft>
              <a:buSzPct val="117647"/>
              <a:buNone/>
            </a:pPr>
            <a:r>
              <a:rPr lang="es-419"/>
              <a:t>Se lo pondera con un factor de aprendizaje (usualmente llamado learning_rate o lr).</a:t>
            </a:r>
            <a:endParaRPr/>
          </a:p>
          <a:p>
            <a:pPr indent="0" lvl="0" marL="0" rtl="0" algn="l">
              <a:lnSpc>
                <a:spcPct val="115000"/>
              </a:lnSpc>
              <a:spcBef>
                <a:spcPts val="1200"/>
              </a:spcBef>
              <a:spcAft>
                <a:spcPts val="0"/>
              </a:spcAft>
              <a:buSzPct val="117647"/>
              <a:buNone/>
            </a:pPr>
            <a:r>
              <a:t/>
            </a:r>
            <a:endParaRPr/>
          </a:p>
          <a:p>
            <a:pPr indent="0" lvl="0" marL="0" rtl="0" algn="l">
              <a:lnSpc>
                <a:spcPct val="115000"/>
              </a:lnSpc>
              <a:spcBef>
                <a:spcPts val="1200"/>
              </a:spcBef>
              <a:spcAft>
                <a:spcPts val="0"/>
              </a:spcAft>
              <a:buSzPct val="117647"/>
              <a:buNone/>
            </a:pPr>
            <a:r>
              <a:rPr lang="es-419"/>
              <a:t>Se actualiza el vector</a:t>
            </a:r>
            <a:endParaRPr/>
          </a:p>
          <a:p>
            <a:pPr indent="0" lvl="0" marL="0" rtl="0" algn="l">
              <a:lnSpc>
                <a:spcPct val="115000"/>
              </a:lnSpc>
              <a:spcBef>
                <a:spcPts val="1200"/>
              </a:spcBef>
              <a:spcAft>
                <a:spcPts val="0"/>
              </a:spcAft>
              <a:buSzPct val="117647"/>
              <a:buNone/>
            </a:pPr>
            <a:r>
              <a:t/>
            </a:r>
            <a:endParaRPr/>
          </a:p>
          <a:p>
            <a:pPr indent="0" lvl="0" marL="0" rtl="0" algn="l">
              <a:lnSpc>
                <a:spcPct val="115000"/>
              </a:lnSpc>
              <a:spcBef>
                <a:spcPts val="1200"/>
              </a:spcBef>
              <a:spcAft>
                <a:spcPts val="0"/>
              </a:spcAft>
              <a:buSzPct val="117647"/>
              <a:buNone/>
            </a:pPr>
            <a:r>
              <a:rPr lang="es-419"/>
              <a:t>Se repite el proceso, hasta una cantidad máxima de iteraciones o hasta encontrar una tolerancia adecuada en el error.</a:t>
            </a:r>
            <a:endParaRPr/>
          </a:p>
          <a:p>
            <a:pPr indent="0" lvl="0" marL="0" rtl="0" algn="l">
              <a:lnSpc>
                <a:spcPct val="115000"/>
              </a:lnSpc>
              <a:spcBef>
                <a:spcPts val="1200"/>
              </a:spcBef>
              <a:spcAft>
                <a:spcPts val="1200"/>
              </a:spcAft>
              <a:buSzPct val="117647"/>
              <a:buNone/>
            </a:pPr>
            <a:r>
              <a:t/>
            </a:r>
            <a:endParaRPr/>
          </a:p>
        </p:txBody>
      </p:sp>
      <p:pic>
        <p:nvPicPr>
          <p:cNvPr id="171" name="Google Shape;171;p25"/>
          <p:cNvPicPr preferRelativeResize="0"/>
          <p:nvPr/>
        </p:nvPicPr>
        <p:blipFill rotWithShape="1">
          <a:blip r:embed="rId3">
            <a:alphaModFix/>
          </a:blip>
          <a:srcRect b="0" l="0" r="0" t="0"/>
          <a:stretch/>
        </p:blipFill>
        <p:spPr>
          <a:xfrm>
            <a:off x="2504000" y="2785050"/>
            <a:ext cx="2343150" cy="5905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f8b106cd52_0_3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solidFill>
                  <a:srgbClr val="1A1A1A"/>
                </a:solidFill>
              </a:rPr>
              <a:t>Una iteración a mano</a:t>
            </a:r>
            <a:r>
              <a:rPr b="0" lang="es-419" sz="1100">
                <a:solidFill>
                  <a:srgbClr val="000000"/>
                </a:solidFill>
                <a:latin typeface="Arial"/>
                <a:ea typeface="Arial"/>
                <a:cs typeface="Arial"/>
                <a:sym typeface="Arial"/>
              </a:rPr>
              <a:t> </a:t>
            </a:r>
            <a:endParaRPr/>
          </a:p>
          <a:p>
            <a:pPr indent="0" lvl="0" marL="0" rtl="0" algn="l">
              <a:lnSpc>
                <a:spcPct val="100000"/>
              </a:lnSpc>
              <a:spcBef>
                <a:spcPts val="0"/>
              </a:spcBef>
              <a:spcAft>
                <a:spcPts val="0"/>
              </a:spcAft>
              <a:buSzPct val="111111"/>
              <a:buNone/>
            </a:pPr>
            <a:r>
              <a:t/>
            </a:r>
            <a:endParaRPr/>
          </a:p>
        </p:txBody>
      </p:sp>
      <p:pic>
        <p:nvPicPr>
          <p:cNvPr id="177" name="Google Shape;177;g3f8b106cd52_0_36"/>
          <p:cNvPicPr preferRelativeResize="0"/>
          <p:nvPr/>
        </p:nvPicPr>
        <p:blipFill>
          <a:blip r:embed="rId3">
            <a:alphaModFix/>
          </a:blip>
          <a:stretch>
            <a:fillRect/>
          </a:stretch>
        </p:blipFill>
        <p:spPr>
          <a:xfrm>
            <a:off x="1080525" y="1819100"/>
            <a:ext cx="6982962" cy="2984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Learning rate (ratio de aprendizaje)</a:t>
            </a:r>
            <a:endParaRPr/>
          </a:p>
          <a:p>
            <a:pPr indent="0" lvl="0" marL="0" rtl="0" algn="l">
              <a:lnSpc>
                <a:spcPct val="100000"/>
              </a:lnSpc>
              <a:spcBef>
                <a:spcPts val="0"/>
              </a:spcBef>
              <a:spcAft>
                <a:spcPts val="0"/>
              </a:spcAft>
              <a:buSzPct val="111111"/>
              <a:buNone/>
            </a:pPr>
            <a:r>
              <a:t/>
            </a:r>
            <a:endParaRPr/>
          </a:p>
        </p:txBody>
      </p:sp>
      <p:sp>
        <p:nvSpPr>
          <p:cNvPr id="183" name="Google Shape;183;p26"/>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184" name="Google Shape;184;p26"/>
          <p:cNvPicPr preferRelativeResize="0"/>
          <p:nvPr/>
        </p:nvPicPr>
        <p:blipFill rotWithShape="1">
          <a:blip r:embed="rId3">
            <a:alphaModFix/>
          </a:blip>
          <a:srcRect b="0" l="0" r="0" t="0"/>
          <a:stretch/>
        </p:blipFill>
        <p:spPr>
          <a:xfrm>
            <a:off x="705600" y="1993224"/>
            <a:ext cx="7736401" cy="3000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7"/>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s-419"/>
              <a:t>Gradiente descendiente estocástico</a:t>
            </a:r>
            <a:endParaRPr/>
          </a:p>
        </p:txBody>
      </p:sp>
      <p:sp>
        <p:nvSpPr>
          <p:cNvPr id="190" name="Google Shape;190;p27"/>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Gradiente descendiente estocástico</a:t>
            </a:r>
            <a:endParaRPr/>
          </a:p>
        </p:txBody>
      </p:sp>
      <p:sp>
        <p:nvSpPr>
          <p:cNvPr id="196" name="Google Shape;196;p2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419"/>
              <a:t>También busca optimizar por la dirección opuesta al gradiente.</a:t>
            </a:r>
            <a:endParaRPr/>
          </a:p>
          <a:p>
            <a:pPr indent="0" lvl="0" marL="0" rtl="0" algn="l">
              <a:lnSpc>
                <a:spcPct val="115000"/>
              </a:lnSpc>
              <a:spcBef>
                <a:spcPts val="1200"/>
              </a:spcBef>
              <a:spcAft>
                <a:spcPts val="0"/>
              </a:spcAft>
              <a:buSzPts val="1300"/>
              <a:buNone/>
            </a:pPr>
            <a:r>
              <a:rPr lang="es-419"/>
              <a:t>La diferencia es que no se usa todo el dataset para calcular el gradiente, </a:t>
            </a:r>
            <a:r>
              <a:rPr b="1" lang="es-419"/>
              <a:t>sino de a un dato.</a:t>
            </a:r>
            <a:endParaRPr b="1"/>
          </a:p>
          <a:p>
            <a:pPr indent="0" lvl="0" marL="0" rtl="0" algn="l">
              <a:lnSpc>
                <a:spcPct val="115000"/>
              </a:lnSpc>
              <a:spcBef>
                <a:spcPts val="1200"/>
              </a:spcBef>
              <a:spcAft>
                <a:spcPts val="0"/>
              </a:spcAft>
              <a:buSzPts val="1300"/>
              <a:buNone/>
            </a:pPr>
            <a:r>
              <a:rPr lang="es-419"/>
              <a:t>Se ordenan los datos aleatoriamente. Se calcula el gradiente para la primer muestra, se actualiza el vector y se continúa así con todas las muestras. Recién ahí, se llega a la segunda época.</a:t>
            </a:r>
            <a:endParaRPr/>
          </a:p>
          <a:p>
            <a:pPr indent="0" lvl="0" marL="0" rtl="0" algn="l">
              <a:lnSpc>
                <a:spcPct val="115000"/>
              </a:lnSpc>
              <a:spcBef>
                <a:spcPts val="1200"/>
              </a:spcBef>
              <a:spcAft>
                <a:spcPts val="0"/>
              </a:spcAft>
              <a:buSzPts val="1300"/>
              <a:buNone/>
            </a:pPr>
            <a:r>
              <a:rPr lang="es-419"/>
              <a:t>El enfoque estocástico se da al “muestrear” el dataset.</a:t>
            </a:r>
            <a:endParaRPr/>
          </a:p>
          <a:p>
            <a:pPr indent="0" lvl="0" marL="0" rtl="0" algn="l">
              <a:lnSpc>
                <a:spcPct val="115000"/>
              </a:lnSpc>
              <a:spcBef>
                <a:spcPts val="1200"/>
              </a:spcBef>
              <a:spcAft>
                <a:spcPts val="1200"/>
              </a:spcAft>
              <a:buSzPts val="13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solidFill>
                  <a:srgbClr val="1A1A1A"/>
                </a:solidFill>
              </a:rPr>
              <a:t>Qué ganamos y qué perdemos</a:t>
            </a:r>
            <a:r>
              <a:rPr b="0" lang="es-419" sz="1100">
                <a:solidFill>
                  <a:srgbClr val="000000"/>
                </a:solidFill>
                <a:latin typeface="Arial"/>
                <a:ea typeface="Arial"/>
                <a:cs typeface="Arial"/>
                <a:sym typeface="Arial"/>
              </a:rPr>
              <a:t> </a:t>
            </a:r>
            <a:endParaRPr/>
          </a:p>
          <a:p>
            <a:pPr indent="0" lvl="0" marL="0" rtl="0" algn="l">
              <a:lnSpc>
                <a:spcPct val="100000"/>
              </a:lnSpc>
              <a:spcBef>
                <a:spcPts val="0"/>
              </a:spcBef>
              <a:spcAft>
                <a:spcPts val="0"/>
              </a:spcAft>
              <a:buSzPct val="111111"/>
              <a:buNone/>
            </a:pPr>
            <a:r>
              <a:t/>
            </a:r>
            <a:endParaRPr/>
          </a:p>
        </p:txBody>
      </p:sp>
      <p:sp>
        <p:nvSpPr>
          <p:cNvPr id="202" name="Google Shape;202;p29"/>
          <p:cNvSpPr txBox="1"/>
          <p:nvPr>
            <p:ph idx="1" type="body"/>
          </p:nvPr>
        </p:nvSpPr>
        <p:spPr>
          <a:xfrm>
            <a:off x="729449" y="2093903"/>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s-419">
                <a:solidFill>
                  <a:srgbClr val="1A1A1A"/>
                </a:solidFill>
                <a:latin typeface="Arial"/>
                <a:ea typeface="Arial"/>
                <a:cs typeface="Arial"/>
                <a:sym typeface="Arial"/>
              </a:rPr>
              <a:t>A favor:</a:t>
            </a:r>
            <a:r>
              <a:rPr lang="es-419">
                <a:latin typeface="Arial"/>
                <a:ea typeface="Arial"/>
                <a:cs typeface="Arial"/>
                <a:sym typeface="Arial"/>
              </a:rPr>
              <a:t> Calcular el gradiente con un solo dato es muchísimo más barato que hacerlo con el dataset completo.</a:t>
            </a:r>
            <a:endParaRPr>
              <a:latin typeface="Arial"/>
              <a:ea typeface="Arial"/>
              <a:cs typeface="Arial"/>
              <a:sym typeface="Arial"/>
            </a:endParaRPr>
          </a:p>
          <a:p>
            <a:pPr indent="0" lvl="0" marL="0" rtl="0" algn="l">
              <a:lnSpc>
                <a:spcPct val="115000"/>
              </a:lnSpc>
              <a:spcBef>
                <a:spcPts val="1000"/>
              </a:spcBef>
              <a:spcAft>
                <a:spcPts val="0"/>
              </a:spcAft>
              <a:buNone/>
            </a:pPr>
            <a:r>
              <a:rPr b="1" lang="es-419">
                <a:solidFill>
                  <a:srgbClr val="1A1A1A"/>
                </a:solidFill>
                <a:latin typeface="Arial"/>
                <a:ea typeface="Arial"/>
                <a:cs typeface="Arial"/>
                <a:sym typeface="Arial"/>
              </a:rPr>
              <a:t>A favor:</a:t>
            </a:r>
            <a:r>
              <a:rPr lang="es-419">
                <a:latin typeface="Arial"/>
                <a:ea typeface="Arial"/>
                <a:cs typeface="Arial"/>
                <a:sym typeface="Arial"/>
              </a:rPr>
              <a:t> Empieza a mejorar desde el primer dato, sin esperar a recorrer todo.</a:t>
            </a:r>
            <a:endParaRPr>
              <a:latin typeface="Arial"/>
              <a:ea typeface="Arial"/>
              <a:cs typeface="Arial"/>
              <a:sym typeface="Arial"/>
            </a:endParaRPr>
          </a:p>
          <a:p>
            <a:pPr indent="0" lvl="0" marL="0" rtl="0" algn="l">
              <a:lnSpc>
                <a:spcPct val="115000"/>
              </a:lnSpc>
              <a:spcBef>
                <a:spcPts val="1000"/>
              </a:spcBef>
              <a:spcAft>
                <a:spcPts val="0"/>
              </a:spcAft>
              <a:buNone/>
            </a:pPr>
            <a:r>
              <a:rPr b="1" lang="es-419">
                <a:solidFill>
                  <a:srgbClr val="1A1A1A"/>
                </a:solidFill>
                <a:latin typeface="Arial"/>
                <a:ea typeface="Arial"/>
                <a:cs typeface="Arial"/>
                <a:sym typeface="Arial"/>
              </a:rPr>
              <a:t>En contra:</a:t>
            </a:r>
            <a:r>
              <a:rPr lang="es-419">
                <a:latin typeface="Arial"/>
                <a:ea typeface="Arial"/>
                <a:cs typeface="Arial"/>
                <a:sym typeface="Arial"/>
              </a:rPr>
              <a:t> Con un solo dato la dirección es ruidosa. El camino zigzaguea y da vueltas alrededor del mínimo en vez de clavarlo.</a:t>
            </a:r>
            <a:endParaRPr>
              <a:latin typeface="Arial"/>
              <a:ea typeface="Arial"/>
              <a:cs typeface="Arial"/>
              <a:sym typeface="Arial"/>
            </a:endParaRPr>
          </a:p>
          <a:p>
            <a:pPr indent="0" lvl="0" marL="0" rtl="0" algn="l">
              <a:lnSpc>
                <a:spcPct val="115000"/>
              </a:lnSpc>
              <a:spcBef>
                <a:spcPts val="1000"/>
              </a:spcBef>
              <a:spcAft>
                <a:spcPts val="0"/>
              </a:spcAft>
              <a:buNone/>
            </a:pPr>
            <a:r>
              <a:rPr b="1" lang="es-419">
                <a:solidFill>
                  <a:srgbClr val="1A1A1A"/>
                </a:solidFill>
                <a:latin typeface="Arial"/>
                <a:ea typeface="Arial"/>
                <a:cs typeface="Arial"/>
                <a:sym typeface="Arial"/>
              </a:rPr>
              <a:t>En contra:</a:t>
            </a:r>
            <a:r>
              <a:rPr lang="es-419">
                <a:latin typeface="Arial"/>
                <a:ea typeface="Arial"/>
                <a:cs typeface="Arial"/>
                <a:sym typeface="Arial"/>
              </a:rPr>
              <a:t> En la práctica termina siendo lento.</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p30"/>
          <p:cNvPicPr preferRelativeResize="0"/>
          <p:nvPr/>
        </p:nvPicPr>
        <p:blipFill>
          <a:blip r:embed="rId3">
            <a:alphaModFix/>
          </a:blip>
          <a:stretch>
            <a:fillRect/>
          </a:stretch>
        </p:blipFill>
        <p:spPr>
          <a:xfrm>
            <a:off x="1247001" y="1887025"/>
            <a:ext cx="6649976" cy="2852500"/>
          </a:xfrm>
          <a:prstGeom prst="rect">
            <a:avLst/>
          </a:prstGeom>
          <a:noFill/>
          <a:ln>
            <a:noFill/>
          </a:ln>
        </p:spPr>
      </p:pic>
      <p:sp>
        <p:nvSpPr>
          <p:cNvPr id="208" name="Google Shape;208;p3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solidFill>
                  <a:srgbClr val="1A1A1A"/>
                </a:solidFill>
              </a:rPr>
              <a:t>GD vs SGD: el mismo destino</a:t>
            </a:r>
            <a:r>
              <a:rPr b="0" lang="es-419" sz="1100">
                <a:solidFill>
                  <a:srgbClr val="000000"/>
                </a:solidFill>
                <a:latin typeface="Arial"/>
                <a:ea typeface="Arial"/>
                <a:cs typeface="Arial"/>
                <a:sym typeface="Arial"/>
              </a:rPr>
              <a:t> </a:t>
            </a:r>
            <a:endParaRPr/>
          </a:p>
          <a:p>
            <a:pPr indent="0" lvl="0" marL="0" rtl="0" algn="l">
              <a:lnSpc>
                <a:spcPct val="100000"/>
              </a:lnSpc>
              <a:spcBef>
                <a:spcPts val="0"/>
              </a:spcBef>
              <a:spcAft>
                <a:spcPts val="0"/>
              </a:spcAft>
              <a:buSzPct val="111111"/>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f8b106cd52_0_49"/>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s-419"/>
              <a:t>Gradiente descendiente </a:t>
            </a:r>
            <a:r>
              <a:rPr lang="es-419"/>
              <a:t>mini-batch</a:t>
            </a:r>
            <a:endParaRPr/>
          </a:p>
        </p:txBody>
      </p:sp>
      <p:sp>
        <p:nvSpPr>
          <p:cNvPr id="214" name="Google Shape;214;g3f8b106cd52_0_49"/>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Gradiente Descendiente mini-batch</a:t>
            </a:r>
            <a:endParaRPr/>
          </a:p>
        </p:txBody>
      </p:sp>
      <p:sp>
        <p:nvSpPr>
          <p:cNvPr id="220" name="Google Shape;220;p31"/>
          <p:cNvSpPr txBox="1"/>
          <p:nvPr>
            <p:ph idx="1" type="body"/>
          </p:nvPr>
        </p:nvSpPr>
        <p:spPr>
          <a:xfrm>
            <a:off x="729450" y="2078875"/>
            <a:ext cx="7688700" cy="27189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s-419"/>
              <a:t>Ni usamos todo el dataset ni solo una muestra a la vez, sino un batch (lote).</a:t>
            </a:r>
            <a:endParaRPr/>
          </a:p>
          <a:p>
            <a:pPr indent="-311150" lvl="0" marL="457200" rtl="0" algn="l">
              <a:lnSpc>
                <a:spcPct val="115000"/>
              </a:lnSpc>
              <a:spcBef>
                <a:spcPts val="0"/>
              </a:spcBef>
              <a:spcAft>
                <a:spcPts val="0"/>
              </a:spcAft>
              <a:buSzPts val="1300"/>
              <a:buChar char="●"/>
            </a:pPr>
            <a:r>
              <a:rPr lang="es-419"/>
              <a:t>El dataset se divide en n batches.</a:t>
            </a:r>
            <a:endParaRPr/>
          </a:p>
          <a:p>
            <a:pPr indent="-311150" lvl="0" marL="457200" rtl="0" algn="l">
              <a:lnSpc>
                <a:spcPct val="115000"/>
              </a:lnSpc>
              <a:spcBef>
                <a:spcPts val="0"/>
              </a:spcBef>
              <a:spcAft>
                <a:spcPts val="0"/>
              </a:spcAft>
              <a:buSzPts val="1300"/>
              <a:buChar char="●"/>
            </a:pPr>
            <a:r>
              <a:rPr lang="es-419"/>
              <a:t>Se calcula el gradiente para un batch y se ajusta el vector. Luego para el siguiente batch y así sucesivamente.</a:t>
            </a:r>
            <a:endParaRPr/>
          </a:p>
          <a:p>
            <a:pPr indent="-311150" lvl="0" marL="457200" rtl="0" algn="l">
              <a:lnSpc>
                <a:spcPct val="115000"/>
              </a:lnSpc>
              <a:spcBef>
                <a:spcPts val="1200"/>
              </a:spcBef>
              <a:spcAft>
                <a:spcPts val="0"/>
              </a:spcAft>
              <a:buSzPts val="1300"/>
              <a:buChar char="●"/>
            </a:pPr>
            <a:r>
              <a:rPr lang="es-419"/>
              <a:t>Luego de una época, se vuelven a obtener los distintos batches (para que tengan datos distintos).</a:t>
            </a:r>
            <a:endParaRPr/>
          </a:p>
          <a:p>
            <a:pPr indent="-311150" lvl="0" marL="457200" rtl="0" algn="l">
              <a:lnSpc>
                <a:spcPct val="115000"/>
              </a:lnSpc>
              <a:spcBef>
                <a:spcPts val="0"/>
              </a:spcBef>
              <a:spcAft>
                <a:spcPts val="0"/>
              </a:spcAft>
              <a:buSzPts val="1300"/>
              <a:buChar char="●"/>
            </a:pPr>
            <a:r>
              <a:rPr lang="es-419"/>
              <a:t>Converge más rápido que GD y con menor ruido que SGD.</a:t>
            </a:r>
            <a:endParaRPr/>
          </a:p>
          <a:p>
            <a:pPr indent="-311150" lvl="0" marL="457200" rtl="0" algn="l">
              <a:lnSpc>
                <a:spcPct val="115000"/>
              </a:lnSpc>
              <a:spcBef>
                <a:spcPts val="0"/>
              </a:spcBef>
              <a:spcAft>
                <a:spcPts val="0"/>
              </a:spcAft>
              <a:buSzPts val="1300"/>
              <a:buChar char="●"/>
            </a:pPr>
            <a:r>
              <a:rPr lang="es-419"/>
              <a:t>El tamaño del batch es un </a:t>
            </a:r>
            <a:r>
              <a:rPr b="1" lang="es-419"/>
              <a:t>hiperparámetro</a:t>
            </a:r>
            <a:r>
              <a:rPr lang="es-419"/>
              <a:t> que debe ajustarse: si es muy grande, es similar a GD, y si es muy chico, es similar a SGD.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32"/>
          <p:cNvPicPr preferRelativeResize="0"/>
          <p:nvPr/>
        </p:nvPicPr>
        <p:blipFill rotWithShape="1">
          <a:blip r:embed="rId3">
            <a:alphaModFix/>
          </a:blip>
          <a:srcRect b="0" l="0" r="0" t="0"/>
          <a:stretch/>
        </p:blipFill>
        <p:spPr>
          <a:xfrm>
            <a:off x="1900616" y="1996624"/>
            <a:ext cx="5346374" cy="2767625"/>
          </a:xfrm>
          <a:prstGeom prst="rect">
            <a:avLst/>
          </a:prstGeom>
          <a:noFill/>
          <a:ln>
            <a:noFill/>
          </a:ln>
        </p:spPr>
      </p:pic>
      <p:sp>
        <p:nvSpPr>
          <p:cNvPr id="226" name="Google Shape;226;p3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GD vs SGD vs Mini-Batch GD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f4171bfb85_0_1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89"/>
              <a:buNone/>
            </a:pPr>
            <a:r>
              <a:rPr lang="es-419" sz="2300">
                <a:solidFill>
                  <a:srgbClr val="1A1A1A"/>
                </a:solidFill>
              </a:rPr>
              <a:t>Resumen:</a:t>
            </a:r>
            <a:endParaRPr/>
          </a:p>
        </p:txBody>
      </p:sp>
      <p:pic>
        <p:nvPicPr>
          <p:cNvPr id="232" name="Google Shape;232;g3f4171bfb85_0_12"/>
          <p:cNvPicPr preferRelativeResize="0"/>
          <p:nvPr/>
        </p:nvPicPr>
        <p:blipFill>
          <a:blip r:embed="rId3">
            <a:alphaModFix/>
          </a:blip>
          <a:stretch>
            <a:fillRect/>
          </a:stretch>
        </p:blipFill>
        <p:spPr>
          <a:xfrm>
            <a:off x="346850" y="1792250"/>
            <a:ext cx="8453905" cy="29848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33"/>
          <p:cNvPicPr preferRelativeResize="0"/>
          <p:nvPr/>
        </p:nvPicPr>
        <p:blipFill rotWithShape="1">
          <a:blip r:embed="rId3">
            <a:alphaModFix/>
          </a:blip>
          <a:srcRect b="0" l="0" r="0" t="0"/>
          <a:stretch/>
        </p:blipFill>
        <p:spPr>
          <a:xfrm>
            <a:off x="836813" y="2063650"/>
            <a:ext cx="7473975" cy="2396975"/>
          </a:xfrm>
          <a:prstGeom prst="rect">
            <a:avLst/>
          </a:prstGeom>
          <a:noFill/>
          <a:ln>
            <a:noFill/>
          </a:ln>
        </p:spPr>
      </p:pic>
      <p:sp>
        <p:nvSpPr>
          <p:cNvPr id="238" name="Google Shape;238;p3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GD vs SGD vs Mini-Batch GD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GD vs SGD vs Mini-Batch GD</a:t>
            </a:r>
            <a:endParaRPr/>
          </a:p>
        </p:txBody>
      </p:sp>
      <p:sp>
        <p:nvSpPr>
          <p:cNvPr id="244" name="Google Shape;244;p3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245" name="Google Shape;245;p34"/>
          <p:cNvPicPr preferRelativeResize="0"/>
          <p:nvPr/>
        </p:nvPicPr>
        <p:blipFill rotWithShape="1">
          <a:blip r:embed="rId3">
            <a:alphaModFix/>
          </a:blip>
          <a:srcRect b="0" l="0" r="0" t="0"/>
          <a:stretch/>
        </p:blipFill>
        <p:spPr>
          <a:xfrm>
            <a:off x="729450" y="1989124"/>
            <a:ext cx="7993426" cy="28058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