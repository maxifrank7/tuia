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1" roundtripDataSignature="AMtx7mjCso9GQx+AXwDq1VPzghyXBZdd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font" Target="fonts/Raleway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Lato-regular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9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9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1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1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1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1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7" name="Google Shape;27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Google Shape;29;p1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" name="Google Shape;33;p1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1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12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12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" name="Google Shape;42;p1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1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p13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14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14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5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15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16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16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16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18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8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Modelos base</a:t>
            </a:r>
            <a:endParaRPr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-419"/>
              <a:t>Baseline model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Modelos base</a:t>
            </a:r>
            <a:endParaRPr/>
          </a:p>
        </p:txBody>
      </p:sp>
      <p:sp>
        <p:nvSpPr>
          <p:cNvPr id="93" name="Google Shape;93;p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Son modelos simples y por lo general ingenuos.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s-419" sz="1700"/>
              <a:t>Se utilizan como un punto de partida. Los algoritmos de ML/DL que desarrolle un equipo deben vencer las métricas de un modelo base.</a:t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Modelos base</a:t>
            </a:r>
            <a:endParaRPr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729450" y="2078875"/>
            <a:ext cx="7688700" cy="27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770"/>
              <a:buNone/>
            </a:pPr>
            <a:r>
              <a:rPr lang="es-419" sz="1700">
                <a:solidFill>
                  <a:srgbClr val="374151"/>
                </a:solidFill>
              </a:rPr>
              <a:t>Clasificación Binaria:</a:t>
            </a:r>
            <a:endParaRPr sz="1700">
              <a:solidFill>
                <a:srgbClr val="374151"/>
              </a:solidFill>
            </a:endParaRPr>
          </a:p>
          <a:p>
            <a:pPr indent="-336550" lvl="1" marL="9144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700"/>
              <a:buFont typeface="Lato"/>
              <a:buChar char="●"/>
            </a:pPr>
            <a:r>
              <a:rPr lang="es-419" sz="1700">
                <a:solidFill>
                  <a:srgbClr val="374151"/>
                </a:solidFill>
              </a:rPr>
              <a:t>Basado en la mayoría: clasificar todos los ejemplos en la clase mayoritaria. Es útil en problemas de clasificación binaria desequilibrados.</a:t>
            </a:r>
            <a:endParaRPr sz="1700">
              <a:solidFill>
                <a:srgbClr val="374151"/>
              </a:solidFill>
            </a:endParaRPr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700"/>
              <a:buFont typeface="Lato"/>
              <a:buChar char="●"/>
            </a:pPr>
            <a:r>
              <a:rPr lang="es-419" sz="1700">
                <a:solidFill>
                  <a:srgbClr val="374151"/>
                </a:solidFill>
              </a:rPr>
              <a:t>Clasificador aleatorio: asignar las clases de manera completamente aleatoria.</a:t>
            </a:r>
            <a:endParaRPr sz="1700">
              <a:solidFill>
                <a:srgbClr val="374151"/>
              </a:solidFill>
            </a:endParaRPr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700"/>
              <a:buFont typeface="Roboto"/>
              <a:buChar char="●"/>
            </a:pPr>
            <a:r>
              <a:rPr lang="es-419" sz="1700">
                <a:solidFill>
                  <a:srgbClr val="374151"/>
                </a:solidFill>
              </a:rPr>
              <a:t>Basado en algún criterio ingenuo. Por ejemplo, si se está analizando texto para clasificar una crítica positiva o negativa, se puede contar la cantidad de palabras positivas vs la cantidad de palabras negativas.</a:t>
            </a:r>
            <a:endParaRPr sz="1700">
              <a:solidFill>
                <a:srgbClr val="374151"/>
              </a:solidFill>
            </a:endParaRPr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700"/>
              <a:buChar char="●"/>
            </a:pPr>
            <a:r>
              <a:rPr lang="es-419" sz="1700">
                <a:solidFill>
                  <a:srgbClr val="374151"/>
                </a:solidFill>
              </a:rPr>
              <a:t>Benchmarks</a:t>
            </a:r>
            <a:endParaRPr sz="1700"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39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Modelos base</a:t>
            </a:r>
            <a:endParaRPr/>
          </a:p>
        </p:txBody>
      </p:sp>
      <p:sp>
        <p:nvSpPr>
          <p:cNvPr id="105" name="Google Shape;105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Clasificación Binaria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s-419" sz="1700"/>
              <a:t>¿Más ejemplos de modelos ingenuos?</a:t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Modelos base</a:t>
            </a:r>
            <a:endParaRPr/>
          </a:p>
        </p:txBody>
      </p:sp>
      <p:sp>
        <p:nvSpPr>
          <p:cNvPr id="111" name="Google Shape;111;p5"/>
          <p:cNvSpPr txBox="1"/>
          <p:nvPr>
            <p:ph idx="1" type="body"/>
          </p:nvPr>
        </p:nvSpPr>
        <p:spPr>
          <a:xfrm>
            <a:off x="729450" y="2078875"/>
            <a:ext cx="7688700" cy="27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770"/>
              <a:buNone/>
            </a:pPr>
            <a:r>
              <a:rPr lang="es-419" sz="1700">
                <a:solidFill>
                  <a:srgbClr val="374151"/>
                </a:solidFill>
              </a:rPr>
              <a:t>Regresión:</a:t>
            </a:r>
            <a:endParaRPr sz="1700">
              <a:solidFill>
                <a:srgbClr val="374151"/>
              </a:solidFill>
            </a:endParaRPr>
          </a:p>
          <a:p>
            <a:pPr indent="-336550" lvl="1" marL="91440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700"/>
              <a:buFont typeface="Lato"/>
              <a:buChar char="●"/>
            </a:pPr>
            <a:r>
              <a:rPr lang="es-419" sz="1700">
                <a:solidFill>
                  <a:srgbClr val="374151"/>
                </a:solidFill>
              </a:rPr>
              <a:t>Predicción de media.</a:t>
            </a:r>
            <a:endParaRPr sz="1700">
              <a:solidFill>
                <a:srgbClr val="374151"/>
              </a:solidFill>
            </a:endParaRPr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700"/>
              <a:buFont typeface="Roboto"/>
              <a:buChar char="●"/>
            </a:pPr>
            <a:r>
              <a:rPr lang="es-419" sz="1700">
                <a:solidFill>
                  <a:srgbClr val="374151"/>
                </a:solidFill>
              </a:rPr>
              <a:t>Predicción de mediana.</a:t>
            </a:r>
            <a:endParaRPr sz="1700">
              <a:solidFill>
                <a:srgbClr val="374151"/>
              </a:solidFill>
            </a:endParaRPr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700"/>
              <a:buFont typeface="Roboto"/>
              <a:buChar char="●"/>
            </a:pPr>
            <a:r>
              <a:rPr lang="es-419" sz="1700">
                <a:solidFill>
                  <a:srgbClr val="374151"/>
                </a:solidFill>
              </a:rPr>
              <a:t>Otros estadísticos.</a:t>
            </a:r>
            <a:endParaRPr sz="1700">
              <a:solidFill>
                <a:srgbClr val="374151"/>
              </a:solidFill>
            </a:endParaRPr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700"/>
              <a:buFont typeface="Lato"/>
              <a:buChar char="●"/>
            </a:pPr>
            <a:r>
              <a:rPr lang="es-419" sz="1700">
                <a:solidFill>
                  <a:srgbClr val="374151"/>
                </a:solidFill>
              </a:rPr>
              <a:t>Regresión lineal simple: utilizar una regresión lineal con una única característica para hacer predicciones.</a:t>
            </a:r>
            <a:endParaRPr sz="1700">
              <a:solidFill>
                <a:srgbClr val="374151"/>
              </a:solidFill>
            </a:endParaRPr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700"/>
              <a:buChar char="●"/>
            </a:pPr>
            <a:r>
              <a:rPr lang="es-419" sz="1700">
                <a:solidFill>
                  <a:srgbClr val="374151"/>
                </a:solidFill>
              </a:rPr>
              <a:t>Benchmarks</a:t>
            </a:r>
            <a:endParaRPr sz="1700"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39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Modelos base</a:t>
            </a:r>
            <a:endParaRPr/>
          </a:p>
        </p:txBody>
      </p:sp>
      <p:sp>
        <p:nvSpPr>
          <p:cNvPr id="117" name="Google Shape;117;p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Series temporales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700"/>
          </a:p>
        </p:txBody>
      </p:sp>
      <p:pic>
        <p:nvPicPr>
          <p:cNvPr id="118" name="Google Shape;11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8975" y="899323"/>
            <a:ext cx="5309300" cy="394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Modelos base</a:t>
            </a:r>
            <a:endParaRPr/>
          </a:p>
        </p:txBody>
      </p:sp>
      <p:sp>
        <p:nvSpPr>
          <p:cNvPr id="124" name="Google Shape;124;p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s-419"/>
              <a:t>Series temporales</a:t>
            </a:r>
            <a:endParaRPr/>
          </a:p>
        </p:txBody>
      </p:sp>
      <p:pic>
        <p:nvPicPr>
          <p:cNvPr id="125" name="Google Shape;12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6675" y="309025"/>
            <a:ext cx="5466999" cy="4628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