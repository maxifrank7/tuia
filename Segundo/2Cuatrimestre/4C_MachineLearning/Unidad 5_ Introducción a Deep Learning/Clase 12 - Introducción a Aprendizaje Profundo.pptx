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  <p:embeddedFont>
      <p:font typeface="Caveat Medium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9" roundtripDataSignature="AMtx7mhCdj3dQsoG+i+zJ+iu0fnbwnqw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44" Type="http://schemas.openxmlformats.org/officeDocument/2006/relationships/font" Target="fonts/Lato-bold.fntdata"/><Relationship Id="rId43" Type="http://schemas.openxmlformats.org/officeDocument/2006/relationships/font" Target="fonts/Lato-regular.fntdata"/><Relationship Id="rId46" Type="http://schemas.openxmlformats.org/officeDocument/2006/relationships/font" Target="fonts/Lato-boldItalic.fntdata"/><Relationship Id="rId45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aveatMedium-bold.fntdata"/><Relationship Id="rId47" Type="http://schemas.openxmlformats.org/officeDocument/2006/relationships/font" Target="fonts/CaveatMedium-regular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aleway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da5f0cba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5da5f0cba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5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5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5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5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5" name="Google Shape;25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5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5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5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5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5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5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5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5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9" name="Google Shape;59;p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6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6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9" name="Google Shape;69;p6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6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6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6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62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62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6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layground.tensorflow.or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playground.tensorflow.or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playground.tensorflow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Introducción a Aprendizaje Profundo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Deep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02" y="222225"/>
            <a:ext cx="6262151" cy="37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128" y="2976875"/>
            <a:ext cx="2335472" cy="20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Solución de Aprendizaje de Máquina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29450" y="2212675"/>
            <a:ext cx="10917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/>
              <a:t>Inputs (columnas)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729450" y="3346225"/>
            <a:ext cx="727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/>
              <a:t>Datos (filas)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304175" y="2684725"/>
            <a:ext cx="1218900" cy="6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Análisis exploratorio de datos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850050" y="2603425"/>
            <a:ext cx="1713300" cy="8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Preprocesamiento y feature engineering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934900" y="2540725"/>
            <a:ext cx="1877100" cy="94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Selección de features (manual, automática, regularización, etc)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6055650" y="1895375"/>
            <a:ext cx="187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las features poseen un significado directo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304175" y="3941825"/>
            <a:ext cx="1877100" cy="94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Entrenamiento de modelos, métricas de performance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719850" y="4108775"/>
            <a:ext cx="1501800" cy="61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Explicabilidad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7055375" y="3427525"/>
            <a:ext cx="18771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 busca realizar un análisis de datos previo para incorporar al modelo features importantes.</a:t>
            </a:r>
            <a:endParaRPr b="0"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Evitar overfitting</a:t>
            </a:r>
            <a:endParaRPr b="0"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" name="Google Shape;108;p3"/>
          <p:cNvCxnSpPr>
            <a:endCxn id="102" idx="1"/>
          </p:cNvCxnSpPr>
          <p:nvPr/>
        </p:nvCxnSpPr>
        <p:spPr>
          <a:xfrm>
            <a:off x="3523050" y="3015475"/>
            <a:ext cx="32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" name="Google Shape;109;p3"/>
          <p:cNvCxnSpPr>
            <a:stCxn id="102" idx="3"/>
            <a:endCxn id="103" idx="1"/>
          </p:cNvCxnSpPr>
          <p:nvPr/>
        </p:nvCxnSpPr>
        <p:spPr>
          <a:xfrm>
            <a:off x="5563350" y="3015475"/>
            <a:ext cx="37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0" name="Google Shape;110;p3"/>
          <p:cNvCxnSpPr>
            <a:stCxn id="105" idx="3"/>
            <a:endCxn id="106" idx="1"/>
          </p:cNvCxnSpPr>
          <p:nvPr/>
        </p:nvCxnSpPr>
        <p:spPr>
          <a:xfrm>
            <a:off x="4181275" y="4416575"/>
            <a:ext cx="5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1" name="Google Shape;111;p3"/>
          <p:cNvSpPr txBox="1"/>
          <p:nvPr/>
        </p:nvSpPr>
        <p:spPr>
          <a:xfrm>
            <a:off x="6340175" y="4216475"/>
            <a:ext cx="37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6942225" y="4526600"/>
            <a:ext cx="171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419" sz="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(los puntos suspensivos son porque falta hablar de productividad)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3" name="Google Shape;113;p3"/>
          <p:cNvCxnSpPr>
            <a:stCxn id="99" idx="3"/>
            <a:endCxn id="101" idx="1"/>
          </p:cNvCxnSpPr>
          <p:nvPr/>
        </p:nvCxnSpPr>
        <p:spPr>
          <a:xfrm>
            <a:off x="1821150" y="2433175"/>
            <a:ext cx="4830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3"/>
          <p:cNvCxnSpPr>
            <a:stCxn id="100" idx="3"/>
            <a:endCxn id="101" idx="1"/>
          </p:cNvCxnSpPr>
          <p:nvPr/>
        </p:nvCxnSpPr>
        <p:spPr>
          <a:xfrm flipH="1" rot="10800000">
            <a:off x="1456950" y="3015625"/>
            <a:ext cx="847200" cy="5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3"/>
          <p:cNvCxnSpPr>
            <a:stCxn id="103" idx="2"/>
            <a:endCxn id="105" idx="0"/>
          </p:cNvCxnSpPr>
          <p:nvPr/>
        </p:nvCxnSpPr>
        <p:spPr>
          <a:xfrm rot="5400000">
            <a:off x="4832400" y="1900675"/>
            <a:ext cx="451500" cy="3630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Solución de Aprendizaje Profundo</a:t>
            </a:r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729450" y="2078875"/>
            <a:ext cx="3120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/>
              <a:t>Inputs = 28 x 28 píxeles= 784 features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729450" y="3769900"/>
            <a:ext cx="2883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/>
              <a:t>Datos = conjunto de entrenamiento y validación (hiperparámetros)</a:t>
            </a:r>
            <a:endParaRPr/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8928" y="2304125"/>
            <a:ext cx="1758275" cy="1772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867900" y="2990375"/>
            <a:ext cx="90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3850028" y="2299475"/>
            <a:ext cx="773100" cy="4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4"/>
          <p:cNvCxnSpPr>
            <a:stCxn id="122" idx="3"/>
          </p:cNvCxnSpPr>
          <p:nvPr/>
        </p:nvCxnSpPr>
        <p:spPr>
          <a:xfrm flipH="1" rot="10800000">
            <a:off x="3612450" y="3545500"/>
            <a:ext cx="876900" cy="5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4"/>
          <p:cNvCxnSpPr>
            <a:stCxn id="123" idx="3"/>
            <a:endCxn id="124" idx="1"/>
          </p:cNvCxnSpPr>
          <p:nvPr/>
        </p:nvCxnSpPr>
        <p:spPr>
          <a:xfrm>
            <a:off x="6227203" y="3190476"/>
            <a:ext cx="64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4"/>
          <p:cNvSpPr txBox="1"/>
          <p:nvPr/>
        </p:nvSpPr>
        <p:spPr>
          <a:xfrm>
            <a:off x="4623125" y="4076825"/>
            <a:ext cx="165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solución end-to-end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16600" y="2519875"/>
            <a:ext cx="1723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cada píxel de una imagen o cada palabra de un texto</a:t>
            </a:r>
            <a:endParaRPr b="0" i="0" sz="15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216600" y="3369700"/>
            <a:ext cx="18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aprendizaje composicional</a:t>
            </a:r>
            <a:endParaRPr b="1"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593475" y="2133225"/>
            <a:ext cx="1530300" cy="1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arquitectura de una red neuronal: cantidad y distribución de neuronas</a:t>
            </a:r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Neuronas</a:t>
            </a:r>
            <a:endParaRPr/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00" y="2884838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4050" y="889163"/>
            <a:ext cx="3028950" cy="151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5"/>
          <p:cNvCxnSpPr/>
          <p:nvPr/>
        </p:nvCxnSpPr>
        <p:spPr>
          <a:xfrm flipH="1" rot="10800000">
            <a:off x="2928450" y="2096100"/>
            <a:ext cx="2378700" cy="12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0" name="Google Shape;140;p5"/>
          <p:cNvSpPr txBox="1"/>
          <p:nvPr/>
        </p:nvSpPr>
        <p:spPr>
          <a:xfrm>
            <a:off x="4392775" y="3099475"/>
            <a:ext cx="463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Emular el pensamiento humano para la toma de decisiones.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Están conectadas y reciben y envían señales eléctricas.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Pueden procesar señales para estar activadas o no.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Neuronas</a:t>
            </a:r>
            <a:endParaRPr/>
          </a:p>
        </p:txBody>
      </p:sp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El objetivo es crear un modelo matemático que modele de las entradas hasta las salidas basado en una estructura de una red neuronal.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Esta red, modelada por funciones matemáticas, tendrá ciertos parámetros que deben aprenderse de la inmensidad de datos del conjunto de entrenamiento.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Abstracción de la neurona</a:t>
            </a:r>
            <a:endParaRPr/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275" y="2096938"/>
            <a:ext cx="30289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5968575" y="2170338"/>
            <a:ext cx="1501500" cy="136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Abstracción de la neurona</a:t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821250" y="2207513"/>
            <a:ext cx="1501500" cy="1367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0" name="Google Shape;160;p8"/>
          <p:cNvCxnSpPr>
            <a:stCxn id="159" idx="0"/>
          </p:cNvCxnSpPr>
          <p:nvPr/>
        </p:nvCxnSpPr>
        <p:spPr>
          <a:xfrm>
            <a:off x="4572000" y="2207513"/>
            <a:ext cx="0" cy="13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050" y="2709262"/>
            <a:ext cx="423725" cy="42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8"/>
          <p:cNvPicPr preferRelativeResize="0"/>
          <p:nvPr/>
        </p:nvPicPr>
        <p:blipFill rotWithShape="1">
          <a:blip r:embed="rId4">
            <a:alphaModFix/>
          </a:blip>
          <a:srcRect b="27718" l="34347" r="29718" t="21260"/>
          <a:stretch/>
        </p:blipFill>
        <p:spPr>
          <a:xfrm>
            <a:off x="4713225" y="2709262"/>
            <a:ext cx="384573" cy="36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2683250" y="3393100"/>
            <a:ext cx="12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función lineal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5058050" y="3393100"/>
            <a:ext cx="123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función de activación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Abstracción de la neurona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3821250" y="2207513"/>
            <a:ext cx="1501500" cy="1367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1" name="Google Shape;171;p9"/>
          <p:cNvCxnSpPr>
            <a:stCxn id="170" idx="0"/>
          </p:cNvCxnSpPr>
          <p:nvPr/>
        </p:nvCxnSpPr>
        <p:spPr>
          <a:xfrm>
            <a:off x="4572000" y="2207513"/>
            <a:ext cx="0" cy="13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050" y="2709262"/>
            <a:ext cx="423725" cy="42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9"/>
          <p:cNvPicPr preferRelativeResize="0"/>
          <p:nvPr/>
        </p:nvPicPr>
        <p:blipFill rotWithShape="1">
          <a:blip r:embed="rId4">
            <a:alphaModFix/>
          </a:blip>
          <a:srcRect b="27718" l="34347" r="29718" t="21260"/>
          <a:stretch/>
        </p:blipFill>
        <p:spPr>
          <a:xfrm>
            <a:off x="4713225" y="2709262"/>
            <a:ext cx="384573" cy="36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2683250" y="3393100"/>
            <a:ext cx="12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función lineal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5058050" y="3393100"/>
            <a:ext cx="1233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función de activación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(podría ser lineal, veremos)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1375050" y="2691250"/>
            <a:ext cx="9141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entradas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7" name="Google Shape;177;p9"/>
          <p:cNvCxnSpPr>
            <a:stCxn id="176" idx="3"/>
            <a:endCxn id="170" idx="2"/>
          </p:cNvCxnSpPr>
          <p:nvPr/>
        </p:nvCxnSpPr>
        <p:spPr>
          <a:xfrm>
            <a:off x="2289150" y="2891350"/>
            <a:ext cx="153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p9"/>
          <p:cNvCxnSpPr>
            <a:stCxn id="170" idx="6"/>
            <a:endCxn id="179" idx="1"/>
          </p:cNvCxnSpPr>
          <p:nvPr/>
        </p:nvCxnSpPr>
        <p:spPr>
          <a:xfrm>
            <a:off x="5322750" y="2891363"/>
            <a:ext cx="11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9"/>
          <p:cNvSpPr txBox="1"/>
          <p:nvPr/>
        </p:nvSpPr>
        <p:spPr>
          <a:xfrm>
            <a:off x="6470250" y="2691275"/>
            <a:ext cx="9141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salida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631800" y="4407650"/>
            <a:ext cx="428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sigma(w0 + w1 x1 + w2 x2 + … wn xn)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" y="195263"/>
            <a:ext cx="908685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6214550" y="3627500"/>
            <a:ext cx="29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ecuaciones feed-forward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type="title"/>
          </p:nvPr>
        </p:nvSpPr>
        <p:spPr>
          <a:xfrm>
            <a:off x="6218725" y="888175"/>
            <a:ext cx="2510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Capa (layer)</a:t>
            </a:r>
            <a:endParaRPr/>
          </a:p>
        </p:txBody>
      </p:sp>
      <p:pic>
        <p:nvPicPr>
          <p:cNvPr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650" y="633275"/>
            <a:ext cx="5913925" cy="365251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 txBox="1"/>
          <p:nvPr/>
        </p:nvSpPr>
        <p:spPr>
          <a:xfrm>
            <a:off x="366550" y="777775"/>
            <a:ext cx="48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5480450" y="2849225"/>
            <a:ext cx="37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83225" y="1177975"/>
            <a:ext cx="48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x1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161650" y="2026200"/>
            <a:ext cx="48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161650" y="2960200"/>
            <a:ext cx="48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x3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5906575" y="2026200"/>
            <a:ext cx="313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^y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2774275" y="657550"/>
            <a:ext cx="1202100" cy="37083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0" name="Google Shape;200;p11"/>
          <p:cNvCxnSpPr>
            <a:stCxn id="191" idx="0"/>
            <a:endCxn id="199" idx="0"/>
          </p:cNvCxnSpPr>
          <p:nvPr/>
        </p:nvCxnSpPr>
        <p:spPr>
          <a:xfrm flipH="1" rot="5400000">
            <a:off x="5309425" y="-1276475"/>
            <a:ext cx="230700" cy="4098600"/>
          </a:xfrm>
          <a:prstGeom prst="curvedConnector3">
            <a:avLst>
              <a:gd fmla="val 304183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1" name="Google Shape;201;p11"/>
          <p:cNvSpPr/>
          <p:nvPr/>
        </p:nvSpPr>
        <p:spPr>
          <a:xfrm>
            <a:off x="321850" y="890100"/>
            <a:ext cx="1010400" cy="33633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112225" y="807438"/>
            <a:ext cx="950400" cy="33042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18150" y="4562600"/>
            <a:ext cx="485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 layer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2630875" y="4478275"/>
            <a:ext cx="485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hidden layer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5418400" y="4253400"/>
            <a:ext cx="365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output layer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5200" y="1206647"/>
            <a:ext cx="291587" cy="24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8050" y="1532675"/>
            <a:ext cx="365900" cy="2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8075" y="1455200"/>
            <a:ext cx="55245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Pesos y biases de una red neuronal</a:t>
            </a:r>
            <a:endParaRPr/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Cada neurona se relaciona con las neuronas de la capa anterior a través de un peso.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A su vez cada neurona tiene un bias asociado, que sería el término independiente.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Los pesos se denominan </a:t>
            </a:r>
            <a:endParaRPr sz="1700"/>
          </a:p>
        </p:txBody>
      </p:sp>
      <p:pic>
        <p:nvPicPr>
          <p:cNvPr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400" y="3611775"/>
            <a:ext cx="4572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 txBox="1"/>
          <p:nvPr/>
        </p:nvSpPr>
        <p:spPr>
          <a:xfrm>
            <a:off x="3727025" y="3896750"/>
            <a:ext cx="311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i: n° de neurona de la capa anterior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j: n° de neurona de la capa siguiente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k: n° de capa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000" y="0"/>
            <a:ext cx="8156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>
            <a:hlinkClick r:id="rId3"/>
          </p:cNvPr>
          <p:cNvSpPr txBox="1"/>
          <p:nvPr>
            <p:ph type="title"/>
          </p:nvPr>
        </p:nvSpPr>
        <p:spPr>
          <a:xfrm>
            <a:off x="729450" y="1322450"/>
            <a:ext cx="76884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4285"/>
              <a:buNone/>
            </a:pPr>
            <a:r>
              <a:rPr lang="es-419" sz="3500"/>
              <a:t>Cantidad de parámetros de una red neuronal</a:t>
            </a:r>
            <a:endParaRPr sz="3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Parámetros</a:t>
            </a:r>
            <a:endParaRPr/>
          </a:p>
        </p:txBody>
      </p:sp>
      <p:sp>
        <p:nvSpPr>
          <p:cNvPr id="232" name="Google Shape;23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En una regresión logística con 784 features, ¿cuantos </a:t>
            </a:r>
            <a:r>
              <a:rPr b="1" lang="es-419" sz="1700"/>
              <a:t>parámetros </a:t>
            </a:r>
            <a:r>
              <a:rPr lang="es-419" sz="1700"/>
              <a:t>había?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Parámetros</a:t>
            </a:r>
            <a:endParaRPr/>
          </a:p>
        </p:txBody>
      </p:sp>
      <p:sp>
        <p:nvSpPr>
          <p:cNvPr id="238" name="Google Shape;238;p16"/>
          <p:cNvSpPr txBox="1"/>
          <p:nvPr>
            <p:ph idx="1" type="body"/>
          </p:nvPr>
        </p:nvSpPr>
        <p:spPr>
          <a:xfrm>
            <a:off x="729450" y="2041525"/>
            <a:ext cx="76887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En una red neuronal con 4 variables explicativas, una capa oculta de 2 neuronas,  y una sola output, ¿cuántos parámetros hay?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Tenemos 4 pesos en cada neurona de la capa oculta (uno por cada input).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Hay 2 biases en la capa oculta (uno por cada neurona).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Tenemos 2 pesos en la salida (uno por cada neurona de la capa anterior).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A su vez hay 1 bias.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En total (4*2+2) + (2*1 + 1) = 13 parámetros.</a:t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Parámetros</a:t>
            </a:r>
            <a:endParaRPr/>
          </a:p>
        </p:txBody>
      </p:sp>
      <p:sp>
        <p:nvSpPr>
          <p:cNvPr id="244" name="Google Shape;244;p17"/>
          <p:cNvSpPr txBox="1"/>
          <p:nvPr>
            <p:ph idx="1" type="body"/>
          </p:nvPr>
        </p:nvSpPr>
        <p:spPr>
          <a:xfrm>
            <a:off x="729450" y="2078875"/>
            <a:ext cx="7688700" cy="27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una red neuronal con 784 variables explicativas, y una capa de salida de 10 outputs, ¿cuantos parámetros hay?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Tenemos 784 pesos en cada neurona de la capa de salida (784 pesos que provienen de las inputs y un bias) -&gt; 784 * 10 = </a:t>
            </a:r>
            <a:r>
              <a:rPr b="1"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7840 pesos.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su vez cada neurona en la capa de salida tiene un bias -&gt; </a:t>
            </a:r>
            <a:r>
              <a:rPr b="1"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biases.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total 7840 + 10 = </a:t>
            </a:r>
            <a:r>
              <a:rPr b="1"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7850 parámetros.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4022125" y="616450"/>
            <a:ext cx="485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esto sería equivalente a una muy simple red neuronal que toma como entradas el valor de cada pixel (28x28 entradas) y como salida están los diez dígitos.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Parámetros</a:t>
            </a:r>
            <a:endParaRPr/>
          </a:p>
        </p:txBody>
      </p:sp>
      <p:sp>
        <p:nvSpPr>
          <p:cNvPr id="251" name="Google Shape;251;p18"/>
          <p:cNvSpPr txBox="1"/>
          <p:nvPr>
            <p:ph idx="1" type="body"/>
          </p:nvPr>
        </p:nvSpPr>
        <p:spPr>
          <a:xfrm>
            <a:off x="729450" y="2078875"/>
            <a:ext cx="7688700" cy="27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una red neuronal con 784 variables explicativas, dos capas ocultas de 16 neuronas cada una, y una salida de 10 outputs, ¿cuántos parámetros hay?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Siguiendo la lógica anterior, serán: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(784 * 16 + 16) + (16 * 16 + 16) + (16 * 10 + 10) = 13002 parámetros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261475" y="3681775"/>
            <a:ext cx="167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tamaño capa n-1</a:t>
            </a:r>
            <a:endParaRPr b="1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1703350" y="4097275"/>
            <a:ext cx="155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tamaño capa n</a:t>
            </a:r>
            <a:endParaRPr b="1" i="0" sz="1500" u="none" cap="none" strike="noStrike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5590500" y="4115700"/>
            <a:ext cx="356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para n= 1, 2 y 3 en este caso (dos capas ocultas, una de salida)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5" name="Google Shape;255;p18"/>
          <p:cNvCxnSpPr>
            <a:stCxn id="252" idx="0"/>
          </p:cNvCxnSpPr>
          <p:nvPr/>
        </p:nvCxnSpPr>
        <p:spPr>
          <a:xfrm flipH="1" rot="10800000">
            <a:off x="1100425" y="3474775"/>
            <a:ext cx="12600" cy="20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18"/>
          <p:cNvCxnSpPr>
            <a:stCxn id="252" idx="0"/>
          </p:cNvCxnSpPr>
          <p:nvPr/>
        </p:nvCxnSpPr>
        <p:spPr>
          <a:xfrm flipH="1" rot="10800000">
            <a:off x="1100425" y="3474775"/>
            <a:ext cx="1606200" cy="20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18"/>
          <p:cNvCxnSpPr>
            <a:stCxn id="252" idx="0"/>
          </p:cNvCxnSpPr>
          <p:nvPr/>
        </p:nvCxnSpPr>
        <p:spPr>
          <a:xfrm flipH="1" rot="10800000">
            <a:off x="1100425" y="3483475"/>
            <a:ext cx="3149400" cy="19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p18"/>
          <p:cNvCxnSpPr>
            <a:stCxn id="253" idx="0"/>
          </p:cNvCxnSpPr>
          <p:nvPr/>
        </p:nvCxnSpPr>
        <p:spPr>
          <a:xfrm rot="10800000">
            <a:off x="1644250" y="3483475"/>
            <a:ext cx="834900" cy="613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18"/>
          <p:cNvCxnSpPr>
            <a:stCxn id="253" idx="0"/>
          </p:cNvCxnSpPr>
          <p:nvPr/>
        </p:nvCxnSpPr>
        <p:spPr>
          <a:xfrm rot="10800000">
            <a:off x="2124850" y="3466375"/>
            <a:ext cx="354300" cy="6309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" name="Google Shape;260;p18"/>
          <p:cNvCxnSpPr>
            <a:stCxn id="253" idx="0"/>
          </p:cNvCxnSpPr>
          <p:nvPr/>
        </p:nvCxnSpPr>
        <p:spPr>
          <a:xfrm flipH="1" rot="10800000">
            <a:off x="2479150" y="3466375"/>
            <a:ext cx="666000" cy="6309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p18"/>
          <p:cNvCxnSpPr>
            <a:stCxn id="253" idx="0"/>
          </p:cNvCxnSpPr>
          <p:nvPr/>
        </p:nvCxnSpPr>
        <p:spPr>
          <a:xfrm flipH="1" rot="10800000">
            <a:off x="2479150" y="3457975"/>
            <a:ext cx="1146600" cy="639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18"/>
          <p:cNvCxnSpPr>
            <a:stCxn id="253" idx="0"/>
          </p:cNvCxnSpPr>
          <p:nvPr/>
        </p:nvCxnSpPr>
        <p:spPr>
          <a:xfrm flipH="1" rot="10800000">
            <a:off x="2479150" y="3457975"/>
            <a:ext cx="2150100" cy="639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18"/>
          <p:cNvCxnSpPr>
            <a:stCxn id="253" idx="0"/>
          </p:cNvCxnSpPr>
          <p:nvPr/>
        </p:nvCxnSpPr>
        <p:spPr>
          <a:xfrm flipH="1" rot="10800000">
            <a:off x="2479150" y="3449575"/>
            <a:ext cx="2689800" cy="6477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>
            <a:hlinkClick r:id="rId3"/>
          </p:cNvPr>
          <p:cNvSpPr txBox="1"/>
          <p:nvPr>
            <p:ph type="title"/>
          </p:nvPr>
        </p:nvSpPr>
        <p:spPr>
          <a:xfrm>
            <a:off x="729450" y="1322450"/>
            <a:ext cx="76884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4285"/>
              <a:buNone/>
            </a:pPr>
            <a:r>
              <a:rPr lang="es-419" sz="3500"/>
              <a:t>Entrenamiento de una red neuronal</a:t>
            </a:r>
            <a:endParaRPr sz="3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Proceso de entrenamiento (ML/DL)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2166850" y="3465100"/>
            <a:ext cx="2259900" cy="70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Arquitectura del modelo de aprendizaje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967125" y="1993375"/>
            <a:ext cx="2621700" cy="65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Función de pérdida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(algo a minimizar/maximizar)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2209750" y="2015425"/>
            <a:ext cx="2174100" cy="61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Proceso de optimización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421675" y="3615700"/>
            <a:ext cx="100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entradas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5215475" y="3922425"/>
            <a:ext cx="117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predicciones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7184100" y="3583300"/>
            <a:ext cx="146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modelo óptimo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0" name="Google Shape;280;p20"/>
          <p:cNvCxnSpPr>
            <a:stCxn id="277" idx="3"/>
            <a:endCxn id="274" idx="1"/>
          </p:cNvCxnSpPr>
          <p:nvPr/>
        </p:nvCxnSpPr>
        <p:spPr>
          <a:xfrm>
            <a:off x="1425175" y="3815800"/>
            <a:ext cx="74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" name="Google Shape;281;p20"/>
          <p:cNvCxnSpPr>
            <a:stCxn id="274" idx="3"/>
            <a:endCxn id="279" idx="1"/>
          </p:cNvCxnSpPr>
          <p:nvPr/>
        </p:nvCxnSpPr>
        <p:spPr>
          <a:xfrm flipH="1" rot="10800000">
            <a:off x="4426750" y="3783400"/>
            <a:ext cx="2757300" cy="3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20"/>
          <p:cNvCxnSpPr>
            <a:endCxn id="275" idx="2"/>
          </p:cNvCxnSpPr>
          <p:nvPr/>
        </p:nvCxnSpPr>
        <p:spPr>
          <a:xfrm flipH="1" rot="10800000">
            <a:off x="5767375" y="2653075"/>
            <a:ext cx="510600" cy="11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" name="Google Shape;283;p20"/>
          <p:cNvCxnSpPr>
            <a:stCxn id="275" idx="1"/>
            <a:endCxn id="276" idx="3"/>
          </p:cNvCxnSpPr>
          <p:nvPr/>
        </p:nvCxnSpPr>
        <p:spPr>
          <a:xfrm rot="10800000">
            <a:off x="4383925" y="2323225"/>
            <a:ext cx="58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20"/>
          <p:cNvCxnSpPr>
            <a:stCxn id="276" idx="2"/>
            <a:endCxn id="274" idx="0"/>
          </p:cNvCxnSpPr>
          <p:nvPr/>
        </p:nvCxnSpPr>
        <p:spPr>
          <a:xfrm>
            <a:off x="3296800" y="2631025"/>
            <a:ext cx="0" cy="83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" name="Google Shape;285;p20"/>
          <p:cNvSpPr txBox="1"/>
          <p:nvPr/>
        </p:nvSpPr>
        <p:spPr>
          <a:xfrm>
            <a:off x="2896250" y="2871050"/>
            <a:ext cx="8223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419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modifico</a:t>
            </a:r>
            <a:endParaRPr b="1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4323400" y="1953922"/>
            <a:ext cx="8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419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penalizo</a:t>
            </a:r>
            <a:endParaRPr b="1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6905850" y="2918088"/>
            <a:ext cx="8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y_train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8" name="Google Shape;288;p20"/>
          <p:cNvCxnSpPr>
            <a:stCxn id="287" idx="0"/>
          </p:cNvCxnSpPr>
          <p:nvPr/>
        </p:nvCxnSpPr>
        <p:spPr>
          <a:xfrm rot="10800000">
            <a:off x="7209300" y="2589588"/>
            <a:ext cx="107700" cy="3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Proceso de entrenamiento: Función de pérdida</a:t>
            </a:r>
            <a:endParaRPr/>
          </a:p>
        </p:txBody>
      </p:sp>
      <p:sp>
        <p:nvSpPr>
          <p:cNvPr id="294" name="Google Shape;294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Error cuadrático Medio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Error porcentual medio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Huber Loss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Entropía binaria cruzada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Entropía binaria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https://www.tensorflow.org/api_docs/python/tf/keras/losses</a:t>
            </a:r>
            <a:endParaRPr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da5f0cbaa_0_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Proceso de entrenamiento: Arquitecturas</a:t>
            </a:r>
            <a:endParaRPr/>
          </a:p>
        </p:txBody>
      </p:sp>
      <p:sp>
        <p:nvSpPr>
          <p:cNvPr id="300" name="Google Shape;300;g35da5f0cbaa_0_11"/>
          <p:cNvSpPr txBox="1"/>
          <p:nvPr>
            <p:ph idx="1" type="body"/>
          </p:nvPr>
        </p:nvSpPr>
        <p:spPr>
          <a:xfrm>
            <a:off x="729450" y="2078875"/>
            <a:ext cx="25590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 sz="1700"/>
              <a:t>Tipos de layers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Fully connected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Convolucional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Recurrente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LSTM</a:t>
            </a:r>
            <a:endParaRPr sz="1700"/>
          </a:p>
        </p:txBody>
      </p:sp>
      <p:sp>
        <p:nvSpPr>
          <p:cNvPr id="301" name="Google Shape;301;g35da5f0cbaa_0_11"/>
          <p:cNvSpPr txBox="1"/>
          <p:nvPr>
            <p:ph idx="1" type="body"/>
          </p:nvPr>
        </p:nvSpPr>
        <p:spPr>
          <a:xfrm>
            <a:off x="3370500" y="2078875"/>
            <a:ext cx="24066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 sz="1700"/>
              <a:t>Hiperparámetros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n° de neuronas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n° de capas</a:t>
            </a:r>
            <a:endParaRPr sz="1700"/>
          </a:p>
        </p:txBody>
      </p:sp>
      <p:sp>
        <p:nvSpPr>
          <p:cNvPr id="302" name="Google Shape;302;g35da5f0cbaa_0_11"/>
          <p:cNvSpPr txBox="1"/>
          <p:nvPr>
            <p:ph idx="1" type="body"/>
          </p:nvPr>
        </p:nvSpPr>
        <p:spPr>
          <a:xfrm>
            <a:off x="6045800" y="2078875"/>
            <a:ext cx="2775900" cy="30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-419" sz="1700"/>
              <a:t>Funciones de activación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ninguna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sigmoide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softmax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tanh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ReLu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Leaky ReLu</a:t>
            </a:r>
            <a:endParaRPr sz="1700"/>
          </a:p>
        </p:txBody>
      </p:sp>
      <p:sp>
        <p:nvSpPr>
          <p:cNvPr id="303" name="Google Shape;303;g35da5f0cbaa_0_11"/>
          <p:cNvSpPr txBox="1"/>
          <p:nvPr/>
        </p:nvSpPr>
        <p:spPr>
          <a:xfrm>
            <a:off x="404750" y="41822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https://www.tensorflow.org/api_docs/python/tf/keras/layers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Proceso de entrenamiento: optimización</a:t>
            </a:r>
            <a:endParaRPr/>
          </a:p>
        </p:txBody>
      </p:sp>
      <p:sp>
        <p:nvSpPr>
          <p:cNvPr id="309" name="Google Shape;309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Algoritmos de optimización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s-419" sz="1700"/>
              <a:t>Gradiente descendiente </a:t>
            </a:r>
            <a:r>
              <a:rPr lang="es-419" sz="1700"/>
              <a:t>(con o sin momento). Por lo general </a:t>
            </a:r>
            <a:r>
              <a:rPr b="1" lang="es-419" sz="1700"/>
              <a:t>mini-batch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AdaGrad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RMSProp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Adam</a:t>
            </a:r>
            <a:endParaRPr sz="1700"/>
          </a:p>
        </p:txBody>
      </p:sp>
      <p:sp>
        <p:nvSpPr>
          <p:cNvPr id="310" name="Google Shape;310;p23"/>
          <p:cNvSpPr txBox="1"/>
          <p:nvPr/>
        </p:nvSpPr>
        <p:spPr>
          <a:xfrm>
            <a:off x="4957975" y="38281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https://www.tensorflow.org/api_docs/python/tf/keras/optimizers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Ecuaciones feed-forward</a:t>
            </a:r>
            <a:endParaRPr/>
          </a:p>
        </p:txBody>
      </p:sp>
      <p:sp>
        <p:nvSpPr>
          <p:cNvPr id="316" name="Google Shape;316;p24"/>
          <p:cNvSpPr txBox="1"/>
          <p:nvPr>
            <p:ph idx="1" type="body"/>
          </p:nvPr>
        </p:nvSpPr>
        <p:spPr>
          <a:xfrm>
            <a:off x="729450" y="20282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así se denomina a todo el conjunto de ecuaciones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Eventualmente se llega a una ecuación de salida que claramente depende de todos los parámetros de la red.</a:t>
            </a:r>
            <a:endParaRPr sz="1700"/>
          </a:p>
        </p:txBody>
      </p:sp>
      <p:pic>
        <p:nvPicPr>
          <p:cNvPr id="317" name="Google Shape;3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2175" y="2571750"/>
            <a:ext cx="48196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25" y="606550"/>
            <a:ext cx="8257155" cy="2984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25"/>
          <p:cNvCxnSpPr/>
          <p:nvPr/>
        </p:nvCxnSpPr>
        <p:spPr>
          <a:xfrm flipH="1" rot="10800000">
            <a:off x="607175" y="3744825"/>
            <a:ext cx="8086200" cy="33600"/>
          </a:xfrm>
          <a:prstGeom prst="straightConnector1">
            <a:avLst/>
          </a:prstGeom>
          <a:noFill/>
          <a:ln cap="flat" cmpd="sng" w="7620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p25"/>
          <p:cNvSpPr txBox="1"/>
          <p:nvPr/>
        </p:nvSpPr>
        <p:spPr>
          <a:xfrm>
            <a:off x="4016675" y="3980825"/>
            <a:ext cx="1025700" cy="4464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419" sz="17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Forward</a:t>
            </a:r>
            <a:endParaRPr b="1" i="0" sz="17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Ok y… cómo optimizo el proceso con Gradiente descendiente u otro método?</a:t>
            </a:r>
            <a:endParaRPr/>
          </a:p>
        </p:txBody>
      </p:sp>
      <p:sp>
        <p:nvSpPr>
          <p:cNvPr id="330" name="Google Shape;330;p26"/>
          <p:cNvSpPr txBox="1"/>
          <p:nvPr>
            <p:ph idx="1" type="body"/>
          </p:nvPr>
        </p:nvSpPr>
        <p:spPr>
          <a:xfrm>
            <a:off x="729450" y="2235375"/>
            <a:ext cx="7688700" cy="2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Para cada parámetro (de los que pueden ser miles o millones!) se deriva la función de pérdida respecto del parámetro.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Se computa con ello el gradiente (que es un vector de tamaño n°parámetros).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Nos movemos en la </a:t>
            </a:r>
            <a:r>
              <a:rPr b="1" lang="es-419" sz="1700"/>
              <a:t>dirección opuesta al gradiente.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Actualizamos los parámetros acorde a un </a:t>
            </a:r>
            <a:r>
              <a:rPr b="1" lang="es-419" sz="1700"/>
              <a:t>learning_rate</a:t>
            </a:r>
            <a:r>
              <a:rPr lang="es-419" sz="1700"/>
              <a:t>.</a:t>
            </a:r>
            <a:endParaRPr sz="1700"/>
          </a:p>
        </p:txBody>
      </p:sp>
      <p:sp>
        <p:nvSpPr>
          <p:cNvPr id="331" name="Google Shape;331;p26"/>
          <p:cNvSpPr/>
          <p:nvPr/>
        </p:nvSpPr>
        <p:spPr>
          <a:xfrm>
            <a:off x="7082925" y="2985825"/>
            <a:ext cx="337200" cy="1188900"/>
          </a:xfrm>
          <a:prstGeom prst="rightBrace">
            <a:avLst>
              <a:gd fmla="val 50000" name="adj1"/>
              <a:gd fmla="val 49654" name="adj2"/>
            </a:avLst>
          </a:prstGeom>
          <a:noFill/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7462350" y="3164625"/>
            <a:ext cx="158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estos tres pasos ya los hemos hecho</a:t>
            </a:r>
            <a:endParaRPr b="1" i="0" sz="1400" u="none" cap="none" strike="noStrike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758950" y="2285975"/>
            <a:ext cx="286800" cy="598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4" name="Google Shape;334;p26"/>
          <p:cNvCxnSpPr>
            <a:stCxn id="333" idx="1"/>
            <a:endCxn id="335" idx="1"/>
          </p:cNvCxnSpPr>
          <p:nvPr/>
        </p:nvCxnSpPr>
        <p:spPr>
          <a:xfrm>
            <a:off x="758950" y="2585375"/>
            <a:ext cx="699900" cy="2202600"/>
          </a:xfrm>
          <a:prstGeom prst="curvedConnector3">
            <a:avLst>
              <a:gd fmla="val -3402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6"/>
          <p:cNvSpPr txBox="1"/>
          <p:nvPr/>
        </p:nvSpPr>
        <p:spPr>
          <a:xfrm>
            <a:off x="1458825" y="4587875"/>
            <a:ext cx="485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nos faltaría ver cuánto dan las derivadas </a:t>
            </a:r>
            <a:endParaRPr b="1" i="0" sz="14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341" name="Google Shape;341;p27"/>
          <p:cNvSpPr txBox="1"/>
          <p:nvPr>
            <p:ph idx="1" type="body"/>
          </p:nvPr>
        </p:nvSpPr>
        <p:spPr>
          <a:xfrm>
            <a:off x="729450" y="4056675"/>
            <a:ext cx="76887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s-419" sz="1690"/>
              <a:t>9 parámetros</a:t>
            </a:r>
            <a:endParaRPr b="1" sz="16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1190"/>
          </a:p>
        </p:txBody>
      </p:sp>
      <p:pic>
        <p:nvPicPr>
          <p:cNvPr id="342" name="Google Shape;3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0138" y="2040738"/>
            <a:ext cx="5863714" cy="1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Ecuaciones forward</a:t>
            </a:r>
            <a:endParaRPr/>
          </a:p>
        </p:txBody>
      </p:sp>
      <p:pic>
        <p:nvPicPr>
          <p:cNvPr id="348" name="Google Shape;3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013" y="1318638"/>
            <a:ext cx="3286125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47" y="2320409"/>
            <a:ext cx="4447776" cy="13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Optimización de pesos y biases</a:t>
            </a:r>
            <a:endParaRPr/>
          </a:p>
        </p:txBody>
      </p:sp>
      <p:sp>
        <p:nvSpPr>
          <p:cNvPr id="355" name="Google Shape;355;p29"/>
          <p:cNvSpPr txBox="1"/>
          <p:nvPr>
            <p:ph idx="1" type="body"/>
          </p:nvPr>
        </p:nvSpPr>
        <p:spPr>
          <a:xfrm>
            <a:off x="729450" y="19102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Inicializo los pesos y biases en un valor aleatorio.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Para cada iteración: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 sz="1400"/>
              <a:t>Para cada fila del dataset de entrenamiento (SGD) o conjunto de filas (Mini-batch GD):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 sz="1400"/>
              <a:t>Obtengo, con el paso forward, la predicción.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 sz="1400"/>
              <a:t>Comparo esa predicción con el valor real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 sz="1400"/>
              <a:t>Obtengo un error dado por la función de pérdida. En este caso el MSE.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 sz="1400"/>
              <a:t>Calculo el gradiente</a:t>
            </a:r>
            <a:endParaRPr sz="1400"/>
          </a:p>
        </p:txBody>
      </p:sp>
      <p:pic>
        <p:nvPicPr>
          <p:cNvPr id="356" name="Google Shape;3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225" y="3828775"/>
            <a:ext cx="3036200" cy="11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Optimización de pesos y biases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62" name="Google Shape;362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Actualizo los pesos y biases</a:t>
            </a:r>
            <a:endParaRPr sz="1400"/>
          </a:p>
        </p:txBody>
      </p:sp>
      <p:pic>
        <p:nvPicPr>
          <p:cNvPr id="363" name="Google Shape;3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1375" y="2361525"/>
            <a:ext cx="3093475" cy="9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Ecuaciones Backpropagation</a:t>
            </a:r>
            <a:endParaRPr/>
          </a:p>
        </p:txBody>
      </p:sp>
      <p:pic>
        <p:nvPicPr>
          <p:cNvPr id="369" name="Google Shape;3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500" y="152400"/>
            <a:ext cx="2773550" cy="11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450" y="2073725"/>
            <a:ext cx="789622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1"/>
          <p:cNvSpPr txBox="1"/>
          <p:nvPr/>
        </p:nvSpPr>
        <p:spPr>
          <a:xfrm>
            <a:off x="801125" y="4326500"/>
            <a:ext cx="485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419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voy haciendo múltiples reglas de la cadena!</a:t>
            </a:r>
            <a:endParaRPr b="1" i="0" sz="17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Ecuaciones backpropagation</a:t>
            </a:r>
            <a:endParaRPr/>
          </a:p>
        </p:txBody>
      </p:sp>
      <p:sp>
        <p:nvSpPr>
          <p:cNvPr id="377" name="Google Shape;377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Hay una ecuación de backpropagation por cada parámetro.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/>
              <a:t>Es importante que los cálculos sean eficientes para obtener soluciones que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>
            <a:hlinkClick r:id="rId3"/>
          </p:cNvPr>
          <p:cNvSpPr txBox="1"/>
          <p:nvPr>
            <p:ph type="title"/>
          </p:nvPr>
        </p:nvSpPr>
        <p:spPr>
          <a:xfrm>
            <a:off x="729450" y="1322450"/>
            <a:ext cx="76884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 sz="3500"/>
              <a:t>https://playground.tensorflow.org</a:t>
            </a:r>
            <a:endParaRPr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