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Ay//hRhlZhlbqDpuDRVXgJalB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5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5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5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5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5" name="Google Shape;25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5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5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5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5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5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5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5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9" name="Google Shape;59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6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6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6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6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6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62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62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6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Introducción a Aprendizaje Profundo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Deep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Funciones de pérdida</a:t>
            </a:r>
            <a:endParaRPr/>
          </a:p>
        </p:txBody>
      </p:sp>
      <p:pic>
        <p:nvPicPr>
          <p:cNvPr id="93" name="Google Shape;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5575" y="2044800"/>
            <a:ext cx="4219300" cy="25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Funciones de pérdida</a:t>
            </a:r>
            <a:endParaRPr/>
          </a:p>
        </p:txBody>
      </p:sp>
      <p:sp>
        <p:nvSpPr>
          <p:cNvPr id="99" name="Google Shape;99;p35"/>
          <p:cNvSpPr txBox="1"/>
          <p:nvPr>
            <p:ph idx="1" type="body"/>
          </p:nvPr>
        </p:nvSpPr>
        <p:spPr>
          <a:xfrm>
            <a:off x="729450" y="2078875"/>
            <a:ext cx="76887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Las más comunes son las ya dadas.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Para clasificación, categorical_crossentropy o binary_crossentropy según si el problema es binario o multiclase.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Para regresión, MSE, o también Huber-Loss, que es una combinación de MSE y MAE (para que sea menos sensible a outliers).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es-419" sz="1700"/>
              <a:t>Aunque se pueden utilizar muchas más</a:t>
            </a:r>
            <a:r>
              <a:rPr lang="es-419" sz="1700"/>
              <a:t> - vemos en la documentación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Funciones de activación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Funciones de activación</a:t>
            </a:r>
            <a:endParaRPr/>
          </a:p>
        </p:txBody>
      </p:sp>
      <p:sp>
        <p:nvSpPr>
          <p:cNvPr id="110" name="Google Shape;110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Ninguna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Escalón (step)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Sigmoidea (y softmax)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Tangente hiperbólica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ReLU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Leaky ReLU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Si no uso función de activación…</a:t>
            </a:r>
            <a:endParaRPr/>
          </a:p>
        </p:txBody>
      </p:sp>
      <p:sp>
        <p:nvSpPr>
          <p:cNvPr id="116" name="Google Shape;116;p38"/>
          <p:cNvSpPr txBox="1"/>
          <p:nvPr/>
        </p:nvSpPr>
        <p:spPr>
          <a:xfrm>
            <a:off x="303650" y="2039600"/>
            <a:ext cx="531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x1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x2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x3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xn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38"/>
          <p:cNvSpPr/>
          <p:nvPr/>
        </p:nvSpPr>
        <p:spPr>
          <a:xfrm>
            <a:off x="1030475" y="1934000"/>
            <a:ext cx="531000" cy="13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Z1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38"/>
          <p:cNvSpPr/>
          <p:nvPr/>
        </p:nvSpPr>
        <p:spPr>
          <a:xfrm>
            <a:off x="1838575" y="1934000"/>
            <a:ext cx="531000" cy="13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38"/>
          <p:cNvSpPr/>
          <p:nvPr/>
        </p:nvSpPr>
        <p:spPr>
          <a:xfrm>
            <a:off x="2646675" y="1934000"/>
            <a:ext cx="531000" cy="13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Z2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38"/>
          <p:cNvSpPr/>
          <p:nvPr/>
        </p:nvSpPr>
        <p:spPr>
          <a:xfrm>
            <a:off x="3454775" y="1934000"/>
            <a:ext cx="531000" cy="13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a2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" name="Google Shape;121;p38"/>
          <p:cNvCxnSpPr>
            <a:stCxn id="116" idx="3"/>
            <a:endCxn id="117" idx="1"/>
          </p:cNvCxnSpPr>
          <p:nvPr/>
        </p:nvCxnSpPr>
        <p:spPr>
          <a:xfrm>
            <a:off x="834650" y="2632250"/>
            <a:ext cx="1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38"/>
          <p:cNvCxnSpPr>
            <a:stCxn id="117" idx="3"/>
            <a:endCxn id="118" idx="1"/>
          </p:cNvCxnSpPr>
          <p:nvPr/>
        </p:nvCxnSpPr>
        <p:spPr>
          <a:xfrm>
            <a:off x="1561475" y="2632250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38"/>
          <p:cNvCxnSpPr>
            <a:stCxn id="118" idx="3"/>
            <a:endCxn id="119" idx="1"/>
          </p:cNvCxnSpPr>
          <p:nvPr/>
        </p:nvCxnSpPr>
        <p:spPr>
          <a:xfrm>
            <a:off x="2369575" y="2632250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38"/>
          <p:cNvCxnSpPr>
            <a:stCxn id="119" idx="3"/>
            <a:endCxn id="120" idx="1"/>
          </p:cNvCxnSpPr>
          <p:nvPr/>
        </p:nvCxnSpPr>
        <p:spPr>
          <a:xfrm>
            <a:off x="3177675" y="2632250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25" name="Google Shape;1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8175" y="2006250"/>
            <a:ext cx="4853425" cy="2818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8"/>
          <p:cNvSpPr txBox="1"/>
          <p:nvPr/>
        </p:nvSpPr>
        <p:spPr>
          <a:xfrm>
            <a:off x="6111375" y="4395050"/>
            <a:ext cx="294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 lo mismo que hacer una regresión lineal múltiple.</a:t>
            </a:r>
            <a:endParaRPr b="1" i="0" sz="13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escalón</a:t>
            </a:r>
            <a:endParaRPr/>
          </a:p>
        </p:txBody>
      </p:sp>
      <p:pic>
        <p:nvPicPr>
          <p:cNvPr id="132" name="Google Shape;1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8839202" cy="278573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9"/>
          <p:cNvSpPr txBox="1"/>
          <p:nvPr/>
        </p:nvSpPr>
        <p:spPr>
          <a:xfrm>
            <a:off x="323700" y="4693100"/>
            <a:ext cx="490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se obtienen gradientes nulos y corta el entrenamiento</a:t>
            </a:r>
            <a:endParaRPr b="1" i="0" sz="13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sigmoide</a:t>
            </a:r>
            <a:endParaRPr/>
          </a:p>
        </p:txBody>
      </p:sp>
      <p:pic>
        <p:nvPicPr>
          <p:cNvPr id="139" name="Google Shape;13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50" y="1938100"/>
            <a:ext cx="5442524" cy="269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0"/>
          <p:cNvSpPr/>
          <p:nvPr/>
        </p:nvSpPr>
        <p:spPr>
          <a:xfrm>
            <a:off x="4820675" y="4042522"/>
            <a:ext cx="826650" cy="476750"/>
          </a:xfrm>
          <a:custGeom>
            <a:rect b="b" l="l" r="r" t="t"/>
            <a:pathLst>
              <a:path extrusionOk="0" h="19070" w="33066">
                <a:moveTo>
                  <a:pt x="5423" y="476"/>
                </a:moveTo>
                <a:cubicBezTo>
                  <a:pt x="11101" y="476"/>
                  <a:pt x="16995" y="-744"/>
                  <a:pt x="22455" y="816"/>
                </a:cubicBezTo>
                <a:cubicBezTo>
                  <a:pt x="27914" y="2375"/>
                  <a:pt x="34780" y="9169"/>
                  <a:pt x="32673" y="14441"/>
                </a:cubicBezTo>
                <a:cubicBezTo>
                  <a:pt x="30994" y="18642"/>
                  <a:pt x="24254" y="18529"/>
                  <a:pt x="19730" y="18529"/>
                </a:cubicBezTo>
                <a:cubicBezTo>
                  <a:pt x="15750" y="18529"/>
                  <a:pt x="11120" y="20056"/>
                  <a:pt x="7808" y="17848"/>
                </a:cubicBezTo>
                <a:cubicBezTo>
                  <a:pt x="4935" y="15932"/>
                  <a:pt x="1406" y="13970"/>
                  <a:pt x="314" y="10694"/>
                </a:cubicBezTo>
                <a:cubicBezTo>
                  <a:pt x="-942" y="6924"/>
                  <a:pt x="3696" y="2411"/>
                  <a:pt x="7467" y="1157"/>
                </a:cubicBezTo>
              </a:path>
            </a:pathLst>
          </a:custGeom>
          <a:noFill/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0"/>
          <p:cNvSpPr/>
          <p:nvPr/>
        </p:nvSpPr>
        <p:spPr>
          <a:xfrm>
            <a:off x="3125150" y="4042522"/>
            <a:ext cx="826650" cy="476750"/>
          </a:xfrm>
          <a:custGeom>
            <a:rect b="b" l="l" r="r" t="t"/>
            <a:pathLst>
              <a:path extrusionOk="0" h="19070" w="33066">
                <a:moveTo>
                  <a:pt x="5423" y="476"/>
                </a:moveTo>
                <a:cubicBezTo>
                  <a:pt x="11101" y="476"/>
                  <a:pt x="16995" y="-744"/>
                  <a:pt x="22455" y="816"/>
                </a:cubicBezTo>
                <a:cubicBezTo>
                  <a:pt x="27914" y="2375"/>
                  <a:pt x="34780" y="9169"/>
                  <a:pt x="32673" y="14441"/>
                </a:cubicBezTo>
                <a:cubicBezTo>
                  <a:pt x="30994" y="18642"/>
                  <a:pt x="24254" y="18529"/>
                  <a:pt x="19730" y="18529"/>
                </a:cubicBezTo>
                <a:cubicBezTo>
                  <a:pt x="15750" y="18529"/>
                  <a:pt x="11120" y="20056"/>
                  <a:pt x="7808" y="17848"/>
                </a:cubicBezTo>
                <a:cubicBezTo>
                  <a:pt x="4935" y="15932"/>
                  <a:pt x="1406" y="13970"/>
                  <a:pt x="314" y="10694"/>
                </a:cubicBezTo>
                <a:cubicBezTo>
                  <a:pt x="-942" y="6924"/>
                  <a:pt x="3696" y="2411"/>
                  <a:pt x="7467" y="1157"/>
                </a:cubicBezTo>
              </a:path>
            </a:pathLst>
          </a:custGeom>
          <a:noFill/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0"/>
          <p:cNvSpPr txBox="1"/>
          <p:nvPr/>
        </p:nvSpPr>
        <p:spPr>
          <a:xfrm>
            <a:off x="6003700" y="1993600"/>
            <a:ext cx="250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3" name="Google Shape;14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0257" y="1393800"/>
            <a:ext cx="4169917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0"/>
          <p:cNvSpPr txBox="1"/>
          <p:nvPr/>
        </p:nvSpPr>
        <p:spPr>
          <a:xfrm>
            <a:off x="5594100" y="1853850"/>
            <a:ext cx="3549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 puede dar una optimización, ya que los gradientes no son nulos.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Sin embargo existen intervalos (prácticamente todo el eje x) en los cuales los gradientes son muy bajos respecto del valor absoluto de x. Esto se conoce como “vanishing gradients” o gradientes que se desvanecen.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419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modelo aprende, pero de forma lenta.</a:t>
            </a:r>
            <a:endParaRPr b="1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Tangente hiperbólica</a:t>
            </a:r>
            <a:endParaRPr/>
          </a:p>
        </p:txBody>
      </p:sp>
      <p:pic>
        <p:nvPicPr>
          <p:cNvPr id="150" name="Google Shape;15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738" y="1853850"/>
            <a:ext cx="6024523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0150" y="801400"/>
            <a:ext cx="1851925" cy="7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1415"/>
              <a:buNone/>
            </a:pPr>
            <a:r>
              <a:rPr lang="es-419"/>
              <a:t>ReLU (</a:t>
            </a:r>
            <a:r>
              <a:rPr lang="es-419" sz="2572">
                <a:solidFill>
                  <a:srgbClr val="001D3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Rectified Linear Unit)</a:t>
            </a:r>
            <a:endParaRPr sz="3822"/>
          </a:p>
        </p:txBody>
      </p:sp>
      <p:pic>
        <p:nvPicPr>
          <p:cNvPr id="157" name="Google Shape;1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25" y="1818900"/>
            <a:ext cx="603061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2"/>
          <p:cNvSpPr txBox="1"/>
          <p:nvPr/>
        </p:nvSpPr>
        <p:spPr>
          <a:xfrm>
            <a:off x="6352850" y="1499700"/>
            <a:ext cx="2537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Además de que simplifica mucho las cuentas a la hora de hacer los pasos backward o forward, el entrenamiento resulta muy rápido (pendiente alta)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Sin embargo, para entradas negativas, el gradiente queda nulo, y se puede perder poder de entrenamiento.</a:t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Leaky ReLU</a:t>
            </a:r>
            <a:endParaRPr/>
          </a:p>
        </p:txBody>
      </p:sp>
      <p:pic>
        <p:nvPicPr>
          <p:cNvPr id="164" name="Google Shape;16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688" y="1801900"/>
            <a:ext cx="603061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3"/>
          <p:cNvSpPr txBox="1"/>
          <p:nvPr/>
        </p:nvSpPr>
        <p:spPr>
          <a:xfrm>
            <a:off x="6231600" y="4054425"/>
            <a:ext cx="29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esta pendiente es usualmente 0.01</a:t>
            </a:r>
            <a:endParaRPr b="1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Leaky ReLU</a:t>
            </a:r>
            <a:endParaRPr/>
          </a:p>
        </p:txBody>
      </p:sp>
      <p:sp>
        <p:nvSpPr>
          <p:cNvPr id="171" name="Google Shape;171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Resuelve el problema de las neuronas “muertas” de la ReLU al permitir seguir entrenando el modelo con valores negativos.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El pequeño flujo de información que deja pasar con entradas negativas sirve para continuar el entrenamiento, aunque de forma más lenta. 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Regularización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En caso de sufrir overfitting…</a:t>
            </a:r>
            <a:endParaRPr/>
          </a:p>
        </p:txBody>
      </p:sp>
      <p:sp>
        <p:nvSpPr>
          <p:cNvPr id="182" name="Google Shape;182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Ya vimos que en estos casos la regularización puede servir.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Una opción puede ser bajar la complejidad del modelo, cambiando la arquitectura.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Sin embargo puede que no haya una solución lo suficientemente óptima o entrenar una gran cantidad de arquitecturas distintas sea muy time-consuming.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¿Cómo podemos regularizar?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Regularización</a:t>
            </a:r>
            <a:endParaRPr/>
          </a:p>
        </p:txBody>
      </p:sp>
      <p:sp>
        <p:nvSpPr>
          <p:cNvPr id="188" name="Google Shape;188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Se puede utilizar las regularizaciones L1 y L2, esto es agregar a la función de costo un término ponderado de las normas de los parámetros de la red.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Dropout</a:t>
            </a:r>
            <a:endParaRPr/>
          </a:p>
        </p:txBody>
      </p:sp>
      <p:pic>
        <p:nvPicPr>
          <p:cNvPr id="194" name="Google Shape;19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6838" y="1696675"/>
            <a:ext cx="576262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8"/>
          <p:cNvSpPr txBox="1"/>
          <p:nvPr/>
        </p:nvSpPr>
        <p:spPr>
          <a:xfrm>
            <a:off x="417350" y="2087275"/>
            <a:ext cx="24441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cada peso se le asigna una determinada </a:t>
            </a:r>
            <a:r>
              <a:rPr b="1" i="0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probabilidad p</a:t>
            </a:r>
            <a:r>
              <a:rPr b="0" i="0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(fija por el usuario) de ser </a:t>
            </a:r>
            <a:r>
              <a:rPr b="1" i="1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nulo</a:t>
            </a:r>
            <a:r>
              <a:rPr b="0" i="0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De esta forma se eliminan conexiones que puede que hayan </a:t>
            </a:r>
            <a:r>
              <a:rPr b="1" i="0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sobre-aprendido</a:t>
            </a:r>
            <a:r>
              <a:rPr b="0" i="0" lang="es-419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agregando robustez.</a:t>
            </a:r>
            <a:endParaRPr b="0" i="0" sz="17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Ajuste de hiperparámetros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Ajuste de hiperparámetros (HP tuning)</a:t>
            </a:r>
            <a:endParaRPr/>
          </a:p>
        </p:txBody>
      </p:sp>
      <p:sp>
        <p:nvSpPr>
          <p:cNvPr id="206" name="Google Shape;206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Ajustar hiperparámetros de forma manual, con grid search o random search ahora es más costoso.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El enfoque bayesiano es más adecuado.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