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j0dPFZNy/7xEd4MKeKx+pZAJEl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FD5C7B-8FD9-4819-9D17-9AD300FF4DCB}">
  <a:tblStyle styleId="{8FFD5C7B-8FD9-4819-9D17-9AD300FF4DC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La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Roboto-bold.fntdata"/><Relationship Id="rId12" Type="http://schemas.openxmlformats.org/officeDocument/2006/relationships/slide" Target="slides/slide6.xml"/><Relationship Id="rId34" Type="http://schemas.openxmlformats.org/officeDocument/2006/relationships/font" Target="fonts/Roboto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6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6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6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6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6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6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6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6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7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7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7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7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7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7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7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p7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7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7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7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7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7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8" name="Google Shape;68;p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7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7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7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7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7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7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6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cikit-learn.org/stable/modules/model_evaluation.html#classification-metric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8910"/>
              <a:buNone/>
            </a:pPr>
            <a:r>
              <a:rPr lang="es-419" sz="4043"/>
              <a:t>Métricas</a:t>
            </a:r>
            <a:endParaRPr sz="404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7547"/>
              <a:buNone/>
            </a:pPr>
            <a:r>
              <a:rPr lang="es-419" sz="2711"/>
              <a:t>Midiendo el desempeño del modelo</a:t>
            </a:r>
            <a:endParaRPr sz="2711"/>
          </a:p>
        </p:txBody>
      </p:sp>
      <p:sp>
        <p:nvSpPr>
          <p:cNvPr id="87" name="Google Shape;87;p37"/>
          <p:cNvSpPr txBox="1"/>
          <p:nvPr/>
        </p:nvSpPr>
        <p:spPr>
          <a:xfrm>
            <a:off x="1072475" y="3380850"/>
            <a:ext cx="80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5202" y="751913"/>
            <a:ext cx="5712701" cy="41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8"/>
          <p:cNvSpPr txBox="1"/>
          <p:nvPr/>
        </p:nvSpPr>
        <p:spPr>
          <a:xfrm>
            <a:off x="766050" y="2528838"/>
            <a:ext cx="183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Definimos una clase como la “positiva”.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Matriz de confusión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39"/>
          <p:cNvGraphicFramePr/>
          <p:nvPr/>
        </p:nvGraphicFramePr>
        <p:xfrm>
          <a:off x="1237025" y="144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{8FFD5C7B-8FD9-4819-9D17-9AD300FF4DCB}</a:tableStyleId>
              </a:tblPr>
              <a:tblGrid>
                <a:gridCol w="3351400"/>
                <a:gridCol w="3351400"/>
              </a:tblGrid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positivo</a:t>
                      </a:r>
                      <a:endParaRPr b="1" sz="16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verdad.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y llovió efectivamente.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positivo (Error tipo 1)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pero no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8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Negativo (Error Tipo 2)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sí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Negativo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cierto.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efectivamente no llovió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40"/>
          <p:cNvGraphicFramePr/>
          <p:nvPr/>
        </p:nvGraphicFramePr>
        <p:xfrm>
          <a:off x="1237025" y="144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{8FFD5C7B-8FD9-4819-9D17-9AD300FF4DCB}</a:tableStyleId>
              </a:tblPr>
              <a:tblGrid>
                <a:gridCol w="3351400"/>
                <a:gridCol w="3351400"/>
              </a:tblGrid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positivo</a:t>
                      </a:r>
                      <a:endParaRPr b="1" sz="16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verdad.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y llovió efectivamente.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positivo (Error tipo 1)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pero no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8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Negativo (Error Tipo 2)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sí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Negativo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cierto.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efectivamente no llovió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pSp>
        <p:nvGrpSpPr>
          <p:cNvPr id="105" name="Google Shape;105;p40"/>
          <p:cNvGrpSpPr/>
          <p:nvPr/>
        </p:nvGrpSpPr>
        <p:grpSpPr>
          <a:xfrm>
            <a:off x="941243" y="1143263"/>
            <a:ext cx="7131442" cy="3874174"/>
            <a:chOff x="941243" y="1143263"/>
            <a:chExt cx="7131442" cy="3874174"/>
          </a:xfrm>
        </p:grpSpPr>
        <p:sp>
          <p:nvSpPr>
            <p:cNvPr id="106" name="Google Shape;106;p40"/>
            <p:cNvSpPr/>
            <p:nvPr/>
          </p:nvSpPr>
          <p:spPr>
            <a:xfrm rot="340971">
              <a:off x="3853102" y="2791434"/>
              <a:ext cx="4129395" cy="2026533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7" name="Google Shape;107;p40"/>
            <p:cNvSpPr/>
            <p:nvPr/>
          </p:nvSpPr>
          <p:spPr>
            <a:xfrm rot="341109">
              <a:off x="1018126" y="1345337"/>
              <a:ext cx="4167097" cy="1759127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8" name="Google Shape;108;p40"/>
          <p:cNvSpPr/>
          <p:nvPr/>
        </p:nvSpPr>
        <p:spPr>
          <a:xfrm>
            <a:off x="963050" y="1235900"/>
            <a:ext cx="7288500" cy="378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40"/>
          <p:cNvSpPr txBox="1"/>
          <p:nvPr>
            <p:ph type="title"/>
          </p:nvPr>
        </p:nvSpPr>
        <p:spPr>
          <a:xfrm>
            <a:off x="727650" y="6080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Accuracy</a:t>
            </a:r>
            <a:endParaRPr/>
          </a:p>
        </p:txBody>
      </p:sp>
      <p:sp>
        <p:nvSpPr>
          <p:cNvPr id="110" name="Google Shape;110;p40"/>
          <p:cNvSpPr txBox="1"/>
          <p:nvPr/>
        </p:nvSpPr>
        <p:spPr>
          <a:xfrm>
            <a:off x="2562000" y="743050"/>
            <a:ext cx="658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(VP+VN)/(VP+VN+FP+FN)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Accuracy</a:t>
            </a:r>
            <a:endParaRPr/>
          </a:p>
        </p:txBody>
      </p:sp>
      <p:sp>
        <p:nvSpPr>
          <p:cNvPr id="116" name="Google Shape;116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900"/>
              <a:t>Representa la cantidad de aciertos del modelo respecto del total de datos.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900"/>
              <a:t>Es una buena métrica para problemas cuyos dataset están </a:t>
            </a:r>
            <a:r>
              <a:rPr b="1" lang="es-419" sz="1900"/>
              <a:t>balanceados</a:t>
            </a:r>
            <a:r>
              <a:rPr lang="es-419" sz="1900"/>
              <a:t>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42"/>
          <p:cNvGraphicFramePr/>
          <p:nvPr/>
        </p:nvGraphicFramePr>
        <p:xfrm>
          <a:off x="1237025" y="144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{8FFD5C7B-8FD9-4819-9D17-9AD300FF4DCB}</a:tableStyleId>
              </a:tblPr>
              <a:tblGrid>
                <a:gridCol w="3351400"/>
                <a:gridCol w="3351400"/>
              </a:tblGrid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positivo</a:t>
                      </a:r>
                      <a:endParaRPr b="1" sz="16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verdad.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y llovió efectivamente.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positivo (Error tipo 1)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pero no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8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Negativo (Error Tipo 2)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sí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Negativo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cierto.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efectivamente no llovió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42"/>
          <p:cNvSpPr/>
          <p:nvPr/>
        </p:nvSpPr>
        <p:spPr>
          <a:xfrm>
            <a:off x="963050" y="1235900"/>
            <a:ext cx="3625500" cy="378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42"/>
          <p:cNvSpPr txBox="1"/>
          <p:nvPr>
            <p:ph type="title"/>
          </p:nvPr>
        </p:nvSpPr>
        <p:spPr>
          <a:xfrm>
            <a:off x="727650" y="6080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Recall</a:t>
            </a:r>
            <a:endParaRPr/>
          </a:p>
        </p:txBody>
      </p:sp>
      <p:sp>
        <p:nvSpPr>
          <p:cNvPr id="124" name="Google Shape;124;p42"/>
          <p:cNvSpPr txBox="1"/>
          <p:nvPr/>
        </p:nvSpPr>
        <p:spPr>
          <a:xfrm>
            <a:off x="2562000" y="743050"/>
            <a:ext cx="658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VP/(VP+FN) o VN/(FP+VN) según la clase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42"/>
          <p:cNvSpPr/>
          <p:nvPr/>
        </p:nvSpPr>
        <p:spPr>
          <a:xfrm>
            <a:off x="946650" y="1235900"/>
            <a:ext cx="3625500" cy="1863000"/>
          </a:xfrm>
          <a:prstGeom prst="flowChartConnecto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Recall</a:t>
            </a:r>
            <a:endParaRPr/>
          </a:p>
        </p:txBody>
      </p:sp>
      <p:sp>
        <p:nvSpPr>
          <p:cNvPr id="131" name="Google Shape;131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Representa, dentro de la misma clase, cuántas fueron correctamente clasificadas.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En este caso, para un problema de clases desbalanceadas, se puede encontrar que una clase tenga un recall muy alto y la otra muy bajo, de esta forma se detecta un problema en el modelo, no así en el accuracy,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44"/>
          <p:cNvGraphicFramePr/>
          <p:nvPr/>
        </p:nvGraphicFramePr>
        <p:xfrm>
          <a:off x="1237025" y="144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{8FFD5C7B-8FD9-4819-9D17-9AD300FF4DCB}</a:tableStyleId>
              </a:tblPr>
              <a:tblGrid>
                <a:gridCol w="3351400"/>
                <a:gridCol w="3351400"/>
              </a:tblGrid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positivo</a:t>
                      </a:r>
                      <a:endParaRPr b="1" sz="16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verdad.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y llovió efectivamente.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positivo (Error tipo 1)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positivo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llovía pero no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8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Falso Negativo (Error Tipo 2)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falso.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sí llovió.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Verdadero Negativo</a:t>
                      </a:r>
                      <a:endParaRPr b="1"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Interpretación: Predijiste algo negativo y es cierto.</a:t>
                      </a:r>
                      <a:endParaRPr sz="1425" u="none" cap="none" strike="noStrike">
                        <a:solidFill>
                          <a:srgbClr val="202124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s-419" sz="1425" u="none" cap="none" strike="noStrike">
                          <a:solidFill>
                            <a:srgbClr val="2021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Predijiste que no llovía y efectivamente no llovió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44"/>
          <p:cNvSpPr/>
          <p:nvPr/>
        </p:nvSpPr>
        <p:spPr>
          <a:xfrm>
            <a:off x="963050" y="1235900"/>
            <a:ext cx="7113300" cy="18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44"/>
          <p:cNvSpPr txBox="1"/>
          <p:nvPr>
            <p:ph type="title"/>
          </p:nvPr>
        </p:nvSpPr>
        <p:spPr>
          <a:xfrm>
            <a:off x="727650" y="6080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Precisión</a:t>
            </a:r>
            <a:endParaRPr/>
          </a:p>
        </p:txBody>
      </p:sp>
      <p:sp>
        <p:nvSpPr>
          <p:cNvPr id="139" name="Google Shape;139;p44"/>
          <p:cNvSpPr txBox="1"/>
          <p:nvPr/>
        </p:nvSpPr>
        <p:spPr>
          <a:xfrm>
            <a:off x="2562000" y="743050"/>
            <a:ext cx="658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VP/(VP+FP) o VN/(FN+VN) según la clase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44"/>
          <p:cNvSpPr/>
          <p:nvPr/>
        </p:nvSpPr>
        <p:spPr>
          <a:xfrm>
            <a:off x="946650" y="1235900"/>
            <a:ext cx="3625500" cy="1863000"/>
          </a:xfrm>
          <a:prstGeom prst="flowChartConnecto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Precisión</a:t>
            </a:r>
            <a:endParaRPr/>
          </a:p>
        </p:txBody>
      </p:sp>
      <p:sp>
        <p:nvSpPr>
          <p:cNvPr id="146" name="Google Shape;146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De las clases que se han clasificado como positivas, indica cuántas realmente lo son.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A menores falsos positivos, mayor la precisión.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52" name="Google Shape;152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53" name="Google Shape;15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625" y="1318651"/>
            <a:ext cx="8416349" cy="359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F1 Score (o F-Measure)</a:t>
            </a:r>
            <a:endParaRPr/>
          </a:p>
        </p:txBody>
      </p:sp>
      <p:sp>
        <p:nvSpPr>
          <p:cNvPr id="159" name="Google Shape;159;p47"/>
          <p:cNvSpPr txBox="1"/>
          <p:nvPr>
            <p:ph idx="1" type="body"/>
          </p:nvPr>
        </p:nvSpPr>
        <p:spPr>
          <a:xfrm>
            <a:off x="729450" y="2078875"/>
            <a:ext cx="76887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Podría ser bueno considerar una métrica que tenga en cuenta tanto la precisión como el recall.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Se utiliza una media armónica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850">
                <a:solidFill>
                  <a:srgbClr val="44444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F1 = 2 * ((recall * precision)/(recall + precision))</a:t>
            </a:r>
            <a:endParaRPr sz="1850">
              <a:solidFill>
                <a:srgbClr val="44444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850">
                <a:solidFill>
                  <a:srgbClr val="44444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En problemas de alto recall y baja precisión o viceversa, un promedio no tiene un buen desempeño. La media armónica penaliza mejor si alguno de los dos es bajo (ya que están multiplicando)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Accuracy, Recall, Precision &amp; F1</a:t>
            </a:r>
            <a:endParaRPr/>
          </a:p>
        </p:txBody>
      </p:sp>
      <p:sp>
        <p:nvSpPr>
          <p:cNvPr id="165" name="Google Shape;165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700"/>
              <a:t>Recall, Precision y F1 se calculan para una clase en específico. Es decir, a la hora de evaluarlos, para cada uno de ellos hay que realizar dos cálculos, uno para cada clase.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Accuracy se calcula para todo el conjunto. Sólo hay una accuracy.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Accuracy, Recall, Precision &amp; F1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71" name="Google Shape;171;p49"/>
          <p:cNvSpPr txBox="1"/>
          <p:nvPr>
            <p:ph idx="1" type="body"/>
          </p:nvPr>
        </p:nvSpPr>
        <p:spPr>
          <a:xfrm>
            <a:off x="729450" y="2032975"/>
            <a:ext cx="7688700" cy="29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ct val="92857"/>
              <a:buNone/>
            </a:pPr>
            <a:r>
              <a:rPr lang="es-419" sz="2000">
                <a:solidFill>
                  <a:srgbClr val="374151"/>
                </a:solidFill>
              </a:rPr>
              <a:t>La </a:t>
            </a:r>
            <a:r>
              <a:rPr b="1" lang="es-419" sz="2000">
                <a:solidFill>
                  <a:srgbClr val="374151"/>
                </a:solidFill>
              </a:rPr>
              <a:t>exactitud</a:t>
            </a:r>
            <a:r>
              <a:rPr lang="es-419" sz="2000">
                <a:solidFill>
                  <a:srgbClr val="374151"/>
                </a:solidFill>
              </a:rPr>
              <a:t> (accuracy) se utiliza cuando los Verdaderos Positivos (True Positives) y los Verdaderos Negativos (True Negatives) son más importantes. Es una métrica útil cuando el dataset está </a:t>
            </a:r>
            <a:r>
              <a:rPr b="1" lang="es-419" sz="2000">
                <a:solidFill>
                  <a:srgbClr val="374151"/>
                </a:solidFill>
              </a:rPr>
              <a:t>balanceado.</a:t>
            </a:r>
            <a:endParaRPr b="1" sz="20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ct val="92857"/>
              <a:buNone/>
            </a:pPr>
            <a:r>
              <a:rPr lang="es-419" sz="2000">
                <a:solidFill>
                  <a:srgbClr val="374151"/>
                </a:solidFill>
              </a:rPr>
              <a:t>Si los Falsos Positivos (False Positives) son mucho más importantes que los FN, conviene utilizar la </a:t>
            </a:r>
            <a:r>
              <a:rPr b="1" lang="es-419" sz="2000">
                <a:solidFill>
                  <a:srgbClr val="374151"/>
                </a:solidFill>
              </a:rPr>
              <a:t>precisión</a:t>
            </a:r>
            <a:r>
              <a:rPr lang="es-419" sz="2000">
                <a:solidFill>
                  <a:srgbClr val="374151"/>
                </a:solidFill>
              </a:rPr>
              <a:t>.</a:t>
            </a:r>
            <a:endParaRPr sz="20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ct val="92857"/>
              <a:buNone/>
            </a:pPr>
            <a:r>
              <a:rPr lang="es-419" sz="2000">
                <a:solidFill>
                  <a:srgbClr val="374151"/>
                </a:solidFill>
              </a:rPr>
              <a:t>Si los Falsos Negativos (False Negatives) son mucho más importantes que los FP,  conviene utilizar el </a:t>
            </a:r>
            <a:r>
              <a:rPr b="1" lang="es-419" sz="2000">
                <a:solidFill>
                  <a:srgbClr val="374151"/>
                </a:solidFill>
              </a:rPr>
              <a:t>recall</a:t>
            </a:r>
            <a:r>
              <a:rPr lang="es-419" sz="2000">
                <a:solidFill>
                  <a:srgbClr val="374151"/>
                </a:solidFill>
              </a:rPr>
              <a:t>.</a:t>
            </a:r>
            <a:endParaRPr sz="20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ct val="92857"/>
              <a:buNone/>
            </a:pPr>
            <a:r>
              <a:rPr lang="es-419" sz="2000">
                <a:solidFill>
                  <a:srgbClr val="374151"/>
                </a:solidFill>
              </a:rPr>
              <a:t>El </a:t>
            </a:r>
            <a:r>
              <a:rPr b="1" lang="es-419" sz="2000">
                <a:solidFill>
                  <a:srgbClr val="374151"/>
                </a:solidFill>
              </a:rPr>
              <a:t>F1-Score</a:t>
            </a:r>
            <a:r>
              <a:rPr lang="es-419" sz="2000">
                <a:solidFill>
                  <a:srgbClr val="374151"/>
                </a:solidFill>
              </a:rPr>
              <a:t> se utiliza cuando los Falsos Negativos (False Negatives) y los Falsos Positivos (False Positives) son importantes. Y es una muy buena métrica para datos </a:t>
            </a:r>
            <a:r>
              <a:rPr b="1" lang="es-419" sz="2000">
                <a:solidFill>
                  <a:srgbClr val="374151"/>
                </a:solidFill>
              </a:rPr>
              <a:t>desbalanceados</a:t>
            </a:r>
            <a:r>
              <a:rPr lang="es-419" sz="2000">
                <a:solidFill>
                  <a:srgbClr val="374151"/>
                </a:solidFill>
              </a:rPr>
              <a:t>.</a:t>
            </a:r>
            <a:endParaRPr sz="20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428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multiclase: Matriz de confusión 3x3</a:t>
            </a:r>
            <a:endParaRPr/>
          </a:p>
        </p:txBody>
      </p:sp>
      <p:pic>
        <p:nvPicPr>
          <p:cNvPr id="177" name="Google Shape;1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7332" y="1958500"/>
            <a:ext cx="4952950" cy="15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0"/>
          <p:cNvSpPr txBox="1"/>
          <p:nvPr/>
        </p:nvSpPr>
        <p:spPr>
          <a:xfrm>
            <a:off x="0" y="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18181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50"/>
          <p:cNvSpPr txBox="1"/>
          <p:nvPr/>
        </p:nvSpPr>
        <p:spPr>
          <a:xfrm>
            <a:off x="1125550" y="3773650"/>
            <a:ext cx="75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50"/>
          <p:cNvSpPr txBox="1"/>
          <p:nvPr/>
        </p:nvSpPr>
        <p:spPr>
          <a:xfrm>
            <a:off x="1478925" y="3865275"/>
            <a:ext cx="753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¿Cuánto es la accuracy?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multiclase: Matriz de confusión 3x3</a:t>
            </a:r>
            <a:endParaRPr/>
          </a:p>
        </p:txBody>
      </p:sp>
      <p:pic>
        <p:nvPicPr>
          <p:cNvPr id="186" name="Google Shape;18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7332" y="1958500"/>
            <a:ext cx="4952950" cy="15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1"/>
          <p:cNvSpPr txBox="1"/>
          <p:nvPr/>
        </p:nvSpPr>
        <p:spPr>
          <a:xfrm>
            <a:off x="274850" y="3760475"/>
            <a:ext cx="4423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●"/>
            </a:pPr>
            <a:r>
              <a:rPr b="0" i="0" lang="es-419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Precision(Apple)=120/(120+102+93)=0.38</a:t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●"/>
            </a:pPr>
            <a:r>
              <a:rPr b="0" i="0" lang="es-419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Precision(Banana)=230/(16+230+77) = 0.71</a:t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●"/>
            </a:pPr>
            <a:r>
              <a:rPr b="0" i="0" lang="es-419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Precision(Mango)=170/(32+92+77) = 0.84</a:t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1"/>
          <p:cNvSpPr txBox="1"/>
          <p:nvPr/>
        </p:nvSpPr>
        <p:spPr>
          <a:xfrm>
            <a:off x="0" y="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18181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51"/>
          <p:cNvSpPr txBox="1"/>
          <p:nvPr/>
        </p:nvSpPr>
        <p:spPr>
          <a:xfrm>
            <a:off x="4698650" y="3760475"/>
            <a:ext cx="4541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●"/>
            </a:pPr>
            <a:r>
              <a:rPr b="0" i="0" lang="es-419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Recall(Apple)=120/(120+16+32)=0.71</a:t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●"/>
            </a:pPr>
            <a:r>
              <a:rPr b="0" i="0" lang="es-419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Recall(Banana)=230/(230+102+92) = 0.54</a:t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●"/>
            </a:pPr>
            <a:r>
              <a:rPr b="0" i="0" lang="es-419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Recall(Mango)=170/(170+93+77) = 0.50</a:t>
            </a:r>
            <a:endParaRPr b="0" i="0" sz="1500" u="none" cap="none" strike="noStrike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Implementación en sklearn</a:t>
            </a:r>
            <a:endParaRPr/>
          </a:p>
        </p:txBody>
      </p:sp>
      <p:sp>
        <p:nvSpPr>
          <p:cNvPr id="195" name="Google Shape;195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https://scikit-learn.org/stable/modules/model_evaluation.html#classification-metrics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Curva ROC (</a:t>
            </a:r>
            <a:r>
              <a:rPr lang="es-419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Receiver Operating Characteristics)</a:t>
            </a:r>
            <a:endParaRPr/>
          </a:p>
        </p:txBody>
      </p:sp>
      <p:pic>
        <p:nvPicPr>
          <p:cNvPr id="201" name="Google Shape;20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2171700"/>
            <a:ext cx="33813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6075" y="3382000"/>
            <a:ext cx="23336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1313" y="2162175"/>
            <a:ext cx="23431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Curva ROC</a:t>
            </a:r>
            <a:endParaRPr/>
          </a:p>
        </p:txBody>
      </p:sp>
      <p:sp>
        <p:nvSpPr>
          <p:cNvPr id="209" name="Google Shape;209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Entrenar un modelo de clasificación.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Obtener, para los datos de </a:t>
            </a:r>
            <a:r>
              <a:rPr b="1" lang="es-419" sz="1700"/>
              <a:t>validación</a:t>
            </a:r>
            <a:r>
              <a:rPr lang="es-419" sz="1700"/>
              <a:t>,  las probabilidades de pertenencia a una de las clases.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Para cada umbral entre 0 y 1, con una cierta granularidad:</a:t>
            </a:r>
            <a:endParaRPr sz="17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Se calcula TPR y FPR. </a:t>
            </a:r>
            <a:br>
              <a:rPr lang="es-419" sz="1700"/>
            </a:b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Curva ROC</a:t>
            </a:r>
            <a:endParaRPr/>
          </a:p>
        </p:txBody>
      </p:sp>
      <p:sp>
        <p:nvSpPr>
          <p:cNvPr id="215" name="Google Shape;215;p55"/>
          <p:cNvSpPr txBox="1"/>
          <p:nvPr>
            <p:ph idx="1" type="body"/>
          </p:nvPr>
        </p:nvSpPr>
        <p:spPr>
          <a:xfrm>
            <a:off x="729450" y="2078875"/>
            <a:ext cx="7688700" cy="28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Para un umbral=0, el modelo siempre predice la clase positiva. Por lo que FN=0 y resulta TPR=1. Además TN=0 así que FPR=1 también.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Para un umbral=1, el modelo siempre predice la clase negativa. Por lo que TP=0 entonces TPR=0 y  FP=0 por lo que FPR=0 también.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Los puntos (0,0) y (1,1) son parte entonces de la gráfica siempre.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A medida que varía el umbral, obtendremos puntos (FPR, TPR). Se espera que TPR&gt;FPR (que el modelo prediga más True Positives que False Positives), con lo cual la curva final debería quedar por encima de </a:t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000" y="1128250"/>
            <a:ext cx="3966000" cy="362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6"/>
          <p:cNvSpPr txBox="1"/>
          <p:nvPr/>
        </p:nvSpPr>
        <p:spPr>
          <a:xfrm>
            <a:off x="3651500" y="512650"/>
            <a:ext cx="554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 modelo perfecto sería aquel cuya curva ROC contenga el punto (0,1). Dado que punto representa que no hay falsos positivos ni falsos negativos.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2" name="Google Shape;222;p56"/>
          <p:cNvCxnSpPr/>
          <p:nvPr/>
        </p:nvCxnSpPr>
        <p:spPr>
          <a:xfrm flipH="1" rot="10800000">
            <a:off x="3180325" y="1273900"/>
            <a:ext cx="26400" cy="307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56"/>
          <p:cNvCxnSpPr>
            <a:stCxn id="221" idx="2"/>
          </p:cNvCxnSpPr>
          <p:nvPr/>
        </p:nvCxnSpPr>
        <p:spPr>
          <a:xfrm rot="10800000">
            <a:off x="3193550" y="1313050"/>
            <a:ext cx="3232500" cy="3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56"/>
          <p:cNvSpPr/>
          <p:nvPr/>
        </p:nvSpPr>
        <p:spPr>
          <a:xfrm>
            <a:off x="3127975" y="1208450"/>
            <a:ext cx="222600" cy="261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57"/>
          <p:cNvPicPr preferRelativeResize="0"/>
          <p:nvPr/>
        </p:nvPicPr>
        <p:blipFill rotWithShape="1">
          <a:blip r:embed="rId3">
            <a:alphaModFix/>
          </a:blip>
          <a:srcRect b="6277" l="4834" r="8056" t="5171"/>
          <a:stretch/>
        </p:blipFill>
        <p:spPr>
          <a:xfrm>
            <a:off x="2333987" y="588950"/>
            <a:ext cx="4476024" cy="455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AUC - Area Under the Curve (Área bajo la curva)</a:t>
            </a:r>
            <a:endParaRPr/>
          </a:p>
        </p:txBody>
      </p:sp>
      <p:sp>
        <p:nvSpPr>
          <p:cNvPr id="235" name="Google Shape;235;p58"/>
          <p:cNvSpPr txBox="1"/>
          <p:nvPr>
            <p:ph idx="1" type="body"/>
          </p:nvPr>
        </p:nvSpPr>
        <p:spPr>
          <a:xfrm>
            <a:off x="729450" y="2078875"/>
            <a:ext cx="7688700" cy="28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Es el área debajo de la curva ROC. Su valor máximo es 1 (cuadrado de lado 1).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Puede ser entonces un indicador de desempeño.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Mientras más cercano esté a 1, implica que la curva ROC está más cerca de contener al punto (0,1).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Si es 0.5, el modelo es tan malo como predecir random.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ROC - AUC</a:t>
            </a:r>
            <a:endParaRPr/>
          </a:p>
        </p:txBody>
      </p:sp>
      <p:sp>
        <p:nvSpPr>
          <p:cNvPr id="241" name="Google Shape;241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Suma algo interesante que es la </a:t>
            </a:r>
            <a:r>
              <a:rPr b="1" lang="es-419" sz="1700"/>
              <a:t>variación del umbral</a:t>
            </a:r>
            <a:r>
              <a:rPr lang="es-419" sz="1700"/>
              <a:t>. Se puede intentar optimizar la elección de este umbral, por fuera de lo que tengan preestablecido los modelos de clasificación (usualmente seteado en 0.5).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