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b/b2X1bpvvN9rKMZ+AoPUuQqZ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04a008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904a008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904a008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904a008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04a0082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04a0082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904a0082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904a0082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6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6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6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6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6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6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6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p6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6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6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6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6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6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6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7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7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7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7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8" name="Google Shape;48;p7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7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p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7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p7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7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1" name="Google Shape;61;p7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7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7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4" name="Google Shape;64;p72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7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8" name="Google Shape;68;p7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7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7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7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7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7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7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7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6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imbalanced-learn.org/stable/references/generated/imblearn.over_sampling.SMOTE.html" TargetMode="External"/><Relationship Id="rId4" Type="http://schemas.openxmlformats.org/officeDocument/2006/relationships/hyperlink" Target="https://www.youtube.com/watch?v=NvrfSntsm7w&amp;t=23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Balanceo de clases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Balanceo de clases</a:t>
            </a:r>
            <a:endParaRPr/>
          </a:p>
        </p:txBody>
      </p:sp>
      <p:sp>
        <p:nvSpPr>
          <p:cNvPr id="92" name="Google Shape;92;p61"/>
          <p:cNvSpPr txBox="1"/>
          <p:nvPr>
            <p:ph idx="1" type="body"/>
          </p:nvPr>
        </p:nvSpPr>
        <p:spPr>
          <a:xfrm>
            <a:off x="729450" y="2078875"/>
            <a:ext cx="7688700" cy="26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El desbalanceo s</a:t>
            </a:r>
            <a:r>
              <a:rPr lang="es-419" sz="1700"/>
              <a:t>e da cuando hay una significativa mayor cantidad de datos de una clase respecto de la otra.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Muy común en problemas de detección de fraude (más “no fraudes” que “fraudes”), diagnóstico médico (más “benigno” que “maligno”), entre otros.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Los modelos pueden tender a estar más sesgados por reducir el costo global de todo el conjunto de muestras, lo que resulta en reducir más el costo de la clase que más datos tiene a reducir el costo de la clase que menos datos tiene.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para corregir el </a:t>
            </a:r>
            <a:r>
              <a:rPr i="1" lang="es-419"/>
              <a:t>desbalanceo</a:t>
            </a:r>
            <a:r>
              <a:rPr lang="es-419"/>
              <a:t> de clases</a:t>
            </a:r>
            <a:endParaRPr/>
          </a:p>
        </p:txBody>
      </p:sp>
      <p:sp>
        <p:nvSpPr>
          <p:cNvPr id="98" name="Google Shape;98;p62"/>
          <p:cNvSpPr txBox="1"/>
          <p:nvPr>
            <p:ph idx="1" type="body"/>
          </p:nvPr>
        </p:nvSpPr>
        <p:spPr>
          <a:xfrm>
            <a:off x="729450" y="2078875"/>
            <a:ext cx="7688700" cy="26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Asignar </a:t>
            </a:r>
            <a:r>
              <a:rPr b="1" lang="es-419" sz="1700"/>
              <a:t>pesos distintos en la función de costo</a:t>
            </a:r>
            <a:r>
              <a:rPr lang="es-419" sz="1700"/>
              <a:t>: que los pesos de la clase minoritaria sean mucho mayores que los pesos de la clase mayoritaria.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Sobre los datos de entrenamiento, generar muchas más observaciones que tengan datos de la clase minoritaria: </a:t>
            </a:r>
            <a:r>
              <a:rPr b="1" i="1" lang="es-419" sz="1700"/>
              <a:t>oversampling</a:t>
            </a:r>
            <a:r>
              <a:rPr lang="es-419" sz="1700"/>
              <a:t>. Por ejemplo duplicar esas observaciones.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Sobre los datos de entrenamiento, descartar observaciones que tengan datos de la clase mayoritaria: </a:t>
            </a:r>
            <a:r>
              <a:rPr b="1" i="1" lang="es-419" sz="1700"/>
              <a:t>undersampling</a:t>
            </a:r>
            <a:r>
              <a:rPr lang="es-419" sz="1700"/>
              <a:t>. 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d904a0082a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75" y="688175"/>
            <a:ext cx="8839200" cy="412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para corregir el </a:t>
            </a:r>
            <a:r>
              <a:rPr i="1" lang="es-419"/>
              <a:t>desbalanceo</a:t>
            </a:r>
            <a:r>
              <a:rPr lang="es-419"/>
              <a:t> de clases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9" name="Google Shape;109;p63"/>
          <p:cNvSpPr txBox="1"/>
          <p:nvPr>
            <p:ph idx="1" type="body"/>
          </p:nvPr>
        </p:nvSpPr>
        <p:spPr>
          <a:xfrm>
            <a:off x="729450" y="1941350"/>
            <a:ext cx="7688700" cy="30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400"/>
              <a:t>Los métodos de oversampling y undersampling pueden ser tan simples como duplicar filas que ya existen o descartar filas.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400"/>
              <a:t>Pero también pueden ser más complejos, por ejemplo SMOTE (ver </a:t>
            </a:r>
            <a:r>
              <a:rPr lang="es-419" sz="1400" u="sng">
                <a:solidFill>
                  <a:schemeClr val="hlink"/>
                </a:solidFill>
                <a:hlinkClick r:id="rId3"/>
              </a:rPr>
              <a:t>aquí</a:t>
            </a:r>
            <a:r>
              <a:rPr lang="es-419" sz="1400"/>
              <a:t>) propone: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s-419" sz="1400"/>
              <a:t>Identificar algunos puntos aleatorios de la clase minoritaria.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sz="1400"/>
              <a:t>Para cada punto de esos puntos, obtiene sus k-Nearest Neighbours (los k puntos más cercanos).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sz="1400"/>
              <a:t>Para cada uno de esos vecinos, genera una muestra que esté en algún lugar del medio de las dos.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sz="1400"/>
              <a:t>Repite los pasos hasta generar todos los datos deseados.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400"/>
              <a:t>Visualización: </a:t>
            </a:r>
            <a:r>
              <a:rPr lang="es-419" sz="1400" u="sng">
                <a:solidFill>
                  <a:schemeClr val="hlink"/>
                </a:solidFill>
                <a:hlinkClick r:id="rId4"/>
              </a:rPr>
              <a:t>https://www.youtube.com/watch?v=NvrfSntsm7w&amp;t=23s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d904a0082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425" y="0"/>
            <a:ext cx="5225149" cy="522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d904a0082a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5875"/>
            <a:ext cx="8839200" cy="2651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d904a0082a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d904a0082a_0_17"/>
          <p:cNvSpPr txBox="1"/>
          <p:nvPr/>
        </p:nvSpPr>
        <p:spPr>
          <a:xfrm>
            <a:off x="56025" y="4102275"/>
            <a:ext cx="1658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/>
              <a:t>https://imbalanced-learn.org/stable/auto_examples/over-sampling/plot_comparison_over_sampling.html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