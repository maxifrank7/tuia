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5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34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6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  <p:sldId id="291" r:id="rId41"/>
  </p:sldIdLst>
  <p:sldSz cy="5143500" cx="9144000"/>
  <p:notesSz cx="6858000" cy="9144000"/>
  <p:embeddedFontLst>
    <p:embeddedFont>
      <p:font typeface="Raleway"/>
      <p:regular r:id="rId42"/>
      <p:bold r:id="rId43"/>
      <p:italic r:id="rId44"/>
      <p:boldItalic r:id="rId45"/>
    </p:embeddedFont>
    <p:embeddedFont>
      <p:font typeface="Caveat"/>
      <p:regular r:id="rId46"/>
      <p:bold r:id="rId47"/>
    </p:embeddedFont>
    <p:embeddedFont>
      <p:font typeface="Roboto"/>
      <p:regular r:id="rId48"/>
      <p:bold r:id="rId49"/>
      <p:italic r:id="rId50"/>
      <p:boldItalic r:id="rId51"/>
    </p:embeddedFont>
    <p:embeddedFont>
      <p:font typeface="Lato"/>
      <p:regular r:id="rId52"/>
      <p:bold r:id="rId53"/>
      <p:italic r:id="rId54"/>
      <p:boldItalic r:id="rId55"/>
    </p:embeddedFont>
    <p:embeddedFont>
      <p:font typeface="Caveat Medium"/>
      <p:regular r:id="rId56"/>
      <p:bold r:id="rId57"/>
    </p:embeddedFont>
    <p:embeddedFont>
      <p:font typeface="Caveat SemiBold"/>
      <p:regular r:id="rId58"/>
      <p:bold r:id="rId59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  <p:ext uri="GoogleSlidesCustomDataVersion2">
      <go:slidesCustomData xmlns:go="http://customooxmlschemas.google.com/" r:id="rId60" roundtripDataSignature="AMtx7mjDl0Ep8LgRr+jXm/DZacVugCDUA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5.xml"/><Relationship Id="rId42" Type="http://schemas.openxmlformats.org/officeDocument/2006/relationships/font" Target="fonts/Raleway-regular.fntdata"/><Relationship Id="rId41" Type="http://schemas.openxmlformats.org/officeDocument/2006/relationships/slide" Target="slides/slide36.xml"/><Relationship Id="rId44" Type="http://schemas.openxmlformats.org/officeDocument/2006/relationships/font" Target="fonts/Raleway-italic.fntdata"/><Relationship Id="rId43" Type="http://schemas.openxmlformats.org/officeDocument/2006/relationships/font" Target="fonts/Raleway-bold.fntdata"/><Relationship Id="rId46" Type="http://schemas.openxmlformats.org/officeDocument/2006/relationships/font" Target="fonts/Caveat-regular.fntdata"/><Relationship Id="rId45" Type="http://schemas.openxmlformats.org/officeDocument/2006/relationships/font" Target="fonts/Raleway-boldItalic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48" Type="http://schemas.openxmlformats.org/officeDocument/2006/relationships/font" Target="fonts/Roboto-regular.fntdata"/><Relationship Id="rId47" Type="http://schemas.openxmlformats.org/officeDocument/2006/relationships/font" Target="fonts/Caveat-bold.fntdata"/><Relationship Id="rId49" Type="http://schemas.openxmlformats.org/officeDocument/2006/relationships/font" Target="fonts/Roboto-bold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33" Type="http://schemas.openxmlformats.org/officeDocument/2006/relationships/slide" Target="slides/slide28.xml"/><Relationship Id="rId32" Type="http://schemas.openxmlformats.org/officeDocument/2006/relationships/slide" Target="slides/slide27.xml"/><Relationship Id="rId35" Type="http://schemas.openxmlformats.org/officeDocument/2006/relationships/slide" Target="slides/slide30.xml"/><Relationship Id="rId34" Type="http://schemas.openxmlformats.org/officeDocument/2006/relationships/slide" Target="slides/slide29.xml"/><Relationship Id="rId37" Type="http://schemas.openxmlformats.org/officeDocument/2006/relationships/slide" Target="slides/slide32.xml"/><Relationship Id="rId36" Type="http://schemas.openxmlformats.org/officeDocument/2006/relationships/slide" Target="slides/slide31.xml"/><Relationship Id="rId39" Type="http://schemas.openxmlformats.org/officeDocument/2006/relationships/slide" Target="slides/slide34.xml"/><Relationship Id="rId38" Type="http://schemas.openxmlformats.org/officeDocument/2006/relationships/slide" Target="slides/slide33.xml"/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60" Type="http://customschemas.google.com/relationships/presentationmetadata" Target="metadata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29" Type="http://schemas.openxmlformats.org/officeDocument/2006/relationships/slide" Target="slides/slide24.xml"/><Relationship Id="rId51" Type="http://schemas.openxmlformats.org/officeDocument/2006/relationships/font" Target="fonts/Roboto-boldItalic.fntdata"/><Relationship Id="rId50" Type="http://schemas.openxmlformats.org/officeDocument/2006/relationships/font" Target="fonts/Roboto-italic.fntdata"/><Relationship Id="rId53" Type="http://schemas.openxmlformats.org/officeDocument/2006/relationships/font" Target="fonts/Lato-bold.fntdata"/><Relationship Id="rId52" Type="http://schemas.openxmlformats.org/officeDocument/2006/relationships/font" Target="fonts/Lato-regular.fntdata"/><Relationship Id="rId11" Type="http://schemas.openxmlformats.org/officeDocument/2006/relationships/slide" Target="slides/slide6.xml"/><Relationship Id="rId55" Type="http://schemas.openxmlformats.org/officeDocument/2006/relationships/font" Target="fonts/Lato-boldItalic.fntdata"/><Relationship Id="rId10" Type="http://schemas.openxmlformats.org/officeDocument/2006/relationships/slide" Target="slides/slide5.xml"/><Relationship Id="rId54" Type="http://schemas.openxmlformats.org/officeDocument/2006/relationships/font" Target="fonts/Lato-italic.fntdata"/><Relationship Id="rId13" Type="http://schemas.openxmlformats.org/officeDocument/2006/relationships/slide" Target="slides/slide8.xml"/><Relationship Id="rId57" Type="http://schemas.openxmlformats.org/officeDocument/2006/relationships/font" Target="fonts/CaveatMedium-bold.fntdata"/><Relationship Id="rId12" Type="http://schemas.openxmlformats.org/officeDocument/2006/relationships/slide" Target="slides/slide7.xml"/><Relationship Id="rId56" Type="http://schemas.openxmlformats.org/officeDocument/2006/relationships/font" Target="fonts/CaveatMedium-regular.fntdata"/><Relationship Id="rId15" Type="http://schemas.openxmlformats.org/officeDocument/2006/relationships/slide" Target="slides/slide10.xml"/><Relationship Id="rId59" Type="http://schemas.openxmlformats.org/officeDocument/2006/relationships/font" Target="fonts/CaveatSemiBold-bold.fntdata"/><Relationship Id="rId14" Type="http://schemas.openxmlformats.org/officeDocument/2006/relationships/slide" Target="slides/slide9.xml"/><Relationship Id="rId58" Type="http://schemas.openxmlformats.org/officeDocument/2006/relationships/font" Target="fonts/CaveatSemiBold-regular.fntdata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4" name="Google Shape;84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0" name="Google Shape;90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7" name="Google Shape;97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3" name="Google Shape;103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9" name="Google Shape;109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4" name="Google Shape;114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4" name="Google Shape;124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0" name="Google Shape;130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7" name="Google Shape;137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6" name="Google Shape;146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7" name="Google Shape;157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4" name="Google Shape;164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1" name="Google Shape;171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7" name="Google Shape;177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4" name="Google Shape;184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0" name="Google Shape;190;p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6" name="Google Shape;206;p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4" name="Google Shape;214;p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p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3" name="Google Shape;223;p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p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40" name="Google Shape;240;p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4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p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46" name="Google Shape;246;p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4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p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56" name="Google Shape;256;p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9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g3cc0d557a04_1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61" name="Google Shape;261;g3cc0d557a04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4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g3cc0d557a04_1_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66" name="Google Shape;266;g3cc0d557a04_1_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0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g3cc0d557a04_1_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72" name="Google Shape;272;g3cc0d557a04_1_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0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Google Shape;281;g3cc0d557a04_1_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82" name="Google Shape;282;g3cc0d557a04_1_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8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Google Shape;289;g3cc0d557a04_1_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90" name="Google Shape;290;g3cc0d557a04_1_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4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Google Shape;295;g3cc0d557a04_1_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96" name="Google Shape;296;g3cc0d557a04_1_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0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Google Shape;301;g3cc0d557a04_1_3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02" name="Google Shape;302;g3cc0d557a04_1_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7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Google Shape;308;g3cc0d557a04_1_4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09" name="Google Shape;309;g3cc0d557a04_1_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2" name="Shape 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Google Shape;313;g3cc0d557a04_1_4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14" name="Google Shape;314;g3cc0d557a04_1_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7" name="Shape 3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" name="Google Shape;318;g3cc0d557a04_1_4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19" name="Google Shape;319;g3cc0d557a04_1_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2" name="Shape 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Google Shape;323;g3cc0d557a04_1_5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24" name="Google Shape;324;g3cc0d557a04_1_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7" name="Shape 3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8" name="Google Shape;328;g3cc0d557a04_1_5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29" name="Google Shape;329;g3cc0d557a04_1_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2" name="Shape 3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3" name="Google Shape;333;g3cc0d557a04_1_6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34" name="Google Shape;334;g3cc0d557a04_1_6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8" name="Shape 3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9" name="Google Shape;339;g3cc0d557a04_1_6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40" name="Google Shape;340;g3cc0d557a04_1_6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lt2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65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1" name="Google Shape;11;p65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12" name="Google Shape;12;p65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" name="Google Shape;13;p65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4" name="Google Shape;14;p65"/>
          <p:cNvSpPr txBox="1"/>
          <p:nvPr>
            <p:ph type="ctrTitle"/>
          </p:nvPr>
        </p:nvSpPr>
        <p:spPr>
          <a:xfrm>
            <a:off x="729450" y="1322450"/>
            <a:ext cx="7688100" cy="1664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15" name="Google Shape;15;p65"/>
          <p:cNvSpPr txBox="1"/>
          <p:nvPr>
            <p:ph idx="1" type="subTitle"/>
          </p:nvPr>
        </p:nvSpPr>
        <p:spPr>
          <a:xfrm>
            <a:off x="729627" y="3172900"/>
            <a:ext cx="7688100" cy="54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16" name="Google Shape;16;p65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66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9" name="Google Shape;19;p66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20" name="Google Shape;20;p66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" name="Google Shape;21;p66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2" name="Google Shape;22;p66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23" name="Google Shape;23;p66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24" name="Google Shape;24;p66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dk1"/>
        </a:solidFill>
      </p:bgPr>
    </p:bg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6" name="Google Shape;26;p67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27" name="Google Shape;27;p67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" name="Google Shape;28;p67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9" name="Google Shape;29;p67"/>
          <p:cNvSpPr txBox="1"/>
          <p:nvPr>
            <p:ph type="title"/>
          </p:nvPr>
        </p:nvSpPr>
        <p:spPr>
          <a:xfrm>
            <a:off x="729450" y="1322450"/>
            <a:ext cx="7688400" cy="151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0" name="Google Shape;30;p67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68"/>
          <p:cNvSpPr/>
          <p:nvPr/>
        </p:nvSpPr>
        <p:spPr>
          <a:xfrm>
            <a:off x="0" y="0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33" name="Google Shape;33;p68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34" name="Google Shape;34;p68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" name="Google Shape;35;p68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36" name="Google Shape;36;p68"/>
          <p:cNvSpPr txBox="1"/>
          <p:nvPr>
            <p:ph type="title"/>
          </p:nvPr>
        </p:nvSpPr>
        <p:spPr>
          <a:xfrm>
            <a:off x="730000" y="1318650"/>
            <a:ext cx="3300900" cy="168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37" name="Google Shape;37;p68"/>
          <p:cNvSpPr txBox="1"/>
          <p:nvPr>
            <p:ph idx="1" type="subTitle"/>
          </p:nvPr>
        </p:nvSpPr>
        <p:spPr>
          <a:xfrm>
            <a:off x="724950" y="3161525"/>
            <a:ext cx="3300900" cy="75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38" name="Google Shape;38;p68"/>
          <p:cNvSpPr txBox="1"/>
          <p:nvPr>
            <p:ph idx="2" type="body"/>
          </p:nvPr>
        </p:nvSpPr>
        <p:spPr>
          <a:xfrm>
            <a:off x="5174225" y="1352625"/>
            <a:ext cx="3374400" cy="302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39" name="Google Shape;39;p68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69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70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44" name="Google Shape;44;p70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45" name="Google Shape;45;p70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" name="Google Shape;46;p70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47" name="Google Shape;47;p70"/>
          <p:cNvSpPr txBox="1"/>
          <p:nvPr>
            <p:ph type="title"/>
          </p:nvPr>
        </p:nvSpPr>
        <p:spPr>
          <a:xfrm>
            <a:off x="729450" y="1318650"/>
            <a:ext cx="7688400" cy="53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48" name="Google Shape;48;p70"/>
          <p:cNvSpPr txBox="1"/>
          <p:nvPr>
            <p:ph idx="1" type="body"/>
          </p:nvPr>
        </p:nvSpPr>
        <p:spPr>
          <a:xfrm>
            <a:off x="729325" y="2078875"/>
            <a:ext cx="3774300" cy="22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49" name="Google Shape;49;p70"/>
          <p:cNvSpPr txBox="1"/>
          <p:nvPr>
            <p:ph idx="2" type="body"/>
          </p:nvPr>
        </p:nvSpPr>
        <p:spPr>
          <a:xfrm>
            <a:off x="4643604" y="2078875"/>
            <a:ext cx="3774300" cy="22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50" name="Google Shape;50;p70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71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53" name="Google Shape;53;p71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54" name="Google Shape;54;p71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5" name="Google Shape;55;p71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56" name="Google Shape;56;p71"/>
          <p:cNvSpPr txBox="1"/>
          <p:nvPr>
            <p:ph type="title"/>
          </p:nvPr>
        </p:nvSpPr>
        <p:spPr>
          <a:xfrm>
            <a:off x="729450" y="1318650"/>
            <a:ext cx="7688400" cy="53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57" name="Google Shape;57;p71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72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60" name="Google Shape;60;p72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61" name="Google Shape;61;p72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2" name="Google Shape;62;p72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63" name="Google Shape;63;p72"/>
          <p:cNvSpPr txBox="1"/>
          <p:nvPr>
            <p:ph type="title"/>
          </p:nvPr>
        </p:nvSpPr>
        <p:spPr>
          <a:xfrm>
            <a:off x="730000" y="1318650"/>
            <a:ext cx="3300900" cy="1381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64" name="Google Shape;64;p72"/>
          <p:cNvSpPr txBox="1"/>
          <p:nvPr>
            <p:ph idx="1" type="body"/>
          </p:nvPr>
        </p:nvSpPr>
        <p:spPr>
          <a:xfrm>
            <a:off x="721225" y="2781725"/>
            <a:ext cx="3300900" cy="1597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65" name="Google Shape;65;p72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accent3"/>
        </a:solidFill>
      </p:bgPr>
    </p:bg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7" name="Google Shape;67;p73"/>
          <p:cNvGrpSpPr/>
          <p:nvPr/>
        </p:nvGrpSpPr>
        <p:grpSpPr>
          <a:xfrm>
            <a:off x="830392" y="4169130"/>
            <a:ext cx="745763" cy="45826"/>
            <a:chOff x="4580561" y="2589004"/>
            <a:chExt cx="1064464" cy="25200"/>
          </a:xfrm>
        </p:grpSpPr>
        <p:sp>
          <p:nvSpPr>
            <p:cNvPr id="68" name="Google Shape;68;p73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9" name="Google Shape;69;p73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70" name="Google Shape;70;p73"/>
          <p:cNvSpPr txBox="1"/>
          <p:nvPr>
            <p:ph type="title"/>
          </p:nvPr>
        </p:nvSpPr>
        <p:spPr>
          <a:xfrm>
            <a:off x="729450" y="864300"/>
            <a:ext cx="7021200" cy="298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1" name="Google Shape;71;p73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74"/>
          <p:cNvSpPr txBox="1"/>
          <p:nvPr>
            <p:ph idx="1" type="body"/>
          </p:nvPr>
        </p:nvSpPr>
        <p:spPr>
          <a:xfrm>
            <a:off x="724950" y="4372551"/>
            <a:ext cx="7697400" cy="46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</a:lstStyle>
          <a:p/>
        </p:txBody>
      </p:sp>
      <p:sp>
        <p:nvSpPr>
          <p:cNvPr id="74" name="Google Shape;74;p74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bg>
      <p:bgPr>
        <a:solidFill>
          <a:schemeClr val="dk1"/>
        </a:solidFill>
      </p:bgPr>
    </p:bg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6" name="Google Shape;76;p75"/>
          <p:cNvGrpSpPr/>
          <p:nvPr/>
        </p:nvGrpSpPr>
        <p:grpSpPr>
          <a:xfrm>
            <a:off x="830392" y="4169130"/>
            <a:ext cx="745763" cy="45826"/>
            <a:chOff x="4580561" y="2589004"/>
            <a:chExt cx="1064464" cy="25200"/>
          </a:xfrm>
        </p:grpSpPr>
        <p:sp>
          <p:nvSpPr>
            <p:cNvPr id="77" name="Google Shape;77;p75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8" name="Google Shape;78;p75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79" name="Google Shape;79;p75"/>
          <p:cNvSpPr txBox="1"/>
          <p:nvPr>
            <p:ph hasCustomPrompt="1" type="title"/>
          </p:nvPr>
        </p:nvSpPr>
        <p:spPr>
          <a:xfrm>
            <a:off x="729450" y="733950"/>
            <a:ext cx="7688400" cy="1244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80" name="Google Shape;80;p75"/>
          <p:cNvSpPr txBox="1"/>
          <p:nvPr>
            <p:ph idx="1" type="body"/>
          </p:nvPr>
        </p:nvSpPr>
        <p:spPr>
          <a:xfrm>
            <a:off x="729450" y="2272888"/>
            <a:ext cx="7688400" cy="158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Char char="●"/>
              <a:defRPr>
                <a:solidFill>
                  <a:schemeClr val="lt1"/>
                </a:solidFill>
              </a:defRPr>
            </a:lvl1pPr>
            <a:lvl2pPr indent="-29845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2pPr>
            <a:lvl3pPr indent="-29845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3pPr>
            <a:lvl4pPr indent="-29845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4pPr>
            <a:lvl5pPr indent="-29845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5pPr>
            <a:lvl6pPr indent="-29845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6pPr>
            <a:lvl7pPr indent="-29845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7pPr>
            <a:lvl8pPr indent="-29845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8pPr>
            <a:lvl9pPr indent="-29845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81" name="Google Shape;81;p75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treamline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6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i="0" sz="2800" u="none" cap="none" strike="noStrik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i="0" sz="2800" u="none" cap="none" strike="noStrik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i="0" sz="2800" u="none" cap="none" strike="noStrik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i="0" sz="2800" u="none" cap="none" strike="noStrik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i="0" sz="2800" u="none" cap="none" strike="noStrik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i="0" sz="2800" u="none" cap="none" strike="noStrik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i="0" sz="2800" u="none" cap="none" strike="noStrik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i="0" sz="2800" u="none" cap="none" strike="noStrik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i="0" sz="2800" u="none" cap="none" strike="noStrik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7" name="Google Shape;7;p6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300"/>
              <a:buFont typeface="Lato"/>
              <a:buChar char="●"/>
              <a:defRPr b="0" i="0" sz="13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29845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b="0" i="0" sz="11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-29845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b="0" i="0" sz="11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-29845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●"/>
              <a:defRPr b="0" i="0" sz="11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-29845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b="0" i="0" sz="11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-29845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b="0" i="0" sz="11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-29845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●"/>
              <a:defRPr b="0" i="0" sz="11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-29845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b="0" i="0" sz="11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-29845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b="0" i="0" sz="11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8" name="Google Shape;8;p64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7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7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.png"/><Relationship Id="rId4" Type="http://schemas.openxmlformats.org/officeDocument/2006/relationships/image" Target="../media/image35.png"/><Relationship Id="rId5" Type="http://schemas.openxmlformats.org/officeDocument/2006/relationships/image" Target="../media/image6.png"/><Relationship Id="rId6" Type="http://schemas.openxmlformats.org/officeDocument/2006/relationships/image" Target="../media/image15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7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3.png"/><Relationship Id="rId4" Type="http://schemas.openxmlformats.org/officeDocument/2006/relationships/image" Target="../media/image3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8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4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2.png"/><Relationship Id="rId4" Type="http://schemas.openxmlformats.org/officeDocument/2006/relationships/image" Target="../media/image11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2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41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41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10.png"/><Relationship Id="rId4" Type="http://schemas.openxmlformats.org/officeDocument/2006/relationships/image" Target="../media/image5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38.png"/><Relationship Id="rId4" Type="http://schemas.openxmlformats.org/officeDocument/2006/relationships/image" Target="../media/image5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26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22.png"/><Relationship Id="rId4" Type="http://schemas.openxmlformats.org/officeDocument/2006/relationships/image" Target="../media/image20.png"/><Relationship Id="rId5" Type="http://schemas.openxmlformats.org/officeDocument/2006/relationships/image" Target="../media/image19.png"/><Relationship Id="rId6" Type="http://schemas.openxmlformats.org/officeDocument/2006/relationships/image" Target="../media/image18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21.png"/><Relationship Id="rId4" Type="http://schemas.openxmlformats.org/officeDocument/2006/relationships/image" Target="../media/image23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25.pn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28.pn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39.pn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31.png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30.png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30.png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40.png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5.xml"/><Relationship Id="rId3" Type="http://schemas.openxmlformats.org/officeDocument/2006/relationships/image" Target="../media/image37.png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6.xml"/><Relationship Id="rId3" Type="http://schemas.openxmlformats.org/officeDocument/2006/relationships/image" Target="../media/image34.png"/><Relationship Id="rId4" Type="http://schemas.openxmlformats.org/officeDocument/2006/relationships/image" Target="../media/image36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"/>
          <p:cNvSpPr txBox="1"/>
          <p:nvPr>
            <p:ph type="ctrTitle"/>
          </p:nvPr>
        </p:nvSpPr>
        <p:spPr>
          <a:xfrm>
            <a:off x="729450" y="1322450"/>
            <a:ext cx="7688100" cy="1664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</a:pPr>
            <a:r>
              <a:rPr lang="es-419"/>
              <a:t>Modelos lineales para Clasificación</a:t>
            </a:r>
            <a:endParaRPr/>
          </a:p>
        </p:txBody>
      </p:sp>
      <p:sp>
        <p:nvSpPr>
          <p:cNvPr id="87" name="Google Shape;87;p1"/>
          <p:cNvSpPr txBox="1"/>
          <p:nvPr>
            <p:ph idx="1" type="subTitle"/>
          </p:nvPr>
        </p:nvSpPr>
        <p:spPr>
          <a:xfrm>
            <a:off x="729627" y="3172900"/>
            <a:ext cx="7688100" cy="54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" name="Google Shape;92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29375" y="1408776"/>
            <a:ext cx="6685250" cy="3670175"/>
          </a:xfrm>
          <a:prstGeom prst="rect">
            <a:avLst/>
          </a:prstGeom>
          <a:noFill/>
          <a:ln>
            <a:noFill/>
          </a:ln>
        </p:spPr>
      </p:pic>
      <p:sp>
        <p:nvSpPr>
          <p:cNvPr id="93" name="Google Shape;93;p2"/>
          <p:cNvSpPr txBox="1"/>
          <p:nvPr/>
        </p:nvSpPr>
        <p:spPr>
          <a:xfrm>
            <a:off x="2211050" y="947300"/>
            <a:ext cx="16677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s-419" sz="2000" u="none" cap="none" strike="noStrike">
                <a:solidFill>
                  <a:srgbClr val="000000"/>
                </a:solidFill>
                <a:latin typeface="Caveat Medium"/>
                <a:ea typeface="Caveat Medium"/>
                <a:cs typeface="Caveat Medium"/>
                <a:sym typeface="Caveat Medium"/>
              </a:rPr>
              <a:t>y es </a:t>
            </a:r>
            <a:r>
              <a:rPr b="1" i="0" lang="es-419" sz="2000" u="none" cap="none" strike="noStrike">
                <a:solidFill>
                  <a:srgbClr val="000000"/>
                </a:solidFill>
                <a:latin typeface="Caveat"/>
                <a:ea typeface="Caveat"/>
                <a:cs typeface="Caveat"/>
                <a:sym typeface="Caveat"/>
              </a:rPr>
              <a:t>categórica</a:t>
            </a:r>
            <a:endParaRPr b="1" i="0" sz="2000" u="none" cap="none" strike="noStrike">
              <a:solidFill>
                <a:srgbClr val="000000"/>
              </a:solidFill>
              <a:latin typeface="Caveat"/>
              <a:ea typeface="Caveat"/>
              <a:cs typeface="Caveat"/>
              <a:sym typeface="Caveat"/>
            </a:endParaRPr>
          </a:p>
        </p:txBody>
      </p:sp>
      <p:sp>
        <p:nvSpPr>
          <p:cNvPr id="94" name="Google Shape;94;p2"/>
          <p:cNvSpPr txBox="1"/>
          <p:nvPr/>
        </p:nvSpPr>
        <p:spPr>
          <a:xfrm>
            <a:off x="5445775" y="947300"/>
            <a:ext cx="16677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s-419" sz="2000" u="none" cap="none" strike="noStrike">
                <a:solidFill>
                  <a:srgbClr val="000000"/>
                </a:solidFill>
                <a:latin typeface="Caveat Medium"/>
                <a:ea typeface="Caveat Medium"/>
                <a:cs typeface="Caveat Medium"/>
                <a:sym typeface="Caveat Medium"/>
              </a:rPr>
              <a:t>y es </a:t>
            </a:r>
            <a:r>
              <a:rPr b="1" i="0" lang="es-419" sz="2000" u="none" cap="none" strike="noStrike">
                <a:solidFill>
                  <a:srgbClr val="000000"/>
                </a:solidFill>
                <a:latin typeface="Caveat"/>
                <a:ea typeface="Caveat"/>
                <a:cs typeface="Caveat"/>
                <a:sym typeface="Caveat"/>
              </a:rPr>
              <a:t>numérica</a:t>
            </a:r>
            <a:endParaRPr b="1" i="0" sz="2000" u="none" cap="none" strike="noStrike">
              <a:solidFill>
                <a:srgbClr val="000000"/>
              </a:solidFill>
              <a:latin typeface="Caveat"/>
              <a:ea typeface="Caveat"/>
              <a:cs typeface="Caveat"/>
              <a:sym typeface="Caveat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3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s-419"/>
              <a:t>Problemas de Clasificación</a:t>
            </a:r>
            <a:endParaRPr/>
          </a:p>
        </p:txBody>
      </p:sp>
      <p:pic>
        <p:nvPicPr>
          <p:cNvPr id="100" name="Google Shape;100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17948" y="1938175"/>
            <a:ext cx="6401049" cy="27761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4"/>
          <p:cNvSpPr txBox="1"/>
          <p:nvPr>
            <p:ph type="title"/>
          </p:nvPr>
        </p:nvSpPr>
        <p:spPr>
          <a:xfrm>
            <a:off x="729450" y="1318650"/>
            <a:ext cx="3382500" cy="1725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</a:pPr>
            <a:r>
              <a:rPr lang="es-419"/>
              <a:t>Algoritmos de Clasificación</a:t>
            </a:r>
            <a:endParaRPr/>
          </a:p>
        </p:txBody>
      </p:sp>
      <p:pic>
        <p:nvPicPr>
          <p:cNvPr id="106" name="Google Shape;106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918175" y="190750"/>
            <a:ext cx="3754125" cy="48215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5"/>
          <p:cNvSpPr txBox="1"/>
          <p:nvPr>
            <p:ph type="title"/>
          </p:nvPr>
        </p:nvSpPr>
        <p:spPr>
          <a:xfrm>
            <a:off x="729450" y="1322450"/>
            <a:ext cx="7688400" cy="151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lang="es-419"/>
              <a:t>Clasificación Binaria vs Multi-clase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6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s-419"/>
              <a:t>Clasificación binaria</a:t>
            </a:r>
            <a:endParaRPr/>
          </a:p>
        </p:txBody>
      </p:sp>
      <p:sp>
        <p:nvSpPr>
          <p:cNvPr id="117" name="Google Shape;117;p6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r>
              <a:rPr lang="es-419"/>
              <a:t>En una clasificación binaria, la variable puede tomar dos valores. También puede decirse que la variable “</a:t>
            </a:r>
            <a:r>
              <a:rPr b="1" i="1" lang="es-419"/>
              <a:t>es o no es</a:t>
            </a:r>
            <a:r>
              <a:rPr lang="es-419"/>
              <a:t>”.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300"/>
              <a:buNone/>
            </a:pPr>
            <a:r>
              <a:t/>
            </a:r>
            <a:endParaRPr/>
          </a:p>
        </p:txBody>
      </p:sp>
      <p:pic>
        <p:nvPicPr>
          <p:cNvPr id="118" name="Google Shape;118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272465" y="2655723"/>
            <a:ext cx="2160000" cy="1080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9" name="Google Shape;119;p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408185" y="3844300"/>
            <a:ext cx="2160000" cy="1080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0" name="Google Shape;120;p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712572" y="3844297"/>
            <a:ext cx="2160000" cy="1080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1" name="Google Shape;121;p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712573" y="2655720"/>
            <a:ext cx="2160000" cy="1080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7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s-419"/>
              <a:t>Ejemplos</a:t>
            </a:r>
            <a:endParaRPr/>
          </a:p>
        </p:txBody>
      </p:sp>
      <p:sp>
        <p:nvSpPr>
          <p:cNvPr id="127" name="Google Shape;127;p7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365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Char char="●"/>
            </a:pPr>
            <a:r>
              <a:rPr lang="es-419" sz="1700"/>
              <a:t>Detección de fraude</a:t>
            </a:r>
            <a:endParaRPr sz="1700"/>
          </a:p>
          <a:p>
            <a:pPr indent="-3365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Char char="●"/>
            </a:pPr>
            <a:r>
              <a:rPr lang="es-419" sz="1700"/>
              <a:t>Diagnóstico médico</a:t>
            </a:r>
            <a:endParaRPr sz="1700"/>
          </a:p>
          <a:p>
            <a:pPr indent="-3365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Char char="●"/>
            </a:pPr>
            <a:r>
              <a:rPr lang="es-419" sz="1700"/>
              <a:t>Detección de spam en correo electrónico</a:t>
            </a:r>
            <a:endParaRPr sz="1700"/>
          </a:p>
          <a:p>
            <a:pPr indent="-3365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Char char="●"/>
            </a:pPr>
            <a:r>
              <a:rPr lang="es-419" sz="1700"/>
              <a:t>Predicción de que algo pase o </a:t>
            </a:r>
            <a:r>
              <a:rPr b="1" lang="es-419" sz="1700"/>
              <a:t>que no pase </a:t>
            </a:r>
            <a:r>
              <a:rPr lang="es-419" sz="1700"/>
              <a:t>(</a:t>
            </a:r>
            <a:r>
              <a:rPr b="1" i="1" lang="es-419" sz="1700"/>
              <a:t>lluvia</a:t>
            </a:r>
            <a:r>
              <a:rPr lang="es-419" sz="1700"/>
              <a:t>, accidentes, etc)</a:t>
            </a:r>
            <a:endParaRPr sz="17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8"/>
          <p:cNvSpPr txBox="1"/>
          <p:nvPr>
            <p:ph type="title"/>
          </p:nvPr>
        </p:nvSpPr>
        <p:spPr>
          <a:xfrm>
            <a:off x="682600" y="550400"/>
            <a:ext cx="7688700" cy="53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s-419"/>
              <a:t>Ejemplo de default en tarjeta de crédito</a:t>
            </a:r>
            <a:endParaRPr/>
          </a:p>
        </p:txBody>
      </p:sp>
      <p:pic>
        <p:nvPicPr>
          <p:cNvPr id="133" name="Google Shape;133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83825" y="1101750"/>
            <a:ext cx="6776325" cy="3257250"/>
          </a:xfrm>
          <a:prstGeom prst="rect">
            <a:avLst/>
          </a:prstGeom>
          <a:noFill/>
          <a:ln>
            <a:noFill/>
          </a:ln>
        </p:spPr>
      </p:pic>
      <p:sp>
        <p:nvSpPr>
          <p:cNvPr id="134" name="Google Shape;134;p8"/>
          <p:cNvSpPr txBox="1"/>
          <p:nvPr/>
        </p:nvSpPr>
        <p:spPr>
          <a:xfrm>
            <a:off x="639600" y="4359000"/>
            <a:ext cx="8260800" cy="708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0" i="0" lang="es-419" sz="1700" u="none" cap="none" strike="noStrike">
                <a:solidFill>
                  <a:srgbClr val="374151"/>
                </a:solidFill>
                <a:highlight>
                  <a:schemeClr val="lt1"/>
                </a:highlight>
                <a:latin typeface="Roboto"/>
                <a:ea typeface="Roboto"/>
                <a:cs typeface="Roboto"/>
                <a:sym typeface="Roboto"/>
              </a:rPr>
              <a:t>Las </a:t>
            </a:r>
            <a:r>
              <a:rPr b="0" i="1" lang="es-419" sz="1700" u="none" cap="none" strike="noStrike">
                <a:solidFill>
                  <a:srgbClr val="374151"/>
                </a:solidFill>
                <a:highlight>
                  <a:schemeClr val="lt1"/>
                </a:highlight>
                <a:latin typeface="Roboto"/>
                <a:ea typeface="Roboto"/>
                <a:cs typeface="Roboto"/>
                <a:sym typeface="Roboto"/>
              </a:rPr>
              <a:t>features</a:t>
            </a:r>
            <a:r>
              <a:rPr b="0" i="0" lang="es-419" sz="1700" u="none" cap="none" strike="noStrike">
                <a:solidFill>
                  <a:srgbClr val="374151"/>
                </a:solidFill>
                <a:highlight>
                  <a:schemeClr val="lt1"/>
                </a:highlight>
                <a:latin typeface="Roboto"/>
                <a:ea typeface="Roboto"/>
                <a:cs typeface="Roboto"/>
                <a:sym typeface="Roboto"/>
              </a:rPr>
              <a:t> son ingresos anuales y los saldos mensuales de tarjetas de crédito. Los que incumplieron en sus pagos se muestran en naranja, los que no en azul.</a:t>
            </a:r>
            <a:endParaRPr b="0" i="0" sz="15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9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s-419"/>
              <a:t>Si ponemos números…</a:t>
            </a:r>
            <a:endParaRPr/>
          </a:p>
        </p:txBody>
      </p:sp>
      <p:pic>
        <p:nvPicPr>
          <p:cNvPr id="140" name="Google Shape;140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234725" y="1685224"/>
            <a:ext cx="4075600" cy="25958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1" name="Google Shape;141;p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78015" y="2669423"/>
            <a:ext cx="2160000" cy="10800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42" name="Google Shape;142;p9"/>
          <p:cNvCxnSpPr/>
          <p:nvPr/>
        </p:nvCxnSpPr>
        <p:spPr>
          <a:xfrm>
            <a:off x="6651875" y="4160800"/>
            <a:ext cx="1002600" cy="18900"/>
          </a:xfrm>
          <a:prstGeom prst="straightConnector1">
            <a:avLst/>
          </a:prstGeom>
          <a:noFill/>
          <a:ln cap="flat" cmpd="sng" w="285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43" name="Google Shape;143;p9"/>
          <p:cNvSpPr txBox="1"/>
          <p:nvPr/>
        </p:nvSpPr>
        <p:spPr>
          <a:xfrm>
            <a:off x="6483250" y="4160800"/>
            <a:ext cx="216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s-419" sz="1400" u="none" cap="none" strike="noStrik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una regresión lineal?</a:t>
            </a:r>
            <a:endParaRPr b="0" i="0" sz="1400" u="none" cap="none" strike="noStrike">
              <a:solidFill>
                <a:srgbClr val="000000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10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s-419"/>
              <a:t>Regresión lineal para Clasificación binaria</a:t>
            </a:r>
            <a:endParaRPr/>
          </a:p>
        </p:txBody>
      </p:sp>
      <p:sp>
        <p:nvSpPr>
          <p:cNvPr id="149" name="Google Shape;149;p10"/>
          <p:cNvSpPr txBox="1"/>
          <p:nvPr>
            <p:ph idx="1" type="body"/>
          </p:nvPr>
        </p:nvSpPr>
        <p:spPr>
          <a:xfrm>
            <a:off x="729450" y="2078875"/>
            <a:ext cx="4741800" cy="582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8293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13"/>
              <a:buChar char="●"/>
            </a:pPr>
            <a:r>
              <a:rPr lang="es-419" sz="1412"/>
              <a:t>Sólo válido para problemas </a:t>
            </a:r>
            <a:r>
              <a:rPr b="1" lang="es-419" sz="1412"/>
              <a:t>binarios</a:t>
            </a:r>
            <a:r>
              <a:rPr lang="es-419" sz="1412"/>
              <a:t> (</a:t>
            </a:r>
            <a:r>
              <a:rPr lang="es-419" sz="1412" u="sng"/>
              <a:t>y hasta ahí!</a:t>
            </a:r>
            <a:r>
              <a:rPr lang="es-419" sz="1412"/>
              <a:t>).</a:t>
            </a:r>
            <a:endParaRPr sz="1412"/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1200"/>
              </a:spcAft>
              <a:buSzPts val="688"/>
              <a:buNone/>
            </a:pPr>
            <a:r>
              <a:t/>
            </a:r>
            <a:endParaRPr sz="1412"/>
          </a:p>
        </p:txBody>
      </p:sp>
      <p:pic>
        <p:nvPicPr>
          <p:cNvPr id="150" name="Google Shape;150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181000" y="2728825"/>
            <a:ext cx="2628900" cy="723900"/>
          </a:xfrm>
          <a:prstGeom prst="rect">
            <a:avLst/>
          </a:prstGeom>
          <a:noFill/>
          <a:ln>
            <a:noFill/>
          </a:ln>
        </p:spPr>
      </p:pic>
      <p:sp>
        <p:nvSpPr>
          <p:cNvPr id="151" name="Google Shape;151;p10"/>
          <p:cNvSpPr txBox="1"/>
          <p:nvPr/>
        </p:nvSpPr>
        <p:spPr>
          <a:xfrm>
            <a:off x="2529575" y="2929925"/>
            <a:ext cx="5396400" cy="44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0" i="0" lang="es-419" sz="1700" u="none" cap="none" strike="noStrike">
                <a:solidFill>
                  <a:srgbClr val="000000"/>
                </a:solidFill>
                <a:latin typeface="Caveat Medium"/>
                <a:ea typeface="Caveat Medium"/>
                <a:cs typeface="Caveat Medium"/>
                <a:sym typeface="Caveat Medium"/>
              </a:rPr>
              <a:t>Diagnóstico médico</a:t>
            </a:r>
            <a:endParaRPr b="0" i="0" sz="1700" u="none" cap="none" strike="noStrike">
              <a:solidFill>
                <a:srgbClr val="000000"/>
              </a:solidFill>
              <a:latin typeface="Caveat Medium"/>
              <a:ea typeface="Caveat Medium"/>
              <a:cs typeface="Caveat Medium"/>
              <a:sym typeface="Caveat Medium"/>
            </a:endParaRPr>
          </a:p>
        </p:txBody>
      </p:sp>
      <p:sp>
        <p:nvSpPr>
          <p:cNvPr id="152" name="Google Shape;152;p10"/>
          <p:cNvSpPr txBox="1"/>
          <p:nvPr/>
        </p:nvSpPr>
        <p:spPr>
          <a:xfrm>
            <a:off x="852600" y="3644475"/>
            <a:ext cx="7438800" cy="954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s-419" sz="1600" u="none" cap="none" strike="noStrike">
                <a:solidFill>
                  <a:srgbClr val="374151"/>
                </a:solidFill>
                <a:latin typeface="Roboto"/>
                <a:ea typeface="Roboto"/>
                <a:cs typeface="Roboto"/>
                <a:sym typeface="Roboto"/>
              </a:rPr>
              <a:t>Podríamos ajustar una regresión lineal a esta respuesta binaria y predecir </a:t>
            </a:r>
            <a:r>
              <a:rPr b="0" i="1" lang="es-419" sz="1600" u="none" cap="none" strike="noStrike">
                <a:solidFill>
                  <a:srgbClr val="374151"/>
                </a:solidFill>
                <a:latin typeface="Roboto"/>
                <a:ea typeface="Roboto"/>
                <a:cs typeface="Roboto"/>
                <a:sym typeface="Roboto"/>
              </a:rPr>
              <a:t>drug overdose</a:t>
            </a:r>
            <a:r>
              <a:rPr b="0" i="0" lang="es-419" sz="1600" u="none" cap="none" strike="noStrike">
                <a:solidFill>
                  <a:srgbClr val="374151"/>
                </a:solidFill>
                <a:latin typeface="Roboto"/>
                <a:ea typeface="Roboto"/>
                <a:cs typeface="Roboto"/>
                <a:sym typeface="Roboto"/>
              </a:rPr>
              <a:t> si Y &gt; 0.5 y un </a:t>
            </a:r>
            <a:r>
              <a:rPr b="0" i="1" lang="es-419" sz="1600" u="none" cap="none" strike="noStrike">
                <a:solidFill>
                  <a:srgbClr val="374151"/>
                </a:solidFill>
                <a:latin typeface="Roboto"/>
                <a:ea typeface="Roboto"/>
                <a:cs typeface="Roboto"/>
                <a:sym typeface="Roboto"/>
              </a:rPr>
              <a:t>stroke</a:t>
            </a:r>
            <a:r>
              <a:rPr b="0" i="0" lang="es-419" sz="1600" u="none" cap="none" strike="noStrike">
                <a:solidFill>
                  <a:srgbClr val="374151"/>
                </a:solidFill>
                <a:latin typeface="Roboto"/>
                <a:ea typeface="Roboto"/>
                <a:cs typeface="Roboto"/>
                <a:sym typeface="Roboto"/>
              </a:rPr>
              <a:t> en caso contrario. </a:t>
            </a:r>
            <a:endParaRPr b="0" i="0" sz="1600" u="none" cap="none" strike="noStrike">
              <a:solidFill>
                <a:srgbClr val="37415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3" name="Google Shape;153;p10"/>
          <p:cNvSpPr txBox="1"/>
          <p:nvPr/>
        </p:nvSpPr>
        <p:spPr>
          <a:xfrm>
            <a:off x="4492675" y="4498075"/>
            <a:ext cx="33771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s-419" sz="1800" u="none" cap="none" strike="noStrike">
                <a:solidFill>
                  <a:srgbClr val="000000"/>
                </a:solidFill>
                <a:latin typeface="Caveat Medium"/>
                <a:ea typeface="Caveat Medium"/>
                <a:cs typeface="Caveat Medium"/>
                <a:sym typeface="Caveat Medium"/>
              </a:rPr>
              <a:t>nos podría acercar a definir algún criterio para estimar probabilidad?</a:t>
            </a:r>
            <a:endParaRPr b="0" i="0" sz="1800" u="none" cap="none" strike="noStrike">
              <a:solidFill>
                <a:srgbClr val="000000"/>
              </a:solidFill>
              <a:latin typeface="Caveat Medium"/>
              <a:ea typeface="Caveat Medium"/>
              <a:cs typeface="Caveat Medium"/>
              <a:sym typeface="Caveat Medium"/>
            </a:endParaRPr>
          </a:p>
        </p:txBody>
      </p:sp>
      <p:cxnSp>
        <p:nvCxnSpPr>
          <p:cNvPr id="154" name="Google Shape;154;p10"/>
          <p:cNvCxnSpPr>
            <a:stCxn id="153" idx="3"/>
            <a:endCxn id="152" idx="3"/>
          </p:cNvCxnSpPr>
          <p:nvPr/>
        </p:nvCxnSpPr>
        <p:spPr>
          <a:xfrm flipH="1" rot="10800000">
            <a:off x="7869775" y="4121725"/>
            <a:ext cx="421500" cy="745800"/>
          </a:xfrm>
          <a:prstGeom prst="curvedConnector3">
            <a:avLst>
              <a:gd fmla="val 156524" name="adj1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11"/>
          <p:cNvSpPr txBox="1"/>
          <p:nvPr>
            <p:ph type="title"/>
          </p:nvPr>
        </p:nvSpPr>
        <p:spPr>
          <a:xfrm>
            <a:off x="730000" y="1318650"/>
            <a:ext cx="3300900" cy="168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</a:pPr>
            <a:r>
              <a:rPr lang="es-419"/>
              <a:t>Ajuste de la regresión lineal</a:t>
            </a:r>
            <a:endParaRPr/>
          </a:p>
        </p:txBody>
      </p:sp>
      <p:sp>
        <p:nvSpPr>
          <p:cNvPr id="160" name="Google Shape;160;p11"/>
          <p:cNvSpPr txBox="1"/>
          <p:nvPr>
            <p:ph idx="1" type="subTitle"/>
          </p:nvPr>
        </p:nvSpPr>
        <p:spPr>
          <a:xfrm>
            <a:off x="730000" y="2852350"/>
            <a:ext cx="3300900" cy="148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r>
              <a:rPr lang="es-419"/>
              <a:t>¿Qué tal el ajuste? ¿Parece bueno?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r>
              <a:rPr lang="es-419"/>
              <a:t>¿La recta puede definir </a:t>
            </a:r>
            <a:r>
              <a:rPr b="1" i="1" lang="es-419"/>
              <a:t>probabilidad </a:t>
            </a:r>
            <a:r>
              <a:rPr lang="es-419"/>
              <a:t>de pertenencia a una clase?</a:t>
            </a:r>
            <a:endParaRPr/>
          </a:p>
        </p:txBody>
      </p:sp>
      <p:pic>
        <p:nvPicPr>
          <p:cNvPr id="161" name="Google Shape;161;p11"/>
          <p:cNvPicPr preferRelativeResize="0"/>
          <p:nvPr/>
        </p:nvPicPr>
        <p:blipFill rotWithShape="1">
          <a:blip r:embed="rId3">
            <a:alphaModFix/>
          </a:blip>
          <a:srcRect b="0" l="0" r="0" t="2104"/>
          <a:stretch/>
        </p:blipFill>
        <p:spPr>
          <a:xfrm>
            <a:off x="4610075" y="1069100"/>
            <a:ext cx="4368250" cy="34837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6" name="Google Shape;166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743075" y="0"/>
            <a:ext cx="5657850" cy="2514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7" name="Google Shape;167;p1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66750" y="2667000"/>
            <a:ext cx="7810500" cy="2085975"/>
          </a:xfrm>
          <a:prstGeom prst="rect">
            <a:avLst/>
          </a:prstGeom>
          <a:noFill/>
          <a:ln>
            <a:noFill/>
          </a:ln>
        </p:spPr>
      </p:pic>
      <p:sp>
        <p:nvSpPr>
          <p:cNvPr id="168" name="Google Shape;168;p12"/>
          <p:cNvSpPr txBox="1"/>
          <p:nvPr/>
        </p:nvSpPr>
        <p:spPr>
          <a:xfrm>
            <a:off x="203550" y="4645875"/>
            <a:ext cx="78171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s-419" sz="1400" u="none" cap="none" strike="noStrik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aparece un outlier y baja mucho el threshold (línea amarilla)</a:t>
            </a:r>
            <a:endParaRPr b="0" i="0" sz="1400" u="none" cap="none" strike="noStrike">
              <a:solidFill>
                <a:srgbClr val="000000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13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s-419"/>
              <a:t>Clasificación Multi-Clase</a:t>
            </a:r>
            <a:endParaRPr/>
          </a:p>
        </p:txBody>
      </p:sp>
      <p:sp>
        <p:nvSpPr>
          <p:cNvPr id="174" name="Google Shape;174;p13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365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Char char="●"/>
            </a:pPr>
            <a:r>
              <a:rPr lang="es-419" sz="1700"/>
              <a:t>Clasificación de señales de tránsito (vehículos inteligentes).</a:t>
            </a:r>
            <a:endParaRPr sz="1700"/>
          </a:p>
          <a:p>
            <a:pPr indent="-3365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Char char="●"/>
            </a:pPr>
            <a:r>
              <a:rPr lang="es-419" sz="1700"/>
              <a:t>Clasificación de vinos por cepa.</a:t>
            </a:r>
            <a:endParaRPr sz="1700"/>
          </a:p>
          <a:p>
            <a:pPr indent="-3365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Char char="●"/>
            </a:pPr>
            <a:r>
              <a:rPr lang="es-419" sz="1700"/>
              <a:t>Detección de objetos.</a:t>
            </a:r>
            <a:endParaRPr sz="1700"/>
          </a:p>
          <a:p>
            <a:pPr indent="-3365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Char char="●"/>
            </a:pPr>
            <a:r>
              <a:rPr lang="es-419" sz="1700"/>
              <a:t>“Sentiment Analysis”.</a:t>
            </a:r>
            <a:endParaRPr sz="170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14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s-419"/>
              <a:t>Regresión lineal en problemas multi-clase</a:t>
            </a:r>
            <a:endParaRPr/>
          </a:p>
        </p:txBody>
      </p:sp>
      <p:sp>
        <p:nvSpPr>
          <p:cNvPr id="180" name="Google Shape;180;p14"/>
          <p:cNvSpPr txBox="1"/>
          <p:nvPr>
            <p:ph idx="1" type="body"/>
          </p:nvPr>
        </p:nvSpPr>
        <p:spPr>
          <a:xfrm>
            <a:off x="729450" y="3683000"/>
            <a:ext cx="7688700" cy="1068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ts val="1300"/>
              <a:buNone/>
            </a:pPr>
            <a:r>
              <a:rPr lang="es-419" sz="1700"/>
              <a:t>No hay forma de asignar valores en este problema y conservar el sentido de los mismos (el problema es el mismo que el de la codificación ordinal).</a:t>
            </a:r>
            <a:endParaRPr sz="1700"/>
          </a:p>
        </p:txBody>
      </p:sp>
      <p:pic>
        <p:nvPicPr>
          <p:cNvPr id="181" name="Google Shape;181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790038" y="2046075"/>
            <a:ext cx="3567525" cy="12340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15"/>
          <p:cNvSpPr txBox="1"/>
          <p:nvPr>
            <p:ph type="title"/>
          </p:nvPr>
        </p:nvSpPr>
        <p:spPr>
          <a:xfrm>
            <a:off x="729450" y="1322450"/>
            <a:ext cx="7688400" cy="151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lang="es-419"/>
              <a:t>Regresión logística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t/>
            </a:r>
            <a:endParaRPr/>
          </a:p>
        </p:txBody>
      </p:sp>
      <p:sp>
        <p:nvSpPr>
          <p:cNvPr id="187" name="Google Shape;187;p15"/>
          <p:cNvSpPr txBox="1"/>
          <p:nvPr/>
        </p:nvSpPr>
        <p:spPr>
          <a:xfrm>
            <a:off x="861900" y="2841050"/>
            <a:ext cx="7423500" cy="53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rPr b="1" i="0" lang="es-419" sz="2300" u="none" cap="none" strike="noStrike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rPr>
              <a:t>(empecemos con problemas binarios)</a:t>
            </a:r>
            <a:endParaRPr b="1" i="0" sz="2300" u="none" cap="none" strike="noStrike">
              <a:solidFill>
                <a:schemeClr val="lt1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16"/>
          <p:cNvSpPr txBox="1"/>
          <p:nvPr>
            <p:ph type="title"/>
          </p:nvPr>
        </p:nvSpPr>
        <p:spPr>
          <a:xfrm>
            <a:off x="756000" y="1278825"/>
            <a:ext cx="7688700" cy="53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s-419"/>
              <a:t>Regresión Logística</a:t>
            </a:r>
            <a:endParaRPr/>
          </a:p>
        </p:txBody>
      </p:sp>
      <p:sp>
        <p:nvSpPr>
          <p:cNvPr id="193" name="Google Shape;193;p16"/>
          <p:cNvSpPr/>
          <p:nvPr/>
        </p:nvSpPr>
        <p:spPr>
          <a:xfrm>
            <a:off x="93700" y="3298875"/>
            <a:ext cx="2089200" cy="7776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s-419" sz="2000" u="none" cap="none" strike="noStrike">
                <a:solidFill>
                  <a:schemeClr val="lt1"/>
                </a:solidFill>
                <a:latin typeface="Caveat Medium"/>
                <a:ea typeface="Caveat Medium"/>
                <a:cs typeface="Caveat Medium"/>
                <a:sym typeface="Caveat Medium"/>
              </a:rPr>
              <a:t>Observaciones</a:t>
            </a:r>
            <a:endParaRPr b="0" i="0" sz="2000" u="none" cap="none" strike="noStrike">
              <a:solidFill>
                <a:schemeClr val="lt1"/>
              </a:solidFill>
              <a:latin typeface="Caveat Medium"/>
              <a:ea typeface="Caveat Medium"/>
              <a:cs typeface="Caveat Medium"/>
              <a:sym typeface="Caveat Medium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s-419" sz="2000" u="none" cap="none" strike="noStrike">
                <a:solidFill>
                  <a:schemeClr val="lt1"/>
                </a:solidFill>
                <a:latin typeface="Caveat Medium"/>
                <a:ea typeface="Caveat Medium"/>
                <a:cs typeface="Caveat Medium"/>
                <a:sym typeface="Caveat Medium"/>
              </a:rPr>
              <a:t>X, y</a:t>
            </a:r>
            <a:endParaRPr b="0" i="0" sz="2000" u="none" cap="none" strike="noStrike">
              <a:solidFill>
                <a:schemeClr val="lt1"/>
              </a:solidFill>
              <a:latin typeface="Caveat Medium"/>
              <a:ea typeface="Caveat Medium"/>
              <a:cs typeface="Caveat Medium"/>
              <a:sym typeface="Caveat Medium"/>
            </a:endParaRPr>
          </a:p>
        </p:txBody>
      </p:sp>
      <p:sp>
        <p:nvSpPr>
          <p:cNvPr id="194" name="Google Shape;194;p16"/>
          <p:cNvSpPr/>
          <p:nvPr/>
        </p:nvSpPr>
        <p:spPr>
          <a:xfrm>
            <a:off x="1855025" y="2051825"/>
            <a:ext cx="1798800" cy="9474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s-419" sz="1400" u="none" cap="none" strike="noStrik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Regresión lineal</a:t>
            </a:r>
            <a:endParaRPr b="0" i="0" sz="1400" u="none" cap="none" strike="noStrike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0" i="0" lang="es-419" sz="2100" u="none" cap="none" strike="noStrike">
                <a:solidFill>
                  <a:srgbClr val="000000"/>
                </a:solidFill>
                <a:latin typeface="Caveat Medium"/>
                <a:ea typeface="Caveat Medium"/>
                <a:cs typeface="Caveat Medium"/>
                <a:sym typeface="Caveat Medium"/>
              </a:rPr>
              <a:t>z</a:t>
            </a:r>
            <a:r>
              <a:rPr b="0" baseline="-25000" i="0" lang="es-419" sz="2100" u="none" cap="none" strike="noStrike">
                <a:solidFill>
                  <a:srgbClr val="000000"/>
                </a:solidFill>
                <a:latin typeface="Caveat Medium"/>
                <a:ea typeface="Caveat Medium"/>
                <a:cs typeface="Caveat Medium"/>
                <a:sym typeface="Caveat Medium"/>
              </a:rPr>
              <a:t>pred</a:t>
            </a:r>
            <a:r>
              <a:rPr b="0" i="0" lang="es-419" sz="2100" u="none" cap="none" strike="noStrike">
                <a:solidFill>
                  <a:srgbClr val="000000"/>
                </a:solidFill>
                <a:latin typeface="Caveat Medium"/>
                <a:ea typeface="Caveat Medium"/>
                <a:cs typeface="Caveat Medium"/>
                <a:sym typeface="Caveat Medium"/>
              </a:rPr>
              <a:t> = X 𝛃</a:t>
            </a:r>
            <a:endParaRPr b="0" i="0" sz="2700" u="none" cap="none" strike="noStrike">
              <a:solidFill>
                <a:srgbClr val="000000"/>
              </a:solidFill>
              <a:latin typeface="Caveat Medium"/>
              <a:ea typeface="Caveat Medium"/>
              <a:cs typeface="Caveat Medium"/>
              <a:sym typeface="Caveat Medium"/>
            </a:endParaRPr>
          </a:p>
        </p:txBody>
      </p:sp>
      <p:sp>
        <p:nvSpPr>
          <p:cNvPr id="195" name="Google Shape;195;p16"/>
          <p:cNvSpPr txBox="1"/>
          <p:nvPr/>
        </p:nvSpPr>
        <p:spPr>
          <a:xfrm>
            <a:off x="2089100" y="2999225"/>
            <a:ext cx="16959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s-419" sz="1600" u="none" cap="none" strike="noStrike">
                <a:solidFill>
                  <a:srgbClr val="000000"/>
                </a:solidFill>
                <a:latin typeface="Caveat Medium"/>
                <a:ea typeface="Caveat Medium"/>
                <a:cs typeface="Caveat Medium"/>
                <a:sym typeface="Caveat Medium"/>
              </a:rPr>
              <a:t>z</a:t>
            </a:r>
            <a:r>
              <a:rPr b="0" baseline="-25000" i="0" lang="es-419" sz="1600" u="none" cap="none" strike="noStrike">
                <a:solidFill>
                  <a:srgbClr val="000000"/>
                </a:solidFill>
                <a:latin typeface="Caveat Medium"/>
                <a:ea typeface="Caveat Medium"/>
                <a:cs typeface="Caveat Medium"/>
                <a:sym typeface="Caveat Medium"/>
              </a:rPr>
              <a:t>pred</a:t>
            </a:r>
            <a:r>
              <a:rPr b="0" i="0" lang="es-419" sz="1600" u="none" cap="none" strike="noStrike">
                <a:solidFill>
                  <a:srgbClr val="000000"/>
                </a:solidFill>
                <a:latin typeface="Caveat Medium"/>
                <a:ea typeface="Caveat Medium"/>
                <a:cs typeface="Caveat Medium"/>
                <a:sym typeface="Caveat Medium"/>
              </a:rPr>
              <a:t> en los reales! </a:t>
            </a:r>
            <a:endParaRPr b="0" i="0" sz="1600" u="none" cap="none" strike="noStrike">
              <a:solidFill>
                <a:srgbClr val="000000"/>
              </a:solidFill>
              <a:latin typeface="Caveat Medium"/>
              <a:ea typeface="Caveat Medium"/>
              <a:cs typeface="Caveat Medium"/>
              <a:sym typeface="Caveat Medium"/>
            </a:endParaRPr>
          </a:p>
        </p:txBody>
      </p:sp>
      <p:sp>
        <p:nvSpPr>
          <p:cNvPr id="196" name="Google Shape;196;p16"/>
          <p:cNvSpPr/>
          <p:nvPr/>
        </p:nvSpPr>
        <p:spPr>
          <a:xfrm>
            <a:off x="4277613" y="2694213"/>
            <a:ext cx="1798800" cy="9474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s-419" sz="1400" u="none" cap="none" strike="noStrik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Función sigmoidea</a:t>
            </a:r>
            <a:endParaRPr b="0" i="0" sz="1400" u="none" cap="none" strike="noStrike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0" i="0" lang="es-419" sz="2100" u="none" cap="none" strike="noStrike">
                <a:solidFill>
                  <a:srgbClr val="000000"/>
                </a:solidFill>
                <a:latin typeface="Caveat Medium"/>
                <a:ea typeface="Caveat Medium"/>
                <a:cs typeface="Caveat Medium"/>
                <a:sym typeface="Caveat Medium"/>
              </a:rPr>
              <a:t>c</a:t>
            </a:r>
            <a:r>
              <a:rPr b="0" baseline="-25000" i="0" lang="es-419" sz="2100" u="none" cap="none" strike="noStrike">
                <a:solidFill>
                  <a:srgbClr val="000000"/>
                </a:solidFill>
                <a:latin typeface="Caveat Medium"/>
                <a:ea typeface="Caveat Medium"/>
                <a:cs typeface="Caveat Medium"/>
                <a:sym typeface="Caveat Medium"/>
              </a:rPr>
              <a:t>pred</a:t>
            </a:r>
            <a:r>
              <a:rPr b="0" i="0" lang="es-419" sz="2100" u="none" cap="none" strike="noStrike">
                <a:solidFill>
                  <a:srgbClr val="000000"/>
                </a:solidFill>
                <a:latin typeface="Caveat Medium"/>
                <a:ea typeface="Caveat Medium"/>
                <a:cs typeface="Caveat Medium"/>
                <a:sym typeface="Caveat Medium"/>
              </a:rPr>
              <a:t> = f(z</a:t>
            </a:r>
            <a:r>
              <a:rPr b="0" baseline="-25000" i="0" lang="es-419" sz="2100" u="none" cap="none" strike="noStrike">
                <a:solidFill>
                  <a:srgbClr val="000000"/>
                </a:solidFill>
                <a:latin typeface="Caveat Medium"/>
                <a:ea typeface="Caveat Medium"/>
                <a:cs typeface="Caveat Medium"/>
                <a:sym typeface="Caveat Medium"/>
              </a:rPr>
              <a:t>pred</a:t>
            </a:r>
            <a:r>
              <a:rPr b="0" i="0" lang="es-419" sz="2100" u="none" cap="none" strike="noStrike">
                <a:solidFill>
                  <a:srgbClr val="000000"/>
                </a:solidFill>
                <a:latin typeface="Caveat Medium"/>
                <a:ea typeface="Caveat Medium"/>
                <a:cs typeface="Caveat Medium"/>
                <a:sym typeface="Caveat Medium"/>
              </a:rPr>
              <a:t> )</a:t>
            </a:r>
            <a:endParaRPr b="0" i="0" sz="1400" u="none" cap="none" strike="noStrike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197" name="Google Shape;197;p16"/>
          <p:cNvSpPr txBox="1"/>
          <p:nvPr/>
        </p:nvSpPr>
        <p:spPr>
          <a:xfrm>
            <a:off x="4019500" y="2140650"/>
            <a:ext cx="23910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s-419" sz="1600">
                <a:latin typeface="Caveat Medium"/>
                <a:ea typeface="Caveat Medium"/>
                <a:cs typeface="Caveat Medium"/>
                <a:sym typeface="Caveat Medium"/>
              </a:rPr>
              <a:t>c</a:t>
            </a:r>
            <a:r>
              <a:rPr b="0" baseline="-25000" i="0" lang="es-419" sz="1600" u="none" cap="none" strike="noStrike">
                <a:solidFill>
                  <a:srgbClr val="000000"/>
                </a:solidFill>
                <a:latin typeface="Caveat Medium"/>
                <a:ea typeface="Caveat Medium"/>
                <a:cs typeface="Caveat Medium"/>
                <a:sym typeface="Caveat Medium"/>
              </a:rPr>
              <a:t>pred</a:t>
            </a:r>
            <a:r>
              <a:rPr b="0" i="0" lang="es-419" sz="1600" u="none" cap="none" strike="noStrike">
                <a:solidFill>
                  <a:srgbClr val="000000"/>
                </a:solidFill>
                <a:latin typeface="Caveat Medium"/>
                <a:ea typeface="Caveat Medium"/>
                <a:cs typeface="Caveat Medium"/>
                <a:sym typeface="Caveat Medium"/>
              </a:rPr>
              <a:t> pertenece al conjunto [0,1]</a:t>
            </a:r>
            <a:endParaRPr b="0" i="0" sz="2100" u="none" cap="none" strike="noStrike">
              <a:solidFill>
                <a:srgbClr val="000000"/>
              </a:solidFill>
              <a:latin typeface="Caveat Medium"/>
              <a:ea typeface="Caveat Medium"/>
              <a:cs typeface="Caveat Medium"/>
              <a:sym typeface="Caveat Medium"/>
            </a:endParaRPr>
          </a:p>
        </p:txBody>
      </p:sp>
      <p:sp>
        <p:nvSpPr>
          <p:cNvPr id="198" name="Google Shape;198;p16"/>
          <p:cNvSpPr/>
          <p:nvPr/>
        </p:nvSpPr>
        <p:spPr>
          <a:xfrm>
            <a:off x="6916700" y="1678125"/>
            <a:ext cx="2089200" cy="14898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0" i="0" lang="es-419" sz="2100" u="none" cap="none" strike="noStrike">
                <a:solidFill>
                  <a:schemeClr val="lt1"/>
                </a:solidFill>
                <a:latin typeface="Caveat Medium"/>
                <a:ea typeface="Caveat Medium"/>
                <a:cs typeface="Caveat Medium"/>
                <a:sym typeface="Caveat Medium"/>
              </a:rPr>
              <a:t>Función de decisión </a:t>
            </a:r>
            <a:r>
              <a:rPr b="1" i="0" lang="es-419" sz="2100" u="none" cap="none" strike="noStrike">
                <a:solidFill>
                  <a:schemeClr val="lt1"/>
                </a:solidFill>
                <a:latin typeface="Caveat"/>
                <a:ea typeface="Caveat"/>
                <a:cs typeface="Caveat"/>
                <a:sym typeface="Caveat"/>
              </a:rPr>
              <a:t>y</a:t>
            </a:r>
            <a:r>
              <a:rPr b="1" baseline="-25000" i="0" lang="es-419" sz="2100" u="none" cap="none" strike="noStrike">
                <a:solidFill>
                  <a:schemeClr val="lt1"/>
                </a:solidFill>
                <a:latin typeface="Caveat"/>
                <a:ea typeface="Caveat"/>
                <a:cs typeface="Caveat"/>
                <a:sym typeface="Caveat"/>
              </a:rPr>
              <a:t>pred</a:t>
            </a:r>
            <a:r>
              <a:rPr b="1" i="0" lang="es-419" sz="2100" u="none" cap="none" strike="noStrike">
                <a:solidFill>
                  <a:schemeClr val="lt1"/>
                </a:solidFill>
                <a:latin typeface="Caveat"/>
                <a:ea typeface="Caveat"/>
                <a:cs typeface="Caveat"/>
                <a:sym typeface="Caveat"/>
              </a:rPr>
              <a:t>=d(c</a:t>
            </a:r>
            <a:r>
              <a:rPr b="1" baseline="-25000" i="0" lang="es-419" sz="2100" u="none" cap="none" strike="noStrike">
                <a:solidFill>
                  <a:schemeClr val="lt1"/>
                </a:solidFill>
                <a:latin typeface="Caveat"/>
                <a:ea typeface="Caveat"/>
                <a:cs typeface="Caveat"/>
                <a:sym typeface="Caveat"/>
              </a:rPr>
              <a:t>pred</a:t>
            </a:r>
            <a:r>
              <a:rPr b="1" i="0" lang="es-419" sz="2100" u="none" cap="none" strike="noStrike">
                <a:solidFill>
                  <a:schemeClr val="lt1"/>
                </a:solidFill>
                <a:latin typeface="Caveat"/>
                <a:ea typeface="Caveat"/>
                <a:cs typeface="Caveat"/>
                <a:sym typeface="Caveat"/>
              </a:rPr>
              <a:t>)</a:t>
            </a:r>
            <a:endParaRPr b="1" i="0" sz="2000" u="none" cap="none" strike="noStrike">
              <a:solidFill>
                <a:schemeClr val="lt1"/>
              </a:solidFill>
              <a:latin typeface="Caveat"/>
              <a:ea typeface="Caveat"/>
              <a:cs typeface="Caveat"/>
              <a:sym typeface="Caveat"/>
            </a:endParaRPr>
          </a:p>
        </p:txBody>
      </p:sp>
      <p:sp>
        <p:nvSpPr>
          <p:cNvPr id="199" name="Google Shape;199;p16"/>
          <p:cNvSpPr txBox="1"/>
          <p:nvPr/>
        </p:nvSpPr>
        <p:spPr>
          <a:xfrm>
            <a:off x="6753000" y="3240575"/>
            <a:ext cx="2391000" cy="6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s-419" sz="1600" u="none" cap="none" strike="noStrike">
                <a:solidFill>
                  <a:srgbClr val="000000"/>
                </a:solidFill>
                <a:latin typeface="Caveat Medium"/>
                <a:ea typeface="Caveat Medium"/>
                <a:cs typeface="Caveat Medium"/>
                <a:sym typeface="Caveat Medium"/>
              </a:rPr>
              <a:t>y</a:t>
            </a:r>
            <a:r>
              <a:rPr b="0" baseline="-25000" i="0" lang="es-419" sz="1600" u="none" cap="none" strike="noStrike">
                <a:solidFill>
                  <a:srgbClr val="000000"/>
                </a:solidFill>
                <a:latin typeface="Caveat Medium"/>
                <a:ea typeface="Caveat Medium"/>
                <a:cs typeface="Caveat Medium"/>
                <a:sym typeface="Caveat Medium"/>
              </a:rPr>
              <a:t>pred</a:t>
            </a:r>
            <a:r>
              <a:rPr b="0" i="0" lang="es-419" sz="1600" u="none" cap="none" strike="noStrike">
                <a:solidFill>
                  <a:srgbClr val="000000"/>
                </a:solidFill>
                <a:latin typeface="Caveat Medium"/>
                <a:ea typeface="Caveat Medium"/>
                <a:cs typeface="Caveat Medium"/>
                <a:sym typeface="Caveat Medium"/>
              </a:rPr>
              <a:t> es 0 o 1. Es la predicción del modelo.</a:t>
            </a:r>
            <a:endParaRPr b="0" i="0" sz="2100" u="none" cap="none" strike="noStrike">
              <a:solidFill>
                <a:srgbClr val="000000"/>
              </a:solidFill>
              <a:latin typeface="Caveat Medium"/>
              <a:ea typeface="Caveat Medium"/>
              <a:cs typeface="Caveat Medium"/>
              <a:sym typeface="Caveat Medium"/>
            </a:endParaRPr>
          </a:p>
        </p:txBody>
      </p:sp>
      <p:sp>
        <p:nvSpPr>
          <p:cNvPr id="200" name="Google Shape;200;p16"/>
          <p:cNvSpPr txBox="1"/>
          <p:nvPr/>
        </p:nvSpPr>
        <p:spPr>
          <a:xfrm>
            <a:off x="3653825" y="4293375"/>
            <a:ext cx="4740600" cy="6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s-419" sz="1600" u="none" cap="none" strike="noStrik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¿Y la función de pérdida? ¿Qué voy a</a:t>
            </a:r>
            <a:r>
              <a:rPr b="1" i="0" lang="es-419" sz="1600" u="none" cap="none" strike="noStrik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 minimizar </a:t>
            </a:r>
            <a:r>
              <a:rPr b="0" i="0" lang="es-419" sz="1600" u="none" cap="none" strike="noStrik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para obtener los mejores coeficientes?</a:t>
            </a:r>
            <a:endParaRPr b="0" i="0" sz="1600" u="none" cap="none" strike="noStrike">
              <a:solidFill>
                <a:srgbClr val="000000"/>
              </a:solidFill>
              <a:latin typeface="Lato"/>
              <a:ea typeface="Lato"/>
              <a:cs typeface="Lato"/>
              <a:sym typeface="Lato"/>
            </a:endParaRPr>
          </a:p>
        </p:txBody>
      </p:sp>
      <p:cxnSp>
        <p:nvCxnSpPr>
          <p:cNvPr id="201" name="Google Shape;201;p16"/>
          <p:cNvCxnSpPr>
            <a:stCxn id="193" idx="0"/>
            <a:endCxn id="194" idx="1"/>
          </p:cNvCxnSpPr>
          <p:nvPr/>
        </p:nvCxnSpPr>
        <p:spPr>
          <a:xfrm rot="-5400000">
            <a:off x="1109950" y="2553825"/>
            <a:ext cx="773400" cy="716700"/>
          </a:xfrm>
          <a:prstGeom prst="curvedConnector2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med" w="med" type="stealth"/>
          </a:ln>
        </p:spPr>
      </p:cxnSp>
      <p:cxnSp>
        <p:nvCxnSpPr>
          <p:cNvPr id="202" name="Google Shape;202;p16"/>
          <p:cNvCxnSpPr>
            <a:stCxn id="194" idx="3"/>
            <a:endCxn id="196" idx="1"/>
          </p:cNvCxnSpPr>
          <p:nvPr/>
        </p:nvCxnSpPr>
        <p:spPr>
          <a:xfrm>
            <a:off x="3653825" y="2525525"/>
            <a:ext cx="623700" cy="642300"/>
          </a:xfrm>
          <a:prstGeom prst="curvedConnector3">
            <a:avLst>
              <a:gd fmla="val 50007" name="adj1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med" w="med" type="stealth"/>
          </a:ln>
        </p:spPr>
      </p:cxnSp>
      <p:cxnSp>
        <p:nvCxnSpPr>
          <p:cNvPr id="203" name="Google Shape;203;p16"/>
          <p:cNvCxnSpPr>
            <a:stCxn id="196" idx="3"/>
            <a:endCxn id="198" idx="2"/>
          </p:cNvCxnSpPr>
          <p:nvPr/>
        </p:nvCxnSpPr>
        <p:spPr>
          <a:xfrm flipH="1" rot="10800000">
            <a:off x="6076413" y="2423013"/>
            <a:ext cx="840300" cy="744900"/>
          </a:xfrm>
          <a:prstGeom prst="curvedConnector3">
            <a:avLst>
              <a:gd fmla="val 49999" name="adj1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med" w="med" type="stealth"/>
          </a:ln>
        </p:spPr>
      </p:cxn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17"/>
          <p:cNvSpPr txBox="1"/>
          <p:nvPr>
            <p:ph type="title"/>
          </p:nvPr>
        </p:nvSpPr>
        <p:spPr>
          <a:xfrm>
            <a:off x="739375" y="1818750"/>
            <a:ext cx="3300900" cy="75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</a:pPr>
            <a:r>
              <a:rPr lang="es-419"/>
              <a:t>Función sigmoidea</a:t>
            </a:r>
            <a:endParaRPr/>
          </a:p>
        </p:txBody>
      </p:sp>
      <p:sp>
        <p:nvSpPr>
          <p:cNvPr id="209" name="Google Shape;209;p17"/>
          <p:cNvSpPr txBox="1"/>
          <p:nvPr>
            <p:ph idx="2" type="body"/>
          </p:nvPr>
        </p:nvSpPr>
        <p:spPr>
          <a:xfrm>
            <a:off x="5174225" y="1352625"/>
            <a:ext cx="3374400" cy="302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ts val="1300"/>
              <a:buNone/>
            </a:pPr>
            <a:r>
              <a:t/>
            </a:r>
            <a:endParaRPr/>
          </a:p>
        </p:txBody>
      </p:sp>
      <p:pic>
        <p:nvPicPr>
          <p:cNvPr id="210" name="Google Shape;210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726223" y="431739"/>
            <a:ext cx="4270401" cy="4402560"/>
          </a:xfrm>
          <a:prstGeom prst="rect">
            <a:avLst/>
          </a:prstGeom>
          <a:noFill/>
          <a:ln>
            <a:noFill/>
          </a:ln>
        </p:spPr>
      </p:pic>
      <p:sp>
        <p:nvSpPr>
          <p:cNvPr id="211" name="Google Shape;211;p17"/>
          <p:cNvSpPr txBox="1"/>
          <p:nvPr/>
        </p:nvSpPr>
        <p:spPr>
          <a:xfrm>
            <a:off x="739375" y="2792975"/>
            <a:ext cx="3681900" cy="1354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s-419" sz="1500" u="none" cap="none" strike="noStrik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Nunca es mayor a uno ni menor a cero.</a:t>
            </a:r>
            <a:endParaRPr b="0" i="0" sz="1500" u="none" cap="none" strike="noStrike">
              <a:solidFill>
                <a:srgbClr val="000000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s-419" sz="1500" u="none" cap="none" strike="noStrik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Justo lo que necesitamos, mapear de los</a:t>
            </a:r>
            <a:endParaRPr b="0" i="0" sz="1500" u="none" cap="none" strike="noStrike">
              <a:solidFill>
                <a:srgbClr val="000000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s-419" sz="1500" u="none" cap="none" strike="noStrik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reales al conjunto [0,1]</a:t>
            </a:r>
            <a:endParaRPr b="0" i="0" sz="1500" u="none" cap="none" strike="noStrike">
              <a:solidFill>
                <a:srgbClr val="000000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rgbClr val="000000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s-419" sz="1500" u="none" cap="none" strike="noStrik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¿Qué </a:t>
            </a:r>
            <a:r>
              <a:rPr b="0" i="1" lang="es-419" sz="1500" u="none" cap="none" strike="noStrik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otra</a:t>
            </a:r>
            <a:r>
              <a:rPr b="0" i="0" lang="es-419" sz="1500" u="none" cap="none" strike="noStrik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 función podría haber usado?</a:t>
            </a:r>
            <a:endParaRPr b="0" i="0" sz="1500" u="none" cap="none" strike="noStrike">
              <a:solidFill>
                <a:srgbClr val="000000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18"/>
          <p:cNvSpPr txBox="1"/>
          <p:nvPr>
            <p:ph type="title"/>
          </p:nvPr>
        </p:nvSpPr>
        <p:spPr>
          <a:xfrm>
            <a:off x="758100" y="2073463"/>
            <a:ext cx="3300900" cy="996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</a:pPr>
            <a:r>
              <a:rPr lang="es-419"/>
              <a:t>Función de decisión</a:t>
            </a:r>
            <a:endParaRPr/>
          </a:p>
        </p:txBody>
      </p:sp>
      <p:pic>
        <p:nvPicPr>
          <p:cNvPr id="217" name="Google Shape;217;p18"/>
          <p:cNvPicPr preferRelativeResize="0"/>
          <p:nvPr/>
        </p:nvPicPr>
        <p:blipFill rotWithShape="1">
          <a:blip r:embed="rId3">
            <a:alphaModFix/>
          </a:blip>
          <a:srcRect b="0" l="0" r="0" t="31280"/>
          <a:stretch/>
        </p:blipFill>
        <p:spPr>
          <a:xfrm>
            <a:off x="4698100" y="1034338"/>
            <a:ext cx="4270401" cy="3074825"/>
          </a:xfrm>
          <a:prstGeom prst="rect">
            <a:avLst/>
          </a:prstGeom>
          <a:noFill/>
          <a:ln>
            <a:noFill/>
          </a:ln>
        </p:spPr>
      </p:pic>
      <p:sp>
        <p:nvSpPr>
          <p:cNvPr id="218" name="Google Shape;218;p18"/>
          <p:cNvSpPr txBox="1"/>
          <p:nvPr/>
        </p:nvSpPr>
        <p:spPr>
          <a:xfrm>
            <a:off x="805725" y="3345750"/>
            <a:ext cx="3397800" cy="104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s-419" sz="1400" u="none" cap="none" strike="noStrik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Consiste en elegir un</a:t>
            </a:r>
            <a:r>
              <a:rPr b="0" i="1" lang="es-419" sz="1400" u="none" cap="none" strike="noStrik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 threshold </a:t>
            </a:r>
            <a:r>
              <a:rPr b="0" i="0" lang="es-419" sz="1400" u="none" cap="none" strike="noStrik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para separar las clases</a:t>
            </a:r>
            <a:endParaRPr b="0" i="0" sz="1400" u="none" cap="none" strike="noStrike">
              <a:solidFill>
                <a:srgbClr val="000000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s-419" sz="1400" u="none" cap="none" strike="noStrik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No necesariamente es 0.5</a:t>
            </a:r>
            <a:endParaRPr b="1" i="0" sz="1400" u="none" cap="none" strike="noStrike">
              <a:solidFill>
                <a:srgbClr val="000000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19" name="Google Shape;219;p18"/>
          <p:cNvSpPr/>
          <p:nvPr/>
        </p:nvSpPr>
        <p:spPr>
          <a:xfrm>
            <a:off x="4698100" y="741175"/>
            <a:ext cx="2113200" cy="3794400"/>
          </a:xfrm>
          <a:prstGeom prst="rect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s-419" sz="1800" u="none" cap="none" strike="noStrik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clase 0</a:t>
            </a:r>
            <a:endParaRPr b="1" i="0" sz="1800" u="none" cap="none" strike="noStrike">
              <a:solidFill>
                <a:srgbClr val="000000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20" name="Google Shape;220;p18"/>
          <p:cNvSpPr/>
          <p:nvPr/>
        </p:nvSpPr>
        <p:spPr>
          <a:xfrm>
            <a:off x="6829650" y="741175"/>
            <a:ext cx="2070600" cy="3794400"/>
          </a:xfrm>
          <a:prstGeom prst="rect">
            <a:avLst/>
          </a:prstGeom>
          <a:noFill/>
          <a:ln cap="flat" cmpd="sng" w="38100">
            <a:solidFill>
              <a:srgbClr val="6AA84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s-419" sz="1800" u="none" cap="none" strike="noStrik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clase 1</a:t>
            </a:r>
            <a:endParaRPr b="1" i="0" sz="1800" u="none" cap="none" strike="noStrike">
              <a:solidFill>
                <a:srgbClr val="000000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p19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s-419"/>
              <a:t>Función logística</a:t>
            </a:r>
            <a:endParaRPr/>
          </a:p>
        </p:txBody>
      </p:sp>
      <p:pic>
        <p:nvPicPr>
          <p:cNvPr id="226" name="Google Shape;226;p19"/>
          <p:cNvPicPr preferRelativeResize="0"/>
          <p:nvPr/>
        </p:nvPicPr>
        <p:blipFill rotWithShape="1">
          <a:blip r:embed="rId3">
            <a:alphaModFix/>
          </a:blip>
          <a:srcRect b="87171" l="12322" r="14679" t="0"/>
          <a:stretch/>
        </p:blipFill>
        <p:spPr>
          <a:xfrm>
            <a:off x="980550" y="1853850"/>
            <a:ext cx="2692050" cy="912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27" name="Google Shape;227;p19"/>
          <p:cNvPicPr preferRelativeResize="0"/>
          <p:nvPr/>
        </p:nvPicPr>
        <p:blipFill rotWithShape="1">
          <a:blip r:embed="rId3">
            <a:alphaModFix/>
          </a:blip>
          <a:srcRect b="0" l="0" r="0" t="83702"/>
          <a:stretch/>
        </p:blipFill>
        <p:spPr>
          <a:xfrm>
            <a:off x="4891850" y="1853849"/>
            <a:ext cx="2903160" cy="9129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28" name="Google Shape;228;p19"/>
          <p:cNvCxnSpPr>
            <a:stCxn id="226" idx="3"/>
            <a:endCxn id="227" idx="1"/>
          </p:cNvCxnSpPr>
          <p:nvPr/>
        </p:nvCxnSpPr>
        <p:spPr>
          <a:xfrm>
            <a:off x="3672600" y="2310300"/>
            <a:ext cx="12192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med" w="med" type="stealth"/>
          </a:ln>
        </p:spPr>
      </p:cxnSp>
      <p:pic>
        <p:nvPicPr>
          <p:cNvPr id="229" name="Google Shape;229;p19"/>
          <p:cNvPicPr preferRelativeResize="0"/>
          <p:nvPr/>
        </p:nvPicPr>
        <p:blipFill rotWithShape="1">
          <a:blip r:embed="rId4">
            <a:alphaModFix/>
          </a:blip>
          <a:srcRect b="82578" l="14972" r="18421" t="0"/>
          <a:stretch/>
        </p:blipFill>
        <p:spPr>
          <a:xfrm>
            <a:off x="1433438" y="3546850"/>
            <a:ext cx="2014325" cy="628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30" name="Google Shape;230;p19"/>
          <p:cNvPicPr preferRelativeResize="0"/>
          <p:nvPr/>
        </p:nvPicPr>
        <p:blipFill rotWithShape="1">
          <a:blip r:embed="rId4">
            <a:alphaModFix/>
          </a:blip>
          <a:srcRect b="0" l="0" r="0" t="81850"/>
          <a:stretch/>
        </p:blipFill>
        <p:spPr>
          <a:xfrm>
            <a:off x="4572000" y="3499450"/>
            <a:ext cx="2903150" cy="6286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31" name="Google Shape;231;p19"/>
          <p:cNvCxnSpPr>
            <a:stCxn id="229" idx="3"/>
            <a:endCxn id="230" idx="1"/>
          </p:cNvCxnSpPr>
          <p:nvPr/>
        </p:nvCxnSpPr>
        <p:spPr>
          <a:xfrm flipH="1" rot="10800000">
            <a:off x="3447763" y="3813750"/>
            <a:ext cx="1124100" cy="47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232" name="Google Shape;232;p19"/>
          <p:cNvCxnSpPr>
            <a:stCxn id="227" idx="3"/>
            <a:endCxn id="229" idx="0"/>
          </p:cNvCxnSpPr>
          <p:nvPr/>
        </p:nvCxnSpPr>
        <p:spPr>
          <a:xfrm flipH="1">
            <a:off x="2440610" y="2310299"/>
            <a:ext cx="5354400" cy="1236600"/>
          </a:xfrm>
          <a:prstGeom prst="curvedConnector4">
            <a:avLst>
              <a:gd fmla="val -4447" name="adj1"/>
              <a:gd fmla="val 68454" name="adj2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med" w="med" type="stealth"/>
          </a:ln>
        </p:spPr>
      </p:cxnSp>
      <p:sp>
        <p:nvSpPr>
          <p:cNvPr id="233" name="Google Shape;233;p19"/>
          <p:cNvSpPr txBox="1"/>
          <p:nvPr/>
        </p:nvSpPr>
        <p:spPr>
          <a:xfrm>
            <a:off x="5325075" y="4235650"/>
            <a:ext cx="30042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s-419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log odds or logit. (logaritmo de las chances)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4" name="Google Shape;234;p19"/>
          <p:cNvSpPr txBox="1"/>
          <p:nvPr/>
        </p:nvSpPr>
        <p:spPr>
          <a:xfrm>
            <a:off x="1619950" y="4235650"/>
            <a:ext cx="16413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s-419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odds (chances)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5" name="Google Shape;235;p19"/>
          <p:cNvSpPr txBox="1"/>
          <p:nvPr/>
        </p:nvSpPr>
        <p:spPr>
          <a:xfrm>
            <a:off x="179725" y="3507150"/>
            <a:ext cx="1124100" cy="708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0" i="0" lang="es-419" sz="1700" u="none" cap="none" strike="noStrike">
                <a:solidFill>
                  <a:srgbClr val="000000"/>
                </a:solidFill>
                <a:latin typeface="Caveat"/>
                <a:ea typeface="Caveat"/>
                <a:cs typeface="Caveat"/>
                <a:sym typeface="Caveat"/>
              </a:rPr>
              <a:t>razón de probabilidad</a:t>
            </a:r>
            <a:endParaRPr b="0" i="0" sz="1700" u="none" cap="none" strike="noStrike">
              <a:solidFill>
                <a:srgbClr val="000000"/>
              </a:solidFill>
              <a:latin typeface="Caveat"/>
              <a:ea typeface="Caveat"/>
              <a:cs typeface="Caveat"/>
              <a:sym typeface="Caveat"/>
            </a:endParaRPr>
          </a:p>
        </p:txBody>
      </p:sp>
      <p:sp>
        <p:nvSpPr>
          <p:cNvPr id="236" name="Google Shape;236;p19"/>
          <p:cNvSpPr txBox="1"/>
          <p:nvPr/>
        </p:nvSpPr>
        <p:spPr>
          <a:xfrm>
            <a:off x="5428500" y="1407450"/>
            <a:ext cx="3229800" cy="44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0" i="0" lang="es-419" sz="1700" u="none" cap="none" strike="noStrike">
                <a:solidFill>
                  <a:srgbClr val="000000"/>
                </a:solidFill>
                <a:latin typeface="Caveat"/>
                <a:ea typeface="Caveat"/>
                <a:cs typeface="Caveat"/>
                <a:sym typeface="Caveat"/>
              </a:rPr>
              <a:t>segunda aproximación: función logística</a:t>
            </a:r>
            <a:endParaRPr b="0" i="0" sz="1700" u="none" cap="none" strike="noStrike">
              <a:solidFill>
                <a:srgbClr val="000000"/>
              </a:solidFill>
              <a:latin typeface="Caveat"/>
              <a:ea typeface="Caveat"/>
              <a:cs typeface="Caveat"/>
              <a:sym typeface="Caveat"/>
            </a:endParaRPr>
          </a:p>
        </p:txBody>
      </p:sp>
      <p:sp>
        <p:nvSpPr>
          <p:cNvPr id="237" name="Google Shape;237;p19"/>
          <p:cNvSpPr txBox="1"/>
          <p:nvPr/>
        </p:nvSpPr>
        <p:spPr>
          <a:xfrm>
            <a:off x="426400" y="2571750"/>
            <a:ext cx="2014200" cy="44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0" i="0" lang="es-419" sz="1700" u="none" cap="none" strike="noStrike">
                <a:solidFill>
                  <a:srgbClr val="000000"/>
                </a:solidFill>
                <a:latin typeface="Caveat SemiBold"/>
                <a:ea typeface="Caveat SemiBold"/>
                <a:cs typeface="Caveat SemiBold"/>
                <a:sym typeface="Caveat SemiBold"/>
              </a:rPr>
              <a:t>primer aproximación</a:t>
            </a:r>
            <a:endParaRPr b="0" i="0" sz="1700" u="none" cap="none" strike="noStrike">
              <a:solidFill>
                <a:srgbClr val="000000"/>
              </a:solidFill>
              <a:latin typeface="Caveat SemiBold"/>
              <a:ea typeface="Caveat SemiBold"/>
              <a:cs typeface="Caveat SemiBold"/>
              <a:sym typeface="Caveat SemiBold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p20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s-419"/>
              <a:t>Odds</a:t>
            </a:r>
            <a:endParaRPr/>
          </a:p>
        </p:txBody>
      </p:sp>
      <p:sp>
        <p:nvSpPr>
          <p:cNvPr id="243" name="Google Shape;243;p20"/>
          <p:cNvSpPr txBox="1"/>
          <p:nvPr>
            <p:ph idx="1" type="body"/>
          </p:nvPr>
        </p:nvSpPr>
        <p:spPr>
          <a:xfrm>
            <a:off x="729450" y="2078875"/>
            <a:ext cx="7688700" cy="2822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r>
              <a:rPr lang="es-419" sz="1500"/>
              <a:t>Si decimos 9 personas de cada diez van a tener un default en la tarjeta de crédito</a:t>
            </a:r>
            <a:endParaRPr sz="1500"/>
          </a:p>
          <a:p>
            <a:pPr indent="0" lvl="0" marL="0" rtl="0" algn="l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SzPts val="1300"/>
              <a:buNone/>
            </a:pPr>
            <a:r>
              <a:rPr lang="es-419" sz="1500"/>
              <a:t>p(X) = 0.9</a:t>
            </a:r>
            <a:endParaRPr sz="1500"/>
          </a:p>
          <a:p>
            <a:pPr indent="0" lvl="0" marL="0" rtl="0" algn="l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SzPts val="1300"/>
              <a:buNone/>
            </a:pPr>
            <a:r>
              <a:rPr lang="es-419" sz="1500"/>
              <a:t>odds = 0.9 / (1-0.9) = 9</a:t>
            </a:r>
            <a:endParaRPr sz="1500"/>
          </a:p>
          <a:p>
            <a:pPr indent="0" lvl="0" marL="0" rtl="0" algn="l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SzPts val="1300"/>
              <a:buNone/>
            </a:pPr>
            <a:r>
              <a:rPr lang="es-419" sz="1500"/>
              <a:t>Si decimos 5 personas de cada diez van a tener un default:</a:t>
            </a:r>
            <a:endParaRPr sz="1500"/>
          </a:p>
          <a:p>
            <a:pPr indent="0" lvl="0" marL="0" rtl="0" algn="l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SzPts val="1300"/>
              <a:buNone/>
            </a:pPr>
            <a:r>
              <a:rPr lang="es-419" sz="1500"/>
              <a:t>p(X) = 0.5</a:t>
            </a:r>
            <a:endParaRPr sz="1500"/>
          </a:p>
          <a:p>
            <a:pPr indent="0" lvl="0" marL="0" rtl="0" algn="l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SzPts val="1300"/>
              <a:buNone/>
            </a:pPr>
            <a:r>
              <a:rPr lang="es-419" sz="1500"/>
              <a:t>odds = 0.5 / (1 - 0.5) = 1</a:t>
            </a:r>
            <a:endParaRPr sz="1500"/>
          </a:p>
          <a:p>
            <a:pPr indent="0" lvl="0" marL="0" rtl="0" algn="l">
              <a:lnSpc>
                <a:spcPct val="105000"/>
              </a:lnSpc>
              <a:spcBef>
                <a:spcPts val="1200"/>
              </a:spcBef>
              <a:spcAft>
                <a:spcPts val="1200"/>
              </a:spcAft>
              <a:buSzPts val="1300"/>
              <a:buNone/>
            </a:pPr>
            <a:r>
              <a:rPr lang="es-419" sz="1500"/>
              <a:t>Las </a:t>
            </a:r>
            <a:r>
              <a:rPr b="1" i="1" lang="es-419" sz="1500"/>
              <a:t>odds</a:t>
            </a:r>
            <a:r>
              <a:rPr lang="es-419" sz="1500"/>
              <a:t> varían entre 0 e infinito. Nos permiten mapear el conjunto de probabilidades [0,1] a los reales positivos.</a:t>
            </a:r>
            <a:endParaRPr sz="150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7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p21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s-419"/>
              <a:t>Logit</a:t>
            </a:r>
            <a:endParaRPr/>
          </a:p>
        </p:txBody>
      </p:sp>
      <p:sp>
        <p:nvSpPr>
          <p:cNvPr id="249" name="Google Shape;249;p21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r>
              <a:rPr lang="es-419"/>
              <a:t>Si además le hacemos el logaritmo mapeamos de los reales positivos a todos los reales.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300"/>
              <a:buNone/>
            </a:pPr>
            <a:r>
              <a:rPr lang="es-419"/>
              <a:t>De ahí que logit(p(X)) pueda ser representado por la combinación lineal.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300"/>
              <a:buNone/>
            </a:pPr>
            <a:r>
              <a:rPr lang="es-419"/>
              <a:t>logit (p(X)) = 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300"/>
              <a:buNone/>
            </a:pPr>
            <a:r>
              <a:t/>
            </a:r>
            <a:endParaRPr/>
          </a:p>
        </p:txBody>
      </p:sp>
      <p:pic>
        <p:nvPicPr>
          <p:cNvPr id="250" name="Google Shape;250;p21"/>
          <p:cNvPicPr preferRelativeResize="0"/>
          <p:nvPr/>
        </p:nvPicPr>
        <p:blipFill rotWithShape="1">
          <a:blip r:embed="rId3">
            <a:alphaModFix/>
          </a:blip>
          <a:srcRect b="0" l="0" r="13919" t="0"/>
          <a:stretch/>
        </p:blipFill>
        <p:spPr>
          <a:xfrm>
            <a:off x="1609725" y="2831900"/>
            <a:ext cx="2550050" cy="4857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51" name="Google Shape;251;p21"/>
          <p:cNvPicPr preferRelativeResize="0"/>
          <p:nvPr/>
        </p:nvPicPr>
        <p:blipFill rotWithShape="1">
          <a:blip r:embed="rId4">
            <a:alphaModFix/>
          </a:blip>
          <a:srcRect b="0" l="0" r="42055" t="81850"/>
          <a:stretch/>
        </p:blipFill>
        <p:spPr>
          <a:xfrm>
            <a:off x="867050" y="3621600"/>
            <a:ext cx="1682200" cy="628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52" name="Google Shape;252;p21"/>
          <p:cNvPicPr preferRelativeResize="0"/>
          <p:nvPr/>
        </p:nvPicPr>
        <p:blipFill rotWithShape="1">
          <a:blip r:embed="rId3">
            <a:alphaModFix/>
          </a:blip>
          <a:srcRect b="0" l="0" r="13919" t="0"/>
          <a:stretch/>
        </p:blipFill>
        <p:spPr>
          <a:xfrm>
            <a:off x="2549250" y="3693000"/>
            <a:ext cx="2550050" cy="485775"/>
          </a:xfrm>
          <a:prstGeom prst="rect">
            <a:avLst/>
          </a:prstGeom>
          <a:noFill/>
          <a:ln>
            <a:noFill/>
          </a:ln>
        </p:spPr>
      </p:pic>
      <p:sp>
        <p:nvSpPr>
          <p:cNvPr id="253" name="Google Shape;253;p21"/>
          <p:cNvSpPr txBox="1"/>
          <p:nvPr/>
        </p:nvSpPr>
        <p:spPr>
          <a:xfrm>
            <a:off x="792450" y="4442325"/>
            <a:ext cx="75591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s-419" sz="1400" u="none" cap="none" strike="noStrik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cuando p(X) = 1 - p(X) = 0.5 la solución es un hiperplano de p dimensiones (p features)</a:t>
            </a:r>
            <a:endParaRPr b="0" i="0" sz="1400" u="none" cap="none" strike="noStrike">
              <a:solidFill>
                <a:srgbClr val="000000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s-419" sz="1400" u="none" cap="none" strike="noStrik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Y más aún, para cualquier p(X), la separación es también un hiperplano !!! Solo que con otro término independiente.</a:t>
            </a:r>
            <a:endParaRPr b="0" i="0" sz="1400" u="none" cap="none" strike="noStrike">
              <a:solidFill>
                <a:srgbClr val="000000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7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8" name="Google Shape;258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182062" y="211575"/>
            <a:ext cx="4779876" cy="48382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2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g3cc0d557a04_1_0"/>
          <p:cNvSpPr txBox="1"/>
          <p:nvPr>
            <p:ph type="title"/>
          </p:nvPr>
        </p:nvSpPr>
        <p:spPr>
          <a:xfrm>
            <a:off x="729450" y="1322450"/>
            <a:ext cx="7688400" cy="151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lang="es-419"/>
              <a:t>Coeficientes de la Regresión Logística Binaria</a:t>
            </a:r>
            <a:endParaRPr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7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g3cc0d557a04_1_4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s-419"/>
              <a:t>Función de Costo</a:t>
            </a:r>
            <a:endParaRPr/>
          </a:p>
        </p:txBody>
      </p:sp>
      <p:sp>
        <p:nvSpPr>
          <p:cNvPr id="269" name="Google Shape;269;g3cc0d557a04_1_4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r>
              <a:rPr lang="es-419" sz="1800"/>
              <a:t>¿Qué sería lo equivalente a los RSS?</a:t>
            </a:r>
            <a:endParaRPr sz="18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300"/>
              <a:buNone/>
            </a:pPr>
            <a:r>
              <a:rPr lang="es-419"/>
              <a:t> </a:t>
            </a:r>
            <a:endParaRPr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3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3cc0d557a04_1_9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s-419"/>
              <a:t>Función de Costo</a:t>
            </a:r>
            <a:endParaRPr/>
          </a:p>
        </p:txBody>
      </p:sp>
      <p:sp>
        <p:nvSpPr>
          <p:cNvPr id="275" name="Google Shape;275;g3cc0d557a04_1_9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r>
              <a:rPr lang="es-419" sz="1700"/>
              <a:t>Densidad de probabilidad de Bernoulli</a:t>
            </a:r>
            <a:endParaRPr sz="17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3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300"/>
              <a:buNone/>
            </a:pPr>
            <a:r>
              <a:rPr lang="es-419" sz="1700"/>
              <a:t>Equivalentemente,</a:t>
            </a:r>
            <a:endParaRPr sz="17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300"/>
              <a:buNone/>
            </a:pPr>
            <a:r>
              <a:t/>
            </a:r>
            <a:endParaRPr sz="17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300"/>
              <a:buNone/>
            </a:pPr>
            <a:r>
              <a:rPr lang="es-419" sz="1700"/>
              <a:t>Se busca maximizar la productoria </a:t>
            </a:r>
            <a:endParaRPr sz="1700"/>
          </a:p>
        </p:txBody>
      </p:sp>
      <p:pic>
        <p:nvPicPr>
          <p:cNvPr id="276" name="Google Shape;276;g3cc0d557a04_1_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699850" y="1853850"/>
            <a:ext cx="2931050" cy="888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77" name="Google Shape;277;g3cc0d557a04_1_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625850" y="2933075"/>
            <a:ext cx="1200150" cy="4000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78" name="Google Shape;278;g3cc0d557a04_1_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079350" y="3639888"/>
            <a:ext cx="1971675" cy="8667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79" name="Google Shape;279;g3cc0d557a04_1_9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882775" y="4339975"/>
            <a:ext cx="3105150" cy="533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3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Google Shape;284;g3cc0d557a04_1_18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s-419"/>
              <a:t>Función de Costo</a:t>
            </a:r>
            <a:endParaRPr/>
          </a:p>
        </p:txBody>
      </p:sp>
      <p:sp>
        <p:nvSpPr>
          <p:cNvPr id="285" name="Google Shape;285;g3cc0d557a04_1_18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r>
              <a:rPr lang="es-419" sz="1600"/>
              <a:t>Aplicando logaritmos</a:t>
            </a:r>
            <a:endParaRPr sz="16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300"/>
              <a:buNone/>
            </a:pPr>
            <a:r>
              <a:t/>
            </a:r>
            <a:endParaRPr sz="16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300"/>
              <a:buNone/>
            </a:pPr>
            <a:r>
              <a:t/>
            </a:r>
            <a:endParaRPr sz="16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300"/>
              <a:buNone/>
            </a:pPr>
            <a:r>
              <a:rPr lang="es-419" sz="1600"/>
              <a:t>Y cómo minimizar es más simple que maximizar, minimizamos la siguiente función</a:t>
            </a:r>
            <a:endParaRPr sz="16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3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300"/>
              <a:buNone/>
            </a:pPr>
            <a:r>
              <a:t/>
            </a:r>
            <a:endParaRPr/>
          </a:p>
        </p:txBody>
      </p:sp>
      <p:pic>
        <p:nvPicPr>
          <p:cNvPr id="286" name="Google Shape;286;g3cc0d557a04_1_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85213" y="3778025"/>
            <a:ext cx="6773566" cy="10138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87" name="Google Shape;287;g3cc0d557a04_1_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735650" y="2151881"/>
            <a:ext cx="6112375" cy="839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Google Shape;292;g3cc0d557a04_1_25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s-419"/>
              <a:t>Binary Cross Entropy</a:t>
            </a:r>
            <a:endParaRPr/>
          </a:p>
        </p:txBody>
      </p:sp>
      <p:pic>
        <p:nvPicPr>
          <p:cNvPr id="293" name="Google Shape;293;g3cc0d557a04_1_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28725" y="2509325"/>
            <a:ext cx="6686550" cy="14001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7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Google Shape;298;g3cc0d557a04_1_30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s-419"/>
              <a:t>Binary Cross Entropy</a:t>
            </a:r>
            <a:endParaRPr/>
          </a:p>
        </p:txBody>
      </p:sp>
      <p:pic>
        <p:nvPicPr>
          <p:cNvPr id="299" name="Google Shape;299;g3cc0d557a04_1_3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4750" y="1944213"/>
            <a:ext cx="7458075" cy="29622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3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g3cc0d557a04_1_35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s-419"/>
              <a:t>Función de Costo - Regularización</a:t>
            </a:r>
            <a:endParaRPr/>
          </a:p>
        </p:txBody>
      </p:sp>
      <p:sp>
        <p:nvSpPr>
          <p:cNvPr id="305" name="Google Shape;305;g3cc0d557a04_1_35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r>
              <a:rPr lang="es-419"/>
              <a:t>: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300"/>
              <a:buNone/>
            </a:pPr>
            <a:r>
              <a:t/>
            </a:r>
            <a:endParaRPr/>
          </a:p>
        </p:txBody>
      </p:sp>
      <p:pic>
        <p:nvPicPr>
          <p:cNvPr id="306" name="Google Shape;306;g3cc0d557a04_1_3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89105" y="2156949"/>
            <a:ext cx="7165796" cy="2600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0" name="Shape 3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1" name="Google Shape;311;g3cc0d557a04_1_4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761525" y="70975"/>
            <a:ext cx="5624559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5" name="Shape 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6" name="Google Shape;316;g3cc0d557a04_1_45"/>
          <p:cNvPicPr preferRelativeResize="0"/>
          <p:nvPr/>
        </p:nvPicPr>
        <p:blipFill rotWithShape="1">
          <a:blip r:embed="rId3">
            <a:alphaModFix/>
          </a:blip>
          <a:srcRect b="38642" l="0" r="0" t="0"/>
          <a:stretch/>
        </p:blipFill>
        <p:spPr>
          <a:xfrm>
            <a:off x="1281050" y="274525"/>
            <a:ext cx="6581900" cy="44750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0" name="Shape 3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1" name="Google Shape;321;g3cc0d557a04_1_49"/>
          <p:cNvPicPr preferRelativeResize="0"/>
          <p:nvPr/>
        </p:nvPicPr>
        <p:blipFill rotWithShape="1">
          <a:blip r:embed="rId3">
            <a:alphaModFix/>
          </a:blip>
          <a:srcRect b="0" l="0" r="0" t="61519"/>
          <a:stretch/>
        </p:blipFill>
        <p:spPr>
          <a:xfrm>
            <a:off x="819625" y="696650"/>
            <a:ext cx="7504750" cy="31999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5" name="Shape 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6" name="Google Shape;326;g3cc0d557a04_1_5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228850" y="676275"/>
            <a:ext cx="4686300" cy="37909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0" name="Shape 3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" name="Google Shape;331;g3cc0d557a04_1_57"/>
          <p:cNvSpPr txBox="1"/>
          <p:nvPr>
            <p:ph type="title"/>
          </p:nvPr>
        </p:nvSpPr>
        <p:spPr>
          <a:xfrm>
            <a:off x="729450" y="1322450"/>
            <a:ext cx="7688400" cy="151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lang="es-419"/>
              <a:t>Problemas multiclase</a:t>
            </a:r>
            <a:endParaRPr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5" name="Shape 3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6" name="Google Shape;336;g3cc0d557a04_1_61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s-419"/>
              <a:t>Problemas multiclase</a:t>
            </a:r>
            <a:endParaRPr/>
          </a:p>
        </p:txBody>
      </p:sp>
      <p:pic>
        <p:nvPicPr>
          <p:cNvPr id="337" name="Google Shape;337;g3cc0d557a04_1_6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752600" y="2007075"/>
            <a:ext cx="5638800" cy="2819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1" name="Shape 3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2" name="Google Shape;342;g3cc0d557a04_1_66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s-419"/>
              <a:t>Probabilidad de pertenecer a la clase k</a:t>
            </a:r>
            <a:endParaRPr/>
          </a:p>
        </p:txBody>
      </p:sp>
      <p:pic>
        <p:nvPicPr>
          <p:cNvPr id="343" name="Google Shape;343;g3cc0d557a04_1_6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71038" y="3081550"/>
            <a:ext cx="7305675" cy="12477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44" name="Google Shape;344;g3cc0d557a04_1_6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716413" y="2223065"/>
            <a:ext cx="3714782" cy="89873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treamline">
  <a:themeElements>
    <a:clrScheme name="Streamline">
      <a:dk1>
        <a:srgbClr val="1A9988"/>
      </a:dk1>
      <a:lt1>
        <a:srgbClr val="FFFFFF"/>
      </a:lt1>
      <a:dk2>
        <a:srgbClr val="1A1A1A"/>
      </a:dk2>
      <a:lt2>
        <a:srgbClr val="E9EDEE"/>
      </a:lt2>
      <a:accent1>
        <a:srgbClr val="595959"/>
      </a:accent1>
      <a:accent2>
        <a:srgbClr val="6AA4C8"/>
      </a:accent2>
      <a:accent3>
        <a:srgbClr val="EB5600"/>
      </a:accent3>
      <a:accent4>
        <a:srgbClr val="A2FFE8"/>
      </a:accent4>
      <a:accent5>
        <a:srgbClr val="1C3678"/>
      </a:accent5>
      <a:accent6>
        <a:srgbClr val="FFB8A2"/>
      </a:accent6>
      <a:hlink>
        <a:srgbClr val="1C3678"/>
      </a:hlink>
      <a:folHlink>
        <a:srgbClr val="1C3678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